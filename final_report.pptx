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2" Type="http://schemas.openxmlformats.org/officeDocument/2006/relationships/viewProps" Target="viewProps.xml" /><Relationship Id="rId31" Type="http://schemas.openxmlformats.org/officeDocument/2006/relationships/presProps" Target="presProps.xml" /><Relationship Id="rId1" Type="http://schemas.openxmlformats.org/officeDocument/2006/relationships/slideMaster" Target="slideMasters/slideMaster1.xml" /><Relationship Id="rId34" Type="http://schemas.openxmlformats.org/officeDocument/2006/relationships/tableStyles" Target="tableStyles.xml" /><Relationship Id="rId3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4.xml" /><Relationship Id="rId3" Type="http://schemas.openxmlformats.org/officeDocument/2006/relationships/slide" Target="slide4.xml" /><Relationship Id="rId4" Type="http://schemas.openxmlformats.org/officeDocument/2006/relationships/slide" Target="slide4.xml" /><Relationship Id="rId5" Type="http://schemas.openxmlformats.org/officeDocument/2006/relationships/slide" Target="slide4.xml" /><Relationship Id="rId6" Type="http://schemas.openxmlformats.org/officeDocument/2006/relationships/slide" Target="slide5.xml" /><Relationship Id="rId7" Type="http://schemas.openxmlformats.org/officeDocument/2006/relationships/slide" Target="slide6.xml" /><Relationship Id="rId8" Type="http://schemas.openxmlformats.org/officeDocument/2006/relationships/slide" Target="slide7.xml" /><Relationship Id="rId9" Type="http://schemas.openxmlformats.org/officeDocument/2006/relationships/slide" Target="slide8.xml" /><Relationship Id="rId10" Type="http://schemas.openxmlformats.org/officeDocument/2006/relationships/slide" Target="slide9.xml" /><Relationship Id="rId11" Type="http://schemas.openxmlformats.org/officeDocument/2006/relationships/slide" Target="slide9.xml" /><Relationship Id="rId12" Type="http://schemas.openxmlformats.org/officeDocument/2006/relationships/slide" Target="slide10.xml" /><Relationship Id="rId13" Type="http://schemas.openxmlformats.org/officeDocument/2006/relationships/slide" Target="slide11.xml" /><Relationship Id="rId14" Type="http://schemas.openxmlformats.org/officeDocument/2006/relationships/slide" Target="slide12.xml" /><Relationship Id="rId15" Type="http://schemas.openxmlformats.org/officeDocument/2006/relationships/slide" Target="slide13.xml" /><Relationship Id="rId16" Type="http://schemas.openxmlformats.org/officeDocument/2006/relationships/slide" Target="slide13.xml" /><Relationship Id="rId17" Type="http://schemas.openxmlformats.org/officeDocument/2006/relationships/slide" Target="slide15.xml" /><Relationship Id="rId18" Type="http://schemas.openxmlformats.org/officeDocument/2006/relationships/slide" Target="slide15.xml" /><Relationship Id="rId19" Type="http://schemas.openxmlformats.org/officeDocument/2006/relationships/slide" Target="slide15.xml" /><Relationship Id="rId20" Type="http://schemas.openxmlformats.org/officeDocument/2006/relationships/slide" Target="slide15.xml" /><Relationship Id="rId21" Type="http://schemas.openxmlformats.org/officeDocument/2006/relationships/slide" Target="slide15.xml" /><Relationship Id="rId22" Type="http://schemas.openxmlformats.org/officeDocument/2006/relationships/slide" Target="slide15.xml" /><Relationship Id="rId23" Type="http://schemas.openxmlformats.org/officeDocument/2006/relationships/slide" Target="slide15.xml" /><Relationship Id="rId24" Type="http://schemas.openxmlformats.org/officeDocument/2006/relationships/slide" Target="slide15.xml" /><Relationship Id="rId25" Type="http://schemas.openxmlformats.org/officeDocument/2006/relationships/slide" Target="slide19.xml" /><Relationship Id="rId26" Type="http://schemas.openxmlformats.org/officeDocument/2006/relationships/slide" Target="slide19.xml" /><Relationship Id="rId27" Type="http://schemas.openxmlformats.org/officeDocument/2006/relationships/slide" Target="slide19.xml" /><Relationship Id="rId28" Type="http://schemas.openxmlformats.org/officeDocument/2006/relationships/slide" Target="slide19.xml" /><Relationship Id="rId29" Type="http://schemas.openxmlformats.org/officeDocument/2006/relationships/slide" Target="slide23.xml" /><Relationship Id="rId30" Type="http://schemas.openxmlformats.org/officeDocument/2006/relationships/slide" Target="slide23.xml" /><Relationship Id="rId31" Type="http://schemas.openxmlformats.org/officeDocument/2006/relationships/slide" Target="slide24.xml" /><Relationship Id="rId32" Type="http://schemas.openxmlformats.org/officeDocument/2006/relationships/slide" Target="slide25.xml" /><Relationship Id="rId33" Type="http://schemas.openxmlformats.org/officeDocument/2006/relationships/slide" Target="slide26.xml" /><Relationship Id="rId34" Type="http://schemas.openxmlformats.org/officeDocument/2006/relationships/slide" Target="slide26.xml" /><Relationship Id="rId35" Type="http://schemas.openxmlformats.org/officeDocument/2006/relationships/slide" Target="slide27.xml" /><Relationship Id="rId36" Type="http://schemas.openxmlformats.org/officeDocument/2006/relationships/slide" Target="slide28.xml" /><Relationship Id="rId37" Type="http://schemas.openxmlformats.org/officeDocument/2006/relationships/slide" Target="slide29.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Data Analysis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Comprehensive Data Cleaning &amp; Exploratory Analysis of Job Market Trends</a:t>
            </a:r>
            <a:br/>
            <a:br/>
          </a:p>
        </p:txBody>
      </p:sp>
      <p:sp>
        <p:nvSpPr>
          <p:cNvPr id="4" name="Date Placeholder 3"/>
          <p:cNvSpPr>
            <a:spLocks noGrp="1"/>
          </p:cNvSpPr>
          <p:nvPr>
            <p:ph idx="10" sz="half" type="dt"/>
          </p:nvPr>
        </p:nvSpPr>
        <p:spPr/>
        <p:txBody>
          <a:bodyPr/>
          <a:lstStyle/>
          <a:p>
            <a:pPr lvl="0" indent="0" marL="0">
              <a:buNone/>
            </a:pPr>
            <a:r>
              <a:rPr/>
              <a:t>today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Table of contents</a:t>
            </a:r>
          </a:p>
        </p:txBody>
      </p:sp>
      <p:sp>
        <p:nvSpPr>
          <p:cNvPr id="3" name="Content Placeholder 2"/>
          <p:cNvSpPr>
            <a:spLocks noGrp="1"/>
          </p:cNvSpPr>
          <p:nvPr>
            <p:ph idx="1"/>
          </p:nvPr>
        </p:nvSpPr>
        <p:spPr/>
        <p:txBody>
          <a:bodyPr/>
          <a:lstStyle/>
          <a:p>
            <a:pPr lvl="0"/>
            <a:r>
              <a:rPr>
                <a:hlinkClick r:id="rId2" action="ppaction://hlinksldjump"/>
              </a:rPr>
              <a:t>Introduction &amp; Research Rationale</a:t>
            </a:r>
          </a:p>
          <a:p>
            <a:pPr lvl="1"/>
            <a:r>
              <a:rPr>
                <a:hlinkClick r:id="rId3" action="ppaction://hlinksldjump"/>
              </a:rPr>
              <a:t>Why is this topic important?</a:t>
            </a:r>
          </a:p>
          <a:p>
            <a:pPr lvl="1"/>
            <a:r>
              <a:rPr>
                <a:hlinkClick r:id="rId4" action="ppaction://hlinksldjump"/>
              </a:rPr>
              <a:t>What trends make this a crucial area of study in 2024?</a:t>
            </a:r>
          </a:p>
          <a:p>
            <a:pPr lvl="1"/>
            <a:r>
              <a:rPr>
                <a:hlinkClick r:id="rId5" action="ppaction://hlinksldjump"/>
              </a:rPr>
              <a:t>What do you expect to find in your analysis?</a:t>
            </a:r>
          </a:p>
          <a:p>
            <a:pPr lvl="0"/>
            <a:r>
              <a:rPr>
                <a:hlinkClick r:id="rId6" action="ppaction://hlinksldjump"/>
              </a:rPr>
              <a:t>About</a:t>
            </a:r>
          </a:p>
          <a:p>
            <a:pPr lvl="0"/>
            <a:r>
              <a:rPr>
                <a:hlinkClick r:id="rId7" action="ppaction://hlinksldjump"/>
              </a:rPr>
              <a:t>Research &amp; Literature Review</a:t>
            </a:r>
          </a:p>
          <a:p>
            <a:pPr lvl="0"/>
            <a:r>
              <a:rPr>
                <a:hlinkClick r:id="rId8" action="ppaction://hlinksldjump"/>
              </a:rPr>
              <a:t>Which columns are irrelevant or redundant?</a:t>
            </a:r>
          </a:p>
          <a:p>
            <a:pPr lvl="0"/>
            <a:r>
              <a:rPr>
                <a:hlinkClick r:id="rId9" action="ppaction://hlinksldjump"/>
              </a:rPr>
              <a:t>Why are we removing multiple versions of NAICS/SOC codes?</a:t>
            </a:r>
          </a:p>
          <a:p>
            <a:pPr lvl="0"/>
            <a:r>
              <a:rPr>
                <a:hlinkClick r:id="rId10" action="ppaction://hlinksldjump"/>
              </a:rPr>
              <a:t>How will this improve analysis?</a:t>
            </a:r>
          </a:p>
          <a:p>
            <a:pPr lvl="1"/>
            <a:r>
              <a:rPr>
                <a:hlinkClick r:id="rId11" action="ppaction://hlinksldjump"/>
              </a:rPr>
              <a:t>4.4 Handle Missing Values**</a:t>
            </a:r>
          </a:p>
          <a:p>
            <a:pPr lvl="0"/>
            <a:r>
              <a:rPr>
                <a:hlinkClick r:id="rId12" action="ppaction://hlinksldjump"/>
              </a:rPr>
              <a:t>How should we handle missing values?</a:t>
            </a:r>
          </a:p>
          <a:p>
            <a:pPr lvl="0"/>
            <a:r>
              <a:rPr>
                <a:hlinkClick r:id="rId13" action="ppaction://hlinksldjump"/>
              </a:rPr>
              <a:t>identify numerical and categorical columns</a:t>
            </a:r>
          </a:p>
          <a:p>
            <a:pPr lvl="0"/>
            <a:r>
              <a:rPr>
                <a:hlinkClick r:id="rId14" action="ppaction://hlinksldjump"/>
              </a:rPr>
              <a:t>Numerical fields (e.g., Salary) are filled with the median.</a:t>
            </a:r>
          </a:p>
          <a:p>
            <a:pPr lvl="0"/>
            <a:r>
              <a:rPr>
                <a:hlinkClick r:id="rId15" action="ppaction://hlinksldjump"/>
              </a:rPr>
              <a:t>Drop columns with &gt;50% missing values</a:t>
            </a:r>
          </a:p>
          <a:p>
            <a:pPr lvl="1"/>
            <a:r>
              <a:rPr b="1">
                <a:hlinkClick r:id="rId16" action="ppaction://hlinksldjump"/>
              </a:rPr>
              <a:t>Remove Duplicates</a:t>
            </a:r>
          </a:p>
          <a:p>
            <a:pPr lvl="0"/>
            <a:r>
              <a:rPr>
                <a:hlinkClick r:id="rId17" action="ppaction://hlinksldjump"/>
              </a:rPr>
              <a:t>Career Planning &amp; Insights</a:t>
            </a:r>
          </a:p>
          <a:p>
            <a:pPr lvl="1"/>
            <a:r>
              <a:rPr>
                <a:hlinkClick r:id="rId18" action="ppaction://hlinksldjump"/>
              </a:rPr>
              <a:t>1. High-Demand Job Roles</a:t>
            </a:r>
          </a:p>
          <a:p>
            <a:pPr lvl="1"/>
            <a:r>
              <a:rPr>
                <a:hlinkClick r:id="rId19" action="ppaction://hlinksldjump"/>
              </a:rPr>
              <a:t>2. In-Demand Skills</a:t>
            </a:r>
          </a:p>
          <a:p>
            <a:pPr lvl="1"/>
            <a:r>
              <a:rPr>
                <a:hlinkClick r:id="rId20" action="ppaction://hlinksldjump"/>
              </a:rPr>
              <a:t>3. Recommended Certifications</a:t>
            </a:r>
          </a:p>
          <a:p>
            <a:pPr lvl="1"/>
            <a:r>
              <a:rPr>
                <a:hlinkClick r:id="rId21" action="ppaction://hlinksldjump"/>
              </a:rPr>
              <a:t>4. Career Roadmap</a:t>
            </a:r>
          </a:p>
          <a:p>
            <a:pPr lvl="2"/>
            <a:r>
              <a:rPr b="1">
                <a:hlinkClick r:id="rId22" action="ppaction://hlinksldjump"/>
              </a:rPr>
              <a:t>Step 1: Learn &amp; Upskill</a:t>
            </a:r>
          </a:p>
          <a:p>
            <a:pPr lvl="2"/>
            <a:r>
              <a:rPr b="1">
                <a:hlinkClick r:id="rId23" action="ppaction://hlinksldjump"/>
              </a:rPr>
              <a:t>Step 2: Gain Experience</a:t>
            </a:r>
          </a:p>
          <a:p>
            <a:pPr lvl="2"/>
            <a:r>
              <a:rPr b="1">
                <a:hlinkClick r:id="rId24" action="ppaction://hlinksldjump"/>
              </a:rPr>
              <a:t>Step 3: Apply for Jobs</a:t>
            </a:r>
          </a:p>
          <a:p>
            <a:pPr lvl="1"/>
            <a:r>
              <a:rPr>
                <a:hlinkClick r:id="rId25" action="ppaction://hlinksldjump"/>
              </a:rPr>
              <a:t>Propose an improvement plan</a:t>
            </a:r>
          </a:p>
          <a:p>
            <a:pPr lvl="2"/>
            <a:r>
              <a:rPr>
                <a:hlinkClick r:id="rId26" action="ppaction://hlinksldjump"/>
              </a:rPr>
              <a:t>Which skills should each member prioritize learning?</a:t>
            </a:r>
          </a:p>
          <a:p>
            <a:pPr lvl="2"/>
            <a:r>
              <a:rPr>
                <a:hlinkClick r:id="rId27" action="ppaction://hlinksldjump"/>
              </a:rPr>
              <a:t>What courses or resources can help?</a:t>
            </a:r>
          </a:p>
          <a:p>
            <a:pPr lvl="2"/>
            <a:r>
              <a:rPr>
                <a:hlinkClick r:id="rId28" action="ppaction://hlinksldjump"/>
              </a:rPr>
              <a:t>How can the team collaborate to bridge skill gaps?</a:t>
            </a:r>
          </a:p>
          <a:p>
            <a:pPr lvl="1"/>
            <a:r>
              <a:rPr>
                <a:hlinkClick r:id="rId29" action="ppaction://hlinksldjump"/>
              </a:rPr>
              <a:t>🧹 Extracting Insights from Job Descriptions Using NLP Methods</a:t>
            </a:r>
          </a:p>
          <a:p>
            <a:pPr lvl="2"/>
            <a:r>
              <a:rPr>
                <a:hlinkClick r:id="rId30" action="ppaction://hlinksldjump"/>
              </a:rPr>
              <a:t>📊 Most In-Demand Technical Skills in Data Science and AI Roles</a:t>
            </a:r>
          </a:p>
          <a:p>
            <a:pPr lvl="2"/>
            <a:r>
              <a:rPr>
                <a:hlinkClick r:id="rId31" action="ppaction://hlinksldjump"/>
              </a:rPr>
              <a:t>🌎 AI Job Market Trends Across U.S. States</a:t>
            </a:r>
          </a:p>
          <a:p>
            <a:pPr lvl="2"/>
            <a:r>
              <a:rPr>
                <a:hlinkClick r:id="rId32" action="ppaction://hlinksldjump"/>
              </a:rPr>
              <a:t>💡 Career Pathway: From Fundamentals to Specialization</a:t>
            </a:r>
          </a:p>
          <a:p>
            <a:pPr lvl="2"/>
            <a:r>
              <a:rPr>
                <a:hlinkClick r:id="rId33" action="ppaction://hlinksldjump"/>
              </a:rPr>
              <a:t>🧭 Strategic Takeaway</a:t>
            </a:r>
          </a:p>
          <a:p>
            <a:pPr lvl="2"/>
            <a:r>
              <a:rPr>
                <a:hlinkClick r:id="rId34" action="ppaction://hlinksldjump"/>
              </a:rPr>
              <a:t>🤖 AI Impact on Jobs by Industry</a:t>
            </a:r>
          </a:p>
          <a:p>
            <a:pPr lvl="2"/>
            <a:r>
              <a:rPr>
                <a:hlinkClick r:id="rId35" action="ppaction://hlinksldjump"/>
              </a:rPr>
              <a:t>📈 AI-Driven Job Growth</a:t>
            </a:r>
          </a:p>
          <a:p>
            <a:pPr lvl="2"/>
            <a:r>
              <a:rPr>
                <a:hlinkClick r:id="rId36" action="ppaction://hlinksldjump"/>
              </a:rPr>
              <a:t>⚠️ AI-Driven Job Displacement</a:t>
            </a:r>
          </a:p>
          <a:p>
            <a:pPr lvl="2"/>
            <a:r>
              <a:rPr>
                <a:hlinkClick r:id="rId37" action="ppaction://hlinksldjump"/>
              </a:rPr>
              <a:t>🔍 NLP Takeaway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title: “Business Analytics, Data Science, and ML Trends in 2024” author: “Team 7: Shuyu Pan, Jiaxin Wang, Yixuan Chen, Guowei Yan” date: “2025-02-14” format: html bibliography: ./references.bib csl: ./csl/econometrica.csl toc: true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Introduction &amp; Research Rationale</a:t>
            </a:r>
          </a:p>
        </p:txBody>
      </p:sp>
      <p:sp>
        <p:nvSpPr>
          <p:cNvPr id="3" name="Content Placeholder 2"/>
          <p:cNvSpPr>
            <a:spLocks noGrp="1"/>
          </p:cNvSpPr>
          <p:nvPr>
            <p:ph idx="1"/>
          </p:nvPr>
        </p:nvSpPr>
        <p:spPr/>
        <p:txBody>
          <a:bodyPr/>
          <a:lstStyle/>
          <a:p>
            <a:pPr lvl="0" indent="0" marL="0">
              <a:spcBef>
                <a:spcPts val="3000"/>
              </a:spcBef>
              <a:buNone/>
            </a:pPr>
            <a:r>
              <a:rPr b="1"/>
              <a:t>Why is this topic important?</a:t>
            </a:r>
          </a:p>
          <a:p>
            <a:pPr lvl="0" indent="0" marL="0">
              <a:buNone/>
            </a:pPr>
            <a:r>
              <a:rPr/>
              <a:t>In today’s digital economy, Business Analytics, Data Science, and Machine Learning play a critical role in decision-making, automation, and innovation across industries. For business Analytic, we know that companies use analytics and data science to extract insights from vast amounts of data, leading to better strategic decisions and operational efficiency. For machine learning Trends, Machine Learning (ML) is rapidly evolving, shaping industries and driving innovation. Understanding ML trends is crucial because it helps businesses and professionals stay ahead, remain competitive, and leverage emerging technologies effectively. By exploring this topic, will be very helpful for our future job search.</a:t>
            </a:r>
          </a:p>
          <a:p>
            <a:pPr lvl="0" indent="0" marL="0">
              <a:spcBef>
                <a:spcPts val="3000"/>
              </a:spcBef>
              <a:buNone/>
            </a:pPr>
            <a:r>
              <a:rPr b="1"/>
              <a:t>What trends make this a crucial area of study in 2024?</a:t>
            </a:r>
          </a:p>
          <a:p>
            <a:pPr lvl="0" indent="0" marL="0">
              <a:buNone/>
            </a:pPr>
            <a:r>
              <a:rPr/>
              <a:t>In 2024, Business Analytics, Data Science, and Machine Learning are evolving rapidly, driven by key trends that make them crucial areas of study. Generative AI and Large Language Models (LLMs) are transforming automation and customer interactions, while Explainable AI (XAI) and Ethical AI ensure fairness and transparency in decision-making. AutoML and low-code/no-code AI are making machine learning more accessible, enabling businesses to leverage AI without deep technical expertise. Real-time data processing and Edge AI are enhancing speed and security, especially with IoT and 5G advancements. Additionally, AI-powered Business Intelligence (BI), personalized recommendation systems, and AI-driven cybersecurity are reshaping industries by improving efficiency, security, and user experience. Understanding these trends is essential for staying competitive, making informed business decisions, and preparing for the future job market.</a:t>
            </a:r>
          </a:p>
          <a:p>
            <a:pPr lvl="0" indent="0" marL="0">
              <a:spcBef>
                <a:spcPts val="3000"/>
              </a:spcBef>
              <a:buNone/>
            </a:pPr>
            <a:r>
              <a:rPr b="1"/>
              <a:t>What do you expect to find in your analysis?</a:t>
            </a:r>
          </a:p>
          <a:p>
            <a:pPr lvl="0" indent="0" marL="0">
              <a:buNone/>
            </a:pPr>
            <a:r>
              <a:rPr/>
              <a:t>In our analysis of Business Analytics, Data Science, and Machine Learning Trends, we expect to find that AI-driven automation and predictive analytics are becoming essential for decision-making across industries. Emerging technologies like Generative AI, AutoML, and Edge AI are gaining widespread adoption, making AI more accessible and efficient. Additionally, there is a growing focus on Ethical AI and Explainability, as businesses seek to mitigate bias and ensure fairness in machine learning models. The job market is also shifting, with increasing demand for professionals skilled in AI, Python, and data analytics. Furthermore, businesses are transitioning from traditional analytics to AI-powered Business Intelligence, improving efficiency, personalization, and customer experience (Li et al. (2021)). —</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About</a:t>
            </a:r>
          </a:p>
        </p:txBody>
      </p:sp>
      <p:sp>
        <p:nvSpPr>
          <p:cNvPr id="3" name="Content Placeholder 2"/>
          <p:cNvSpPr>
            <a:spLocks noGrp="1"/>
          </p:cNvSpPr>
          <p:nvPr>
            <p:ph idx="1"/>
          </p:nvPr>
        </p:nvSpPr>
        <p:spPr/>
        <p:txBody>
          <a:bodyPr/>
          <a:lstStyle/>
          <a:p>
            <a:pPr lvl="0" indent="0" marL="0">
              <a:buNone/>
            </a:pPr>
            <a:r>
              <a:rPr b="1"/>
              <a:t>Most in-demand Skills for Data science, Business Analytics, and ML Roles</a:t>
            </a:r>
            <a:r>
              <a:rPr/>
              <a:t> Based on the study analyzing 786 job postings, the most in-demand skills for Data Science, Business Analytics, and Machine Learning roles can be categorized into technical skills, analytical skills, and soft skills. The study highlights that Excel (84%), Tableau (71%), SPSS (70%), Python (70%), and SQL (68%) are among the most frequently required tools, emphasizing the importance of data manipulation, analysis, and visualization. Additionally, Power BI (61%) and R (67%) remain valuable for business analytics and statistical modeling. Analytical skills such as data visualization (91%), data cleaning (88%), and data extraction (78%) are critical, demonstrating the need for professionals who can preprocess and interpret data effectively. Employers also seek candidates with experience in script programming (41%) and neural networks (18%), particularly for advanced machine learning roles. Beyond technical expertise, soft skills like communication (100%), problem-solving (92%), teamwork (91%), and presentation abilities (79%) are equally vital. These skills help professionals convey insights to stakeholders and collaborate effectively. For business analysts, strong Excel, SQL, and storytelling skills are crucial, while data scientists and ML engineers require deep expertise in statistics, Python, and predictive modeling. The findings reinforce that a blend of technical proficiency and interpersonal skills is essential for career success.</a:t>
            </a:r>
          </a:p>
          <a:p>
            <a:pPr lvl="0" indent="0" marL="0">
              <a:buNone/>
            </a:pPr>
            <a:r>
              <a:rPr b="1"/>
              <a:t>Job Descriptions Evolved in 2024 to Require AI/ML Expertise</a:t>
            </a:r>
            <a:r>
              <a:rPr/>
              <a:t> Job descriptions in 2024 have evolved significantly to incorporate AI/ML expertise, reflecting the increasing integration of artificial intelligence in recruitment and workforce management. Companies are now utilizing AI-based recommender systems to match employee profiles with job roles, reducing human bias and improving efficiency in hiring and talent management. A key trend in job descriptions is the greater emphasis on AI and ML proficiency. Even for roles outside traditional tech fields, employers are prioritizing candidates with automation, predictive analytics, and AI-enhanced decision-making skills. Many organizations expect job applicants to have at least a foundational understanding of machine learning tools, data analysis, and cloud-based AI solutions. Another major shift is the use of AI-driven profile matching, where machine learning models assess historical performance, skills, and industry trends to suggest job candidates. AI is also helping reduce human bias in hiring by offering objective, data-driven recommendations. However, challenges remain, such as algorithmic fairness and ethical concerns in AI-driven recruitment. Additionally, job descriptions have become more personalized and dynamic, as AI enables real-time role adjustments based on employee potential and company needs. Overall, AI and ML expertise are now essential components of modern job descriptions, reflecting the digital transformation across industries.</a:t>
            </a:r>
          </a:p>
          <a:p>
            <a:pPr lvl="0" indent="0" marL="0">
              <a:buNone/>
            </a:pPr>
            <a:r>
              <a:rPr b="1"/>
              <a:t>The Future of Business Analytics: Demand, Skills, and Career Growth</a:t>
            </a:r>
            <a:r>
              <a:rPr/>
              <a:t> The career outlook for business analytics professionals is highly promising, driven by the increasing reliance on data-driven decision-making across industries. Organizations in finance, healthcare, retail, technology, and energy are actively seeking skilled analysts who can interpret complex data, develop predictive models, and provide actionable insights. With the rapid advancements in artificial intelligence and machine learning, professionals who can integrate these technologies into business strategies will be in high demand. Additionally, as companies prioritize efficiency, risk management, and customer experience, business analytics roles are expected to expand, offering competitive salaries and diverse career opportunities. Those who invest in upskilling in areas such as data visualization, forecasting, and AI-driven analytics will be well-positioned for success in this evolving job market.</a:t>
            </a:r>
          </a:p>
          <a:p>
            <a:pPr lvl="0" indent="0" marL="0">
              <a:buNone/>
            </a:pPr>
            <a:r>
              <a:rPr b="1"/>
              <a:t>Industries with the Highest Demand for Data Scientists and the Factors Driving Their Growth</a:t>
            </a:r>
            <a:r>
              <a:rPr/>
              <a:t> As of 2025, data scientists are in high demand across various industries, with technology (35%), financial services (22%), healthcare (18%), e-commerce (15%), and manufacturing/IoT (10%) leading the way. The technology sector dominates due to rapid advancements in artificial intelligence (AI) and machine learning (ML), requiring data scientists to develop and optimize predictive models. Financial institutions leverage data science for risk assessment, fraud detection, and algorithmic trading, ensuring efficient decision-making and regulatory compliance. In healthcare, the integration of AI in patient diagnosis, drug discovery, and medical imaging has significantly increased the need for data analytics professionals. E-commerce and retail businesses rely on data-driven insights to enhance customer experiences, optimize inventory, and implement dynamic pricing strategies. Meanwhile, manufacturing and IoT use predictive analytics to improve operational efficiency, reduce downtime, and enhance automation. The surge in AI adoption, automation, and big data analytics across industries is driving this demand, making data science a critical and highly sought-after profession in the modern workforce. Companies increasingly recognize the value of data-driven decision-making, ensuring that data scientists remain at the forefront of innovation and business transformation.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Research &amp; Literature Review</a:t>
            </a:r>
          </a:p>
        </p:txBody>
      </p:sp>
      <p:sp>
        <p:nvSpPr>
          <p:cNvPr id="3" name="Content Placeholder 2"/>
          <p:cNvSpPr>
            <a:spLocks noGrp="1"/>
          </p:cNvSpPr>
          <p:nvPr>
            <p:ph idx="1"/>
          </p:nvPr>
        </p:nvSpPr>
        <p:spPr/>
        <p:txBody>
          <a:bodyPr/>
          <a:lstStyle/>
          <a:p>
            <a:pPr lvl="0" indent="0" marL="0">
              <a:buNone/>
            </a:pPr>
            <a:r>
              <a:rPr b="1"/>
              <a:t>The Role of Monetary Policy in Economic Growth</a:t>
            </a:r>
          </a:p>
          <a:p>
            <a:pPr lvl="0" indent="0" marL="0">
              <a:buNone/>
            </a:pPr>
            <a:r>
              <a:rPr/>
              <a:t>The literature on monetary policy and economic growth highlights the crucial role of central banks in influencing macroeconomic stability. Research emphasizes various transmission mechanisms, including interest rates, credit supply, and market expectations, through which policy decisions impact investment, consumption, and overall economic performance. Studies also explore the varying effectiveness of monetary policies across different economic contexts, with factors such as financial market development and institutional credibility playing a significant role (Pradhan).</a:t>
            </a:r>
          </a:p>
          <a:p>
            <a:pPr lvl="0" indent="0" marL="0">
              <a:buNone/>
            </a:pPr>
            <a:r>
              <a:rPr/>
              <a:t>However, implementing monetary policy is not without challenges. Scholars discuss issues such as time lags in policy effects, constraints like the zero-lower bound on interest rates, and trade-offs between inflation control and economic expansion. The existing research underscores the complexity of monetary policy, suggesting that its success depends on well-calibrated, context-specific strategies to balance economic growth and stability.</a:t>
            </a:r>
          </a:p>
          <a:p>
            <a:pPr lvl="0" indent="0" marL="0">
              <a:buNone/>
            </a:pPr>
            <a:r>
              <a:rPr b="1"/>
              <a:t>Data Analytics Skills and Industry Expectations</a:t>
            </a:r>
          </a:p>
          <a:p>
            <a:pPr lvl="0" indent="0" marL="0">
              <a:buNone/>
            </a:pPr>
            <a:r>
              <a:rPr/>
              <a:t>The literature on data analytics skills and industry expectations highlights the growing demand for professionals who possess a mix of technical and soft skills to meet market needs. The study in the Information Systems Education Journal (2024) analyzes 786 job postings to identify the most sought-after competencies for data analytics positions. The findings indicate that soft skills, particularly communication, teamwork, and problem-solving, dominate employer preferences, with 11 out of the top 21 desired skills falling under this category. In addition, domain-related skills, such as data visualization, data cleaning, and data extraction, are critical, along with programming knowledge in languages like Python and SQL. This suggests that higher education curricula must evolve to balance technical and interpersonal skill development to enhance graduate employability.</a:t>
            </a:r>
          </a:p>
          <a:p>
            <a:pPr lvl="0" indent="0" marL="0">
              <a:buNone/>
            </a:pPr>
            <a:r>
              <a:rPr/>
              <a:t>Prior research supports this perspective, emphasizing that university programs must align with industry expectations to ensure strong career placement for graduates. Studies have traditionally used job postings as a key method to analyze shifting industry demands, demonstrating an increasing focus on data analysis, statistical modeling, and AI-driven techniques (Brooks et al., 2018). Additionally, the literature stresses the importance of continuous skill adaptation, as new trends, such as automation and AI integration, reshape employer requirements. As industries generate vast amounts of data, projected to reach 181 zettabytes by 2025, the ability to manage and extract insights from this data becomes a crucial competency. This reinforces the need for dynamic, industry-relevant educational programs that equip students with both technical expertise and essential workplace competencies.</a:t>
            </a:r>
          </a:p>
          <a:p>
            <a:pPr lvl="0" indent="0" marL="0">
              <a:buNone/>
            </a:pPr>
            <a:r>
              <a:rPr b="1"/>
              <a:t>Forecast evaluation for data scientists: common pitfalls and best practices</a:t>
            </a:r>
          </a:p>
          <a:p>
            <a:pPr lvl="0" indent="0" marL="0">
              <a:buNone/>
            </a:pPr>
            <a:r>
              <a:rPr/>
              <a:t>The literature on forecast evaluation for data scientists highlights the growing use of machine learning and deep learning techniques in time-series forecasting. While these models offer powerful predictive capabilities, their evaluation often lacks the rigor of traditional statistical methods. Many machine learning researchers adopt flawed evaluation practices, leading to misleading conclusions about model performance. Key challenges include dealing with non-stationarities in time-series data, selecting appropriate validation strategies, and ensuring that error measures accurately reflect forecasting accuracy. Studies emphasize that improper benchmarking, such as using inadequate comparison models or inappropriate error metrics like MAPE on small-value datasets, can distort results and overstate the effectiveness of certain methods ().</a:t>
            </a:r>
          </a:p>
          <a:p>
            <a:pPr lvl="0" indent="0" marL="0">
              <a:buNone/>
            </a:pPr>
            <a:r>
              <a:rPr/>
              <a:t>To improve forecast evaluation, recent research advocates for more structured methodologies that align with best practices in both machine learning and traditional econometrics. Choosing appropriate data partitioning techniques, selecting meaningful error measures, and benchmarking against simple yet robust models like the naïve forecast are critical steps in ensuring reliable performance assessment. Additionally, industry-specific considerations, such as the high volatility of financial and energy sector data, further complicate evaluation methods. The lack of universally accepted standards has led to inconsistencies in published research, reinforcing the need to bridge the gap between machine learning and classical forecasting principles to enhance model evaluation and reliability (Hewamalage, Ackermann, and Bergmeir ((2023))).</a:t>
            </a:r>
          </a:p>
          <a:p>
            <a:pPr lvl="0" indent="0">
              <a:buNone/>
            </a:pPr>
            <a:r>
              <a:rPr>
                <a:solidFill>
                  <a:srgbClr val="00769E"/>
                </a:solidFill>
                <a:latin typeface="Courier"/>
              </a:rPr>
              <a:t>import</a:t>
            </a:r>
            <a:r>
              <a:rPr>
                <a:solidFill>
                  <a:srgbClr val="003B4F"/>
                </a:solidFill>
                <a:latin typeface="Courier"/>
              </a:rPr>
              <a:t> pandas </a:t>
            </a:r>
            <a:r>
              <a:rPr>
                <a:solidFill>
                  <a:srgbClr val="00769E"/>
                </a:solidFill>
                <a:latin typeface="Courier"/>
              </a:rPr>
              <a:t>as</a:t>
            </a:r>
            <a:r>
              <a:rPr>
                <a:solidFill>
                  <a:srgbClr val="003B4F"/>
                </a:solidFill>
                <a:latin typeface="Courier"/>
              </a:rPr>
              <a:t> pd</a:t>
            </a:r>
            <a:br/>
            <a:r>
              <a:rPr>
                <a:solidFill>
                  <a:srgbClr val="00769E"/>
                </a:solidFill>
                <a:latin typeface="Courier"/>
              </a:rPr>
              <a:t>import</a:t>
            </a:r>
            <a:r>
              <a:rPr>
                <a:solidFill>
                  <a:srgbClr val="003B4F"/>
                </a:solidFill>
                <a:latin typeface="Courier"/>
              </a:rPr>
              <a:t> missingno </a:t>
            </a:r>
            <a:r>
              <a:rPr>
                <a:solidFill>
                  <a:srgbClr val="00769E"/>
                </a:solidFill>
                <a:latin typeface="Courier"/>
              </a:rPr>
              <a:t>as</a:t>
            </a:r>
            <a:r>
              <a:rPr>
                <a:solidFill>
                  <a:srgbClr val="003B4F"/>
                </a:solidFill>
                <a:latin typeface="Courier"/>
              </a:rPr>
              <a:t> msno</a:t>
            </a:r>
            <a:br/>
            <a:r>
              <a:rPr>
                <a:solidFill>
                  <a:srgbClr val="00769E"/>
                </a:solidFill>
                <a:latin typeface="Courier"/>
              </a:rPr>
              <a:t>import</a:t>
            </a:r>
            <a:r>
              <a:rPr>
                <a:solidFill>
                  <a:srgbClr val="003B4F"/>
                </a:solidFill>
                <a:latin typeface="Courier"/>
              </a:rPr>
              <a:t> matplotlib.pyplot </a:t>
            </a:r>
            <a:r>
              <a:rPr>
                <a:solidFill>
                  <a:srgbClr val="00769E"/>
                </a:solidFill>
                <a:latin typeface="Courier"/>
              </a:rPr>
              <a:t>as</a:t>
            </a:r>
            <a:r>
              <a:rPr>
                <a:solidFill>
                  <a:srgbClr val="003B4F"/>
                </a:solidFill>
                <a:latin typeface="Courier"/>
              </a:rPr>
              <a:t> plt</a:t>
            </a:r>
            <a:br/>
            <a:r>
              <a:rPr>
                <a:solidFill>
                  <a:srgbClr val="00769E"/>
                </a:solidFill>
                <a:latin typeface="Courier"/>
              </a:rPr>
              <a:t>import</a:t>
            </a:r>
            <a:r>
              <a:rPr>
                <a:solidFill>
                  <a:srgbClr val="003B4F"/>
                </a:solidFill>
                <a:latin typeface="Courier"/>
              </a:rPr>
              <a:t> warnings</a:t>
            </a:r>
            <a:br/>
            <a:r>
              <a:rPr>
                <a:solidFill>
                  <a:srgbClr val="00769E"/>
                </a:solidFill>
                <a:latin typeface="Courier"/>
              </a:rPr>
              <a:t>import</a:t>
            </a:r>
            <a:r>
              <a:rPr>
                <a:solidFill>
                  <a:srgbClr val="003B4F"/>
                </a:solidFill>
                <a:latin typeface="Courier"/>
              </a:rPr>
              <a:t> numpy </a:t>
            </a:r>
            <a:r>
              <a:rPr>
                <a:solidFill>
                  <a:srgbClr val="00769E"/>
                </a:solidFill>
                <a:latin typeface="Courier"/>
              </a:rPr>
              <a:t>as</a:t>
            </a:r>
            <a:r>
              <a:rPr>
                <a:solidFill>
                  <a:srgbClr val="003B4F"/>
                </a:solidFill>
                <a:latin typeface="Courier"/>
              </a:rPr>
              <a:t> np</a:t>
            </a:r>
            <a:br/>
            <a:r>
              <a:rPr>
                <a:solidFill>
                  <a:srgbClr val="00769E"/>
                </a:solidFill>
                <a:latin typeface="Courier"/>
              </a:rPr>
              <a:t>import</a:t>
            </a:r>
            <a:r>
              <a:rPr>
                <a:solidFill>
                  <a:srgbClr val="003B4F"/>
                </a:solidFill>
                <a:latin typeface="Courier"/>
              </a:rPr>
              <a:t> warnings</a:t>
            </a:r>
            <a:br/>
            <a:r>
              <a:rPr>
                <a:solidFill>
                  <a:srgbClr val="00769E"/>
                </a:solidFill>
                <a:latin typeface="Courier"/>
              </a:rPr>
              <a:t>import</a:t>
            </a:r>
            <a:r>
              <a:rPr>
                <a:solidFill>
                  <a:srgbClr val="003B4F"/>
                </a:solidFill>
                <a:latin typeface="Courier"/>
              </a:rPr>
              <a:t> plotly.express </a:t>
            </a:r>
            <a:r>
              <a:rPr>
                <a:solidFill>
                  <a:srgbClr val="00769E"/>
                </a:solidFill>
                <a:latin typeface="Courier"/>
              </a:rPr>
              <a:t>as</a:t>
            </a:r>
            <a:r>
              <a:rPr>
                <a:solidFill>
                  <a:srgbClr val="003B4F"/>
                </a:solidFill>
                <a:latin typeface="Courier"/>
              </a:rPr>
              <a:t> px</a:t>
            </a:r>
            <a:br/>
            <a:r>
              <a:rPr>
                <a:solidFill>
                  <a:srgbClr val="00769E"/>
                </a:solidFill>
                <a:latin typeface="Courier"/>
              </a:rPr>
              <a:t>from</a:t>
            </a:r>
            <a:r>
              <a:rPr>
                <a:solidFill>
                  <a:srgbClr val="003B4F"/>
                </a:solidFill>
                <a:latin typeface="Courier"/>
              </a:rPr>
              <a:t> collections </a:t>
            </a:r>
            <a:r>
              <a:rPr>
                <a:solidFill>
                  <a:srgbClr val="00769E"/>
                </a:solidFill>
                <a:latin typeface="Courier"/>
              </a:rPr>
              <a:t>import</a:t>
            </a:r>
            <a:r>
              <a:rPr>
                <a:solidFill>
                  <a:srgbClr val="003B4F"/>
                </a:solidFill>
                <a:latin typeface="Courier"/>
              </a:rPr>
              <a:t> Counter</a:t>
            </a:r>
            <a:br/>
            <a:r>
              <a:rPr>
                <a:solidFill>
                  <a:srgbClr val="00769E"/>
                </a:solidFill>
                <a:latin typeface="Courier"/>
              </a:rPr>
              <a:t>import</a:t>
            </a:r>
            <a:r>
              <a:rPr>
                <a:solidFill>
                  <a:srgbClr val="003B4F"/>
                </a:solidFill>
                <a:latin typeface="Courier"/>
              </a:rPr>
              <a:t> re</a:t>
            </a:r>
            <a:br/>
            <a:r>
              <a:rPr>
                <a:solidFill>
                  <a:srgbClr val="00769E"/>
                </a:solidFill>
                <a:latin typeface="Courier"/>
              </a:rPr>
              <a:t>import</a:t>
            </a:r>
            <a:r>
              <a:rPr>
                <a:solidFill>
                  <a:srgbClr val="003B4F"/>
                </a:solidFill>
                <a:latin typeface="Courier"/>
              </a:rPr>
              <a:t> plotly.io </a:t>
            </a:r>
            <a:r>
              <a:rPr>
                <a:solidFill>
                  <a:srgbClr val="00769E"/>
                </a:solidFill>
                <a:latin typeface="Courier"/>
              </a:rPr>
              <a:t>as</a:t>
            </a:r>
            <a:r>
              <a:rPr>
                <a:solidFill>
                  <a:srgbClr val="003B4F"/>
                </a:solidFill>
                <a:latin typeface="Courier"/>
              </a:rPr>
              <a:t> pio</a:t>
            </a:r>
            <a:br/>
            <a:r>
              <a:rPr>
                <a:solidFill>
                  <a:srgbClr val="00769E"/>
                </a:solidFill>
                <a:latin typeface="Courier"/>
              </a:rPr>
              <a:t>import</a:t>
            </a:r>
            <a:r>
              <a:rPr>
                <a:solidFill>
                  <a:srgbClr val="003B4F"/>
                </a:solidFill>
                <a:latin typeface="Courier"/>
              </a:rPr>
              <a:t> plotly.graph_objects </a:t>
            </a:r>
            <a:r>
              <a:rPr>
                <a:solidFill>
                  <a:srgbClr val="00769E"/>
                </a:solidFill>
                <a:latin typeface="Courier"/>
              </a:rPr>
              <a:t>as</a:t>
            </a:r>
            <a:r>
              <a:rPr>
                <a:solidFill>
                  <a:srgbClr val="003B4F"/>
                </a:solidFill>
                <a:latin typeface="Courier"/>
              </a:rPr>
              <a:t> go</a:t>
            </a:r>
            <a:br/>
            <a:r>
              <a:rPr>
                <a:solidFill>
                  <a:srgbClr val="00769E"/>
                </a:solidFill>
                <a:latin typeface="Courier"/>
              </a:rPr>
              <a:t>from</a:t>
            </a:r>
            <a:r>
              <a:rPr>
                <a:solidFill>
                  <a:srgbClr val="003B4F"/>
                </a:solidFill>
                <a:latin typeface="Courier"/>
              </a:rPr>
              <a:t> ipywidgets </a:t>
            </a:r>
            <a:r>
              <a:rPr>
                <a:solidFill>
                  <a:srgbClr val="00769E"/>
                </a:solidFill>
                <a:latin typeface="Courier"/>
              </a:rPr>
              <a:t>import</a:t>
            </a:r>
            <a:r>
              <a:rPr>
                <a:solidFill>
                  <a:srgbClr val="003B4F"/>
                </a:solidFill>
                <a:latin typeface="Courier"/>
              </a:rPr>
              <a:t> Dropdown, VBox, Output</a:t>
            </a:r>
          </a:p>
          <a:p>
            <a:pPr lvl="0" indent="0">
              <a:buNone/>
            </a:pPr>
            <a:r>
              <a:rPr>
                <a:solidFill>
                  <a:srgbClr val="003B4F"/>
                </a:solidFill>
                <a:latin typeface="Courier"/>
              </a:rPr>
              <a:t>lightcast_data </a:t>
            </a:r>
            <a:r>
              <a:rPr>
                <a:solidFill>
                  <a:srgbClr val="5E5E5E"/>
                </a:solidFill>
                <a:latin typeface="Courier"/>
              </a:rPr>
              <a:t>=</a:t>
            </a:r>
            <a:r>
              <a:rPr>
                <a:solidFill>
                  <a:srgbClr val="003B4F"/>
                </a:solidFill>
                <a:latin typeface="Courier"/>
              </a:rPr>
              <a:t> pd.read_csv(</a:t>
            </a:r>
            <a:r>
              <a:rPr>
                <a:solidFill>
                  <a:srgbClr val="20794D"/>
                </a:solidFill>
                <a:latin typeface="Courier"/>
              </a:rPr>
              <a:t>"lightcast_job_postings.csv"</a:t>
            </a:r>
            <a:r>
              <a:rPr>
                <a:solidFill>
                  <a:srgbClr val="003B4F"/>
                </a:solidFill>
                <a:latin typeface="Courier"/>
              </a:rPr>
              <a:t>)</a:t>
            </a:r>
            <a:br/>
            <a:r>
              <a:rPr>
                <a:solidFill>
                  <a:srgbClr val="003B4F"/>
                </a:solidFill>
                <a:latin typeface="Courier"/>
              </a:rPr>
              <a:t>columns_to_drop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20794D"/>
                </a:solidFill>
                <a:latin typeface="Courier"/>
              </a:rPr>
              <a:t>"ID"</a:t>
            </a:r>
            <a:r>
              <a:rPr>
                <a:solidFill>
                  <a:srgbClr val="003B4F"/>
                </a:solidFill>
                <a:latin typeface="Courier"/>
              </a:rPr>
              <a:t>, </a:t>
            </a:r>
            <a:r>
              <a:rPr>
                <a:solidFill>
                  <a:srgbClr val="20794D"/>
                </a:solidFill>
                <a:latin typeface="Courier"/>
              </a:rPr>
              <a:t>"URL"</a:t>
            </a:r>
            <a:r>
              <a:rPr>
                <a:solidFill>
                  <a:srgbClr val="003B4F"/>
                </a:solidFill>
                <a:latin typeface="Courier"/>
              </a:rPr>
              <a:t>, </a:t>
            </a:r>
            <a:r>
              <a:rPr>
                <a:solidFill>
                  <a:srgbClr val="20794D"/>
                </a:solidFill>
                <a:latin typeface="Courier"/>
              </a:rPr>
              <a:t>"ACTIVE_URLS"</a:t>
            </a:r>
            <a:r>
              <a:rPr>
                <a:solidFill>
                  <a:srgbClr val="003B4F"/>
                </a:solidFill>
                <a:latin typeface="Courier"/>
              </a:rPr>
              <a:t>, </a:t>
            </a:r>
            <a:r>
              <a:rPr>
                <a:solidFill>
                  <a:srgbClr val="20794D"/>
                </a:solidFill>
                <a:latin typeface="Courier"/>
              </a:rPr>
              <a:t>"DUPLICATES"</a:t>
            </a:r>
            <a:r>
              <a:rPr>
                <a:solidFill>
                  <a:srgbClr val="003B4F"/>
                </a:solidFill>
                <a:latin typeface="Courier"/>
              </a:rPr>
              <a:t>, </a:t>
            </a:r>
            <a:r>
              <a:rPr>
                <a:solidFill>
                  <a:srgbClr val="20794D"/>
                </a:solidFill>
                <a:latin typeface="Courier"/>
              </a:rPr>
              <a:t>"LAST_UPDATED_TIMESTAMP"</a:t>
            </a:r>
            <a:r>
              <a:rPr>
                <a:solidFill>
                  <a:srgbClr val="003B4F"/>
                </a:solidFill>
                <a:latin typeface="Courier"/>
              </a:rPr>
              <a:t>,</a:t>
            </a:r>
            <a:br/>
            <a:r>
              <a:rPr>
                <a:solidFill>
                  <a:srgbClr val="003B4F"/>
                </a:solidFill>
                <a:latin typeface="Courier"/>
              </a:rPr>
              <a:t>    </a:t>
            </a:r>
            <a:r>
              <a:rPr>
                <a:solidFill>
                  <a:srgbClr val="20794D"/>
                </a:solidFill>
                <a:latin typeface="Courier"/>
              </a:rPr>
              <a:t>"NAICS2"</a:t>
            </a:r>
            <a:r>
              <a:rPr>
                <a:solidFill>
                  <a:srgbClr val="003B4F"/>
                </a:solidFill>
                <a:latin typeface="Courier"/>
              </a:rPr>
              <a:t>, </a:t>
            </a:r>
            <a:r>
              <a:rPr>
                <a:solidFill>
                  <a:srgbClr val="20794D"/>
                </a:solidFill>
                <a:latin typeface="Courier"/>
              </a:rPr>
              <a:t>"NAICS3"</a:t>
            </a:r>
            <a:r>
              <a:rPr>
                <a:solidFill>
                  <a:srgbClr val="003B4F"/>
                </a:solidFill>
                <a:latin typeface="Courier"/>
              </a:rPr>
              <a:t>, </a:t>
            </a:r>
            <a:r>
              <a:rPr>
                <a:solidFill>
                  <a:srgbClr val="20794D"/>
                </a:solidFill>
                <a:latin typeface="Courier"/>
              </a:rPr>
              <a:t>"NAICS4"</a:t>
            </a:r>
            <a:r>
              <a:rPr>
                <a:solidFill>
                  <a:srgbClr val="003B4F"/>
                </a:solidFill>
                <a:latin typeface="Courier"/>
              </a:rPr>
              <a:t>, </a:t>
            </a:r>
            <a:r>
              <a:rPr>
                <a:solidFill>
                  <a:srgbClr val="20794D"/>
                </a:solidFill>
                <a:latin typeface="Courier"/>
              </a:rPr>
              <a:t>"NAICS5"</a:t>
            </a:r>
            <a:r>
              <a:rPr>
                <a:solidFill>
                  <a:srgbClr val="003B4F"/>
                </a:solidFill>
                <a:latin typeface="Courier"/>
              </a:rPr>
              <a:t>, </a:t>
            </a:r>
            <a:r>
              <a:rPr>
                <a:solidFill>
                  <a:srgbClr val="20794D"/>
                </a:solidFill>
                <a:latin typeface="Courier"/>
              </a:rPr>
              <a:t>"NAICS6"</a:t>
            </a:r>
            <a:r>
              <a:rPr>
                <a:solidFill>
                  <a:srgbClr val="003B4F"/>
                </a:solidFill>
                <a:latin typeface="Courier"/>
              </a:rPr>
              <a:t>,</a:t>
            </a:r>
            <a:br/>
            <a:r>
              <a:rPr>
                <a:solidFill>
                  <a:srgbClr val="003B4F"/>
                </a:solidFill>
                <a:latin typeface="Courier"/>
              </a:rPr>
              <a:t>    </a:t>
            </a:r>
            <a:r>
              <a:rPr>
                <a:solidFill>
                  <a:srgbClr val="20794D"/>
                </a:solidFill>
                <a:latin typeface="Courier"/>
              </a:rPr>
              <a:t>"SOC_2"</a:t>
            </a:r>
            <a:r>
              <a:rPr>
                <a:solidFill>
                  <a:srgbClr val="003B4F"/>
                </a:solidFill>
                <a:latin typeface="Courier"/>
              </a:rPr>
              <a:t>, </a:t>
            </a:r>
            <a:r>
              <a:rPr>
                <a:solidFill>
                  <a:srgbClr val="20794D"/>
                </a:solidFill>
                <a:latin typeface="Courier"/>
              </a:rPr>
              <a:t>"SOC_3"</a:t>
            </a:r>
            <a:r>
              <a:rPr>
                <a:solidFill>
                  <a:srgbClr val="003B4F"/>
                </a:solidFill>
                <a:latin typeface="Courier"/>
              </a:rPr>
              <a:t>, </a:t>
            </a:r>
            <a:r>
              <a:rPr>
                <a:solidFill>
                  <a:srgbClr val="20794D"/>
                </a:solidFill>
                <a:latin typeface="Courier"/>
              </a:rPr>
              <a:t>"SOC_5"</a:t>
            </a:r>
            <a:br/>
            <a:r>
              <a:rPr>
                <a:solidFill>
                  <a:srgbClr val="003B4F"/>
                </a:solidFill>
                <a:latin typeface="Courier"/>
              </a:rPr>
              <a:t>]</a:t>
            </a:r>
            <a:br/>
            <a:r>
              <a:rPr>
                <a:solidFill>
                  <a:srgbClr val="003B4F"/>
                </a:solidFill>
                <a:latin typeface="Courier"/>
              </a:rPr>
              <a:t>lightcast_data.drop(columns</a:t>
            </a:r>
            <a:r>
              <a:rPr>
                <a:solidFill>
                  <a:srgbClr val="5E5E5E"/>
                </a:solidFill>
                <a:latin typeface="Courier"/>
              </a:rPr>
              <a:t>=</a:t>
            </a:r>
            <a:r>
              <a:rPr>
                <a:solidFill>
                  <a:srgbClr val="003B4F"/>
                </a:solidFill>
                <a:latin typeface="Courier"/>
              </a:rPr>
              <a:t>columns_to_drop, inplace</a:t>
            </a:r>
            <a:r>
              <a:rPr>
                <a:solidFill>
                  <a:srgbClr val="5E5E5E"/>
                </a:solidFill>
                <a:latin typeface="Courier"/>
              </a:rPr>
              <a:t>=</a:t>
            </a:r>
            <a:r>
              <a:rPr>
                <a:solidFill>
                  <a:srgbClr val="111111"/>
                </a:solidFill>
                <a:latin typeface="Courier"/>
              </a:rPr>
              <a:t>True</a:t>
            </a:r>
            <a:r>
              <a:rPr>
                <a:solidFill>
                  <a:srgbClr val="003B4F"/>
                </a:solidFill>
                <a:latin typeface="Courier"/>
              </a:rPr>
              <a: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Which columns are irrelevant or redundant?</a:t>
            </a:r>
          </a:p>
        </p:txBody>
      </p:sp>
      <p:sp>
        <p:nvSpPr>
          <p:cNvPr id="3" name="Content Placeholder 2"/>
          <p:cNvSpPr>
            <a:spLocks noGrp="1"/>
          </p:cNvSpPr>
          <p:nvPr>
            <p:ph idx="1"/>
          </p:nvPr>
        </p:nvSpPr>
        <p:spPr/>
        <p:txBody>
          <a:bodyPr/>
          <a:lstStyle/>
          <a:p>
            <a:pPr lvl="0" indent="0" marL="0">
              <a:buNone/>
            </a:pPr>
            <a:r>
              <a:rPr/>
              <a:t>The removed columns include unique identifiers (such as ID), timestamps (LAST_UPDATED_TIMESTAMP), links (URL), duplicate markers (DUPLICATES), and overlydetailed industry and occupation classification codes (various levels of NAICS and SOC). These columns may have no direct impact on the analysis or be redundant, so they were removed to simplify data processing.</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are we removing multiple versions of NAICS/SOC codes?</a:t>
            </a:r>
          </a:p>
        </p:txBody>
      </p:sp>
      <p:sp>
        <p:nvSpPr>
          <p:cNvPr id="3" name="Content Placeholder 2"/>
          <p:cNvSpPr>
            <a:spLocks noGrp="1"/>
          </p:cNvSpPr>
          <p:nvPr>
            <p:ph idx="1"/>
          </p:nvPr>
        </p:nvSpPr>
        <p:spPr/>
        <p:txBody>
          <a:bodyPr/>
          <a:lstStyle/>
          <a:p>
            <a:pPr lvl="0" indent="0" marL="0">
              <a:buNone/>
            </a:pPr>
            <a:r>
              <a:rPr/>
              <a:t>The main reason for removing multiple versions of NAICS/SOC codes is to avoid data redundancy and confusion, ensuring data consistency and comparability. Different versions of NAICS may lead to inconsistencies in industry classification standards, which can affect the accuracy of data analysis.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will this improve analysis?</a:t>
            </a:r>
          </a:p>
        </p:txBody>
      </p:sp>
      <p:sp>
        <p:nvSpPr>
          <p:cNvPr id="3" name="Content Placeholder 2"/>
          <p:cNvSpPr>
            <a:spLocks noGrp="1"/>
          </p:cNvSpPr>
          <p:nvPr>
            <p:ph idx="1"/>
          </p:nvPr>
        </p:nvSpPr>
        <p:spPr/>
        <p:txBody>
          <a:bodyPr/>
          <a:lstStyle/>
          <a:p>
            <a:pPr lvl="0" indent="0" marL="0">
              <a:buNone/>
            </a:pPr>
            <a:r>
              <a:rPr/>
              <a:t>Removing multiple versions of NAIC/SOC codes can improve data consistency and comparability, preventing analysis inaccuracies caused by inconsistent industry classification standards. This helps reduce data redundancy, simplify data cleaning and processing, and minimize classification errors due to version differences,making the data more standardized and enhancing the quality and reliability of data analysis.</a:t>
            </a:r>
          </a:p>
          <a:p>
            <a:pPr lvl="0" indent="0" marL="0">
              <a:spcBef>
                <a:spcPts val="3000"/>
              </a:spcBef>
              <a:buNone/>
            </a:pPr>
            <a:r>
              <a:rPr b="1"/>
              <a:t>4.4 Handle Missing Values**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How should we handle missing values?</a:t>
            </a:r>
          </a:p>
        </p:txBody>
      </p:sp>
      <p:sp>
        <p:nvSpPr>
          <p:cNvPr id="4" name="Text Placeholder 3"/>
          <p:cNvSpPr>
            <a:spLocks noGrp="1"/>
          </p:cNvSpPr>
          <p:nvPr>
            <p:ph idx="2" sz="half" type="body"/>
          </p:nvPr>
        </p:nvSpPr>
        <p:spPr/>
        <p:txBody>
          <a:bodyPr/>
          <a:lstStyle/>
          <a:p>
            <a:pPr lvl="0" indent="-342900" marL="342900">
              <a:buAutoNum type="arabicPeriod"/>
            </a:pPr>
            <a:r>
              <a:rPr/>
              <a:t>Removing Missing Values (Dropping Data) If missing values are rare and their removal won’t significantly impact the analysis, dropping them is a simple and effective solution. This can be done by removing rows containing missing values if they make up a small percentage of the dataset. Alternatively, if an entire column has a large proportion of missing values, it may be best to drop the column entirely.</a:t>
            </a:r>
          </a:p>
          <a:p>
            <a:pPr lvl="0" indent="-342900" marL="342900">
              <a:buAutoNum type="arabicPeriod"/>
            </a:pPr>
            <a:r>
              <a:rPr/>
              <a:t>Filling Missing Values (Imputation) Imputation involves replacing missing values with a calculated or default value. For numerical data, common methods include filling missing values with the median (to handle skewed distributions), the mean (if the data is normally distributed), or the mode (if there is a frequently occurring value). For categorical data, missing values can be replaced with “Unknown” to retain information or with the mode if a dominant category exists. This method preserves the dataset’s size and can prevent loss of valuable information.</a:t>
            </a:r>
          </a:p>
          <a:p>
            <a:pPr lvl="0" indent="0">
              <a:buNone/>
            </a:pPr>
            <a:r>
              <a:rPr>
                <a:solidFill>
                  <a:srgbClr val="003B4F"/>
                </a:solidFill>
                <a:latin typeface="Courier"/>
              </a:rPr>
              <a:t>plt.figure(figsize</a:t>
            </a:r>
            <a:r>
              <a:rPr>
                <a:solidFill>
                  <a:srgbClr val="5E5E5E"/>
                </a:solidFill>
                <a:latin typeface="Courier"/>
              </a:rPr>
              <a:t>=</a:t>
            </a:r>
            <a:r>
              <a:rPr>
                <a:solidFill>
                  <a:srgbClr val="003B4F"/>
                </a:solidFill>
                <a:latin typeface="Courier"/>
              </a:rPr>
              <a:t>(</a:t>
            </a:r>
            <a:r>
              <a:rPr>
                <a:solidFill>
                  <a:srgbClr val="AD0000"/>
                </a:solidFill>
                <a:latin typeface="Courier"/>
              </a:rPr>
              <a:t>12</a:t>
            </a:r>
            <a:r>
              <a:rPr>
                <a:solidFill>
                  <a:srgbClr val="003B4F"/>
                </a:solidFill>
                <a:latin typeface="Courier"/>
              </a:rPr>
              <a:t>, </a:t>
            </a:r>
            <a:r>
              <a:rPr>
                <a:solidFill>
                  <a:srgbClr val="AD0000"/>
                </a:solidFill>
                <a:latin typeface="Courier"/>
              </a:rPr>
              <a:t>10</a:t>
            </a:r>
            <a:r>
              <a:rPr>
                <a:solidFill>
                  <a:srgbClr val="003B4F"/>
                </a:solidFill>
                <a:latin typeface="Courier"/>
              </a:rPr>
              <a:t>))</a:t>
            </a:r>
            <a:br/>
            <a:r>
              <a:rPr>
                <a:solidFill>
                  <a:srgbClr val="003B4F"/>
                </a:solidFill>
                <a:latin typeface="Courier"/>
              </a:rPr>
              <a:t>msno.heatmap(lightcast_data,  </a:t>
            </a:r>
            <a:br/>
            <a:r>
              <a:rPr>
                <a:solidFill>
                  <a:srgbClr val="003B4F"/>
                </a:solidFill>
                <a:latin typeface="Courier"/>
              </a:rPr>
              <a:t>             fontsize</a:t>
            </a:r>
            <a:r>
              <a:rPr>
                <a:solidFill>
                  <a:srgbClr val="5E5E5E"/>
                </a:solidFill>
                <a:latin typeface="Courier"/>
              </a:rPr>
              <a:t>=</a:t>
            </a:r>
            <a:r>
              <a:rPr>
                <a:solidFill>
                  <a:srgbClr val="AD0000"/>
                </a:solidFill>
                <a:latin typeface="Courier"/>
              </a:rPr>
              <a:t>8</a:t>
            </a:r>
            <a:r>
              <a:rPr>
                <a:solidFill>
                  <a:srgbClr val="003B4F"/>
                </a:solidFill>
                <a:latin typeface="Courier"/>
              </a:rPr>
              <a:t>,</a:t>
            </a:r>
            <a:br/>
            <a:r>
              <a:rPr>
                <a:solidFill>
                  <a:srgbClr val="003B4F"/>
                </a:solidFill>
                <a:latin typeface="Courier"/>
              </a:rPr>
              <a:t>             sort</a:t>
            </a:r>
            <a:r>
              <a:rPr>
                <a:solidFill>
                  <a:srgbClr val="5E5E5E"/>
                </a:solidFill>
                <a:latin typeface="Courier"/>
              </a:rPr>
              <a:t>=</a:t>
            </a:r>
            <a:r>
              <a:rPr>
                <a:solidFill>
                  <a:srgbClr val="20794D"/>
                </a:solidFill>
                <a:latin typeface="Courier"/>
              </a:rPr>
              <a:t>'ascending'</a:t>
            </a:r>
            <a:r>
              <a:rPr>
                <a:solidFill>
                  <a:srgbClr val="003B4F"/>
                </a:solidFill>
                <a:latin typeface="Courier"/>
              </a:rPr>
              <a:t>)</a:t>
            </a:r>
            <a:br/>
            <a:r>
              <a:rPr>
                <a:solidFill>
                  <a:srgbClr val="003B4F"/>
                </a:solidFill>
                <a:latin typeface="Courier"/>
              </a:rPr>
              <a:t>plt.title(</a:t>
            </a:r>
            <a:r>
              <a:rPr>
                <a:solidFill>
                  <a:srgbClr val="20794D"/>
                </a:solidFill>
                <a:latin typeface="Courier"/>
              </a:rPr>
              <a:t>"Missing Values Heatmap"</a:t>
            </a:r>
            <a:r>
              <a:rPr>
                <a:solidFill>
                  <a:srgbClr val="003B4F"/>
                </a:solidFill>
                <a:latin typeface="Courier"/>
              </a:rPr>
              <a:t>, fontsize</a:t>
            </a:r>
            <a:r>
              <a:rPr>
                <a:solidFill>
                  <a:srgbClr val="5E5E5E"/>
                </a:solidFill>
                <a:latin typeface="Courier"/>
              </a:rPr>
              <a:t>=</a:t>
            </a:r>
            <a:r>
              <a:rPr>
                <a:solidFill>
                  <a:srgbClr val="AD0000"/>
                </a:solidFill>
                <a:latin typeface="Courier"/>
              </a:rPr>
              <a:t>14</a:t>
            </a:r>
            <a:r>
              <a:rPr>
                <a:solidFill>
                  <a:srgbClr val="003B4F"/>
                </a:solidFill>
                <a:latin typeface="Courier"/>
              </a:rPr>
              <a:t>, fontweight</a:t>
            </a:r>
            <a:r>
              <a:rPr>
                <a:solidFill>
                  <a:srgbClr val="5E5E5E"/>
                </a:solidFill>
                <a:latin typeface="Courier"/>
              </a:rPr>
              <a:t>=</a:t>
            </a:r>
            <a:r>
              <a:rPr>
                <a:solidFill>
                  <a:srgbClr val="20794D"/>
                </a:solidFill>
                <a:latin typeface="Courier"/>
              </a:rPr>
              <a:t>'bold'</a:t>
            </a:r>
            <a:r>
              <a:rPr>
                <a:solidFill>
                  <a:srgbClr val="003B4F"/>
                </a:solidFill>
                <a:latin typeface="Courier"/>
              </a:rPr>
              <a:t>)</a:t>
            </a:r>
            <a:br/>
            <a:r>
              <a:rPr>
                <a:solidFill>
                  <a:srgbClr val="003B4F"/>
                </a:solidFill>
                <a:latin typeface="Courier"/>
              </a:rPr>
              <a:t>plt.xticks(rotation</a:t>
            </a:r>
            <a:r>
              <a:rPr>
                <a:solidFill>
                  <a:srgbClr val="5E5E5E"/>
                </a:solidFill>
                <a:latin typeface="Courier"/>
              </a:rPr>
              <a:t>=</a:t>
            </a:r>
            <a:r>
              <a:rPr>
                <a:solidFill>
                  <a:srgbClr val="AD0000"/>
                </a:solidFill>
                <a:latin typeface="Courier"/>
              </a:rPr>
              <a:t>90</a:t>
            </a:r>
            <a:r>
              <a:rPr>
                <a:solidFill>
                  <a:srgbClr val="003B4F"/>
                </a:solidFill>
                <a:latin typeface="Courier"/>
              </a:rPr>
              <a:t>, ha</a:t>
            </a:r>
            <a:r>
              <a:rPr>
                <a:solidFill>
                  <a:srgbClr val="5E5E5E"/>
                </a:solidFill>
                <a:latin typeface="Courier"/>
              </a:rPr>
              <a:t>=</a:t>
            </a:r>
            <a:r>
              <a:rPr>
                <a:solidFill>
                  <a:srgbClr val="20794D"/>
                </a:solidFill>
                <a:latin typeface="Courier"/>
              </a:rPr>
              <a:t>'center'</a:t>
            </a:r>
            <a:r>
              <a:rPr>
                <a:solidFill>
                  <a:srgbClr val="003B4F"/>
                </a:solidFill>
                <a:latin typeface="Courier"/>
              </a:rPr>
              <a:t>)</a:t>
            </a:r>
            <a:br/>
            <a:r>
              <a:rPr>
                <a:solidFill>
                  <a:srgbClr val="003B4F"/>
                </a:solidFill>
                <a:latin typeface="Courier"/>
              </a:rPr>
              <a:t>plt.yticks(rotation</a:t>
            </a:r>
            <a:r>
              <a:rPr>
                <a:solidFill>
                  <a:srgbClr val="5E5E5E"/>
                </a:solidFill>
                <a:latin typeface="Courier"/>
              </a:rPr>
              <a:t>=</a:t>
            </a:r>
            <a:r>
              <a:rPr>
                <a:solidFill>
                  <a:srgbClr val="AD0000"/>
                </a:solidFill>
                <a:latin typeface="Courier"/>
              </a:rPr>
              <a:t>0</a:t>
            </a:r>
            <a:r>
              <a:rPr>
                <a:solidFill>
                  <a:srgbClr val="003B4F"/>
                </a:solidFill>
                <a:latin typeface="Courier"/>
              </a:rPr>
              <a:t>)</a:t>
            </a:r>
            <a:br/>
            <a:r>
              <a:rPr>
                <a:solidFill>
                  <a:srgbClr val="003B4F"/>
                </a:solidFill>
                <a:latin typeface="Courier"/>
              </a:rPr>
              <a:t>plt.tight_layout()</a:t>
            </a:r>
            <a:br/>
            <a:r>
              <a:rPr>
                <a:solidFill>
                  <a:srgbClr val="003B4F"/>
                </a:solidFill>
                <a:latin typeface="Courier"/>
              </a:rPr>
              <a:t>plt.show()</a:t>
            </a:r>
          </a:p>
          <a:p>
            <a:pPr lvl="0" indent="0">
              <a:buNone/>
            </a:pPr>
            <a:r>
              <a:rPr>
                <a:latin typeface="Courier"/>
              </a:rPr>
              <a:t>&lt;Figure size 1152x960 with 0 Axes&gt;</a:t>
            </a:r>
          </a:p>
        </p:txBody>
      </p:sp>
      <p:pic>
        <p:nvPicPr>
          <p:cNvPr descr="final_report_files/figure-pptx/cell-4-output-2.png" id="0" name="Picture 1"/>
          <p:cNvPicPr>
            <a:picLocks noGrp="1" noChangeAspect="1"/>
          </p:cNvPicPr>
          <p:nvPr/>
        </p:nvPicPr>
        <p:blipFill>
          <a:blip r:embed="rId2"/>
          <a:stretch>
            <a:fillRect/>
          </a:stretch>
        </p:blipFill>
        <p:spPr bwMode="auto">
          <a:xfrm>
            <a:off x="3568700" y="736600"/>
            <a:ext cx="5105400" cy="33274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identify numerical and categorical columns</a:t>
            </a:r>
          </a:p>
        </p:txBody>
      </p:sp>
      <p:sp>
        <p:nvSpPr>
          <p:cNvPr id="3" name="Content Placeholder 2"/>
          <p:cNvSpPr>
            <a:spLocks noGrp="1"/>
          </p:cNvSpPr>
          <p:nvPr>
            <p:ph idx="1"/>
          </p:nvPr>
        </p:nvSpPr>
        <p:spPr/>
        <p:txBody>
          <a:bodyPr/>
          <a:lstStyle/>
          <a:p>
            <a:pPr lvl="0" indent="0">
              <a:buNone/>
            </a:pPr>
            <a:r>
              <a:rPr>
                <a:solidFill>
                  <a:srgbClr val="003B4F"/>
                </a:solidFill>
                <a:latin typeface="Courier"/>
              </a:rPr>
              <a:t>lightcast_data.head()</a:t>
            </a:r>
            <a:br/>
            <a:r>
              <a:rPr>
                <a:solidFill>
                  <a:srgbClr val="5E5E5E"/>
                </a:solidFill>
                <a:latin typeface="Courier"/>
              </a:rPr>
              <a:t># Identify numerical columns</a:t>
            </a:r>
            <a:br/>
            <a:r>
              <a:rPr>
                <a:solidFill>
                  <a:srgbClr val="003B4F"/>
                </a:solidFill>
                <a:latin typeface="Courier"/>
              </a:rPr>
              <a:t>numerical_columns </a:t>
            </a:r>
            <a:r>
              <a:rPr>
                <a:solidFill>
                  <a:srgbClr val="5E5E5E"/>
                </a:solidFill>
                <a:latin typeface="Courier"/>
              </a:rPr>
              <a:t>=</a:t>
            </a:r>
            <a:r>
              <a:rPr>
                <a:solidFill>
                  <a:srgbClr val="003B4F"/>
                </a:solidFill>
                <a:latin typeface="Courier"/>
              </a:rPr>
              <a:t> lightcast_data.select_dtypes(include</a:t>
            </a:r>
            <a:r>
              <a:rPr>
                <a:solidFill>
                  <a:srgbClr val="5E5E5E"/>
                </a:solidFill>
                <a:latin typeface="Courier"/>
              </a:rPr>
              <a:t>=</a:t>
            </a:r>
            <a:r>
              <a:rPr>
                <a:solidFill>
                  <a:srgbClr val="003B4F"/>
                </a:solidFill>
                <a:latin typeface="Courier"/>
              </a:rPr>
              <a:t>[</a:t>
            </a:r>
            <a:r>
              <a:rPr>
                <a:solidFill>
                  <a:srgbClr val="20794D"/>
                </a:solidFill>
                <a:latin typeface="Courier"/>
              </a:rPr>
              <a:t>'number'</a:t>
            </a:r>
            <a:r>
              <a:rPr>
                <a:solidFill>
                  <a:srgbClr val="003B4F"/>
                </a:solidFill>
                <a:latin typeface="Courier"/>
              </a:rPr>
              <a:t>]).columns</a:t>
            </a:r>
            <a:br/>
            <a:br/>
            <a:r>
              <a:rPr>
                <a:solidFill>
                  <a:srgbClr val="5E5E5E"/>
                </a:solidFill>
                <a:latin typeface="Courier"/>
              </a:rPr>
              <a:t># Identify categorical columns</a:t>
            </a:r>
            <a:br/>
            <a:r>
              <a:rPr>
                <a:solidFill>
                  <a:srgbClr val="003B4F"/>
                </a:solidFill>
                <a:latin typeface="Courier"/>
              </a:rPr>
              <a:t>categorical_columns </a:t>
            </a:r>
            <a:r>
              <a:rPr>
                <a:solidFill>
                  <a:srgbClr val="5E5E5E"/>
                </a:solidFill>
                <a:latin typeface="Courier"/>
              </a:rPr>
              <a:t>=</a:t>
            </a:r>
            <a:r>
              <a:rPr>
                <a:solidFill>
                  <a:srgbClr val="003B4F"/>
                </a:solidFill>
                <a:latin typeface="Courier"/>
              </a:rPr>
              <a:t> lightcast_data.select_dtypes(include</a:t>
            </a:r>
            <a:r>
              <a:rPr>
                <a:solidFill>
                  <a:srgbClr val="5E5E5E"/>
                </a:solidFill>
                <a:latin typeface="Courier"/>
              </a:rPr>
              <a:t>=</a:t>
            </a:r>
            <a:r>
              <a:rPr>
                <a:solidFill>
                  <a:srgbClr val="003B4F"/>
                </a:solidFill>
                <a:latin typeface="Courier"/>
              </a:rPr>
              <a:t>[</a:t>
            </a:r>
            <a:r>
              <a:rPr>
                <a:solidFill>
                  <a:srgbClr val="20794D"/>
                </a:solidFill>
                <a:latin typeface="Courier"/>
              </a:rPr>
              <a:t>'object'</a:t>
            </a:r>
            <a:r>
              <a:rPr>
                <a:solidFill>
                  <a:srgbClr val="003B4F"/>
                </a:solidFill>
                <a:latin typeface="Courier"/>
              </a:rPr>
              <a:t>, </a:t>
            </a:r>
            <a:r>
              <a:rPr>
                <a:solidFill>
                  <a:srgbClr val="20794D"/>
                </a:solidFill>
                <a:latin typeface="Courier"/>
              </a:rPr>
              <a:t>'category'</a:t>
            </a:r>
            <a:r>
              <a:rPr>
                <a:solidFill>
                  <a:srgbClr val="003B4F"/>
                </a:solidFill>
                <a:latin typeface="Courier"/>
              </a:rPr>
              <a:t>]).columns</a:t>
            </a:r>
          </a:p>
          <a:p>
            <a:pPr lvl="0" indent="0">
              <a:buNone/>
            </a:pPr>
            <a:r>
              <a:rPr>
                <a:solidFill>
                  <a:srgbClr val="5E5E5E"/>
                </a:solidFill>
                <a:latin typeface="Courier"/>
              </a:rPr>
              <a:t># Find columns with missing values</a:t>
            </a:r>
            <a:br/>
            <a:r>
              <a:rPr>
                <a:solidFill>
                  <a:srgbClr val="003B4F"/>
                </a:solidFill>
                <a:latin typeface="Courier"/>
              </a:rPr>
              <a:t>missing_values </a:t>
            </a:r>
            <a:r>
              <a:rPr>
                <a:solidFill>
                  <a:srgbClr val="5E5E5E"/>
                </a:solidFill>
                <a:latin typeface="Courier"/>
              </a:rPr>
              <a:t>=</a:t>
            </a:r>
            <a:r>
              <a:rPr>
                <a:solidFill>
                  <a:srgbClr val="003B4F"/>
                </a:solidFill>
                <a:latin typeface="Courier"/>
              </a:rPr>
              <a:t> lightcast_data.isnull().sum()</a:t>
            </a:r>
            <a:br/>
            <a:br/>
            <a:r>
              <a:rPr>
                <a:solidFill>
                  <a:srgbClr val="5E5E5E"/>
                </a:solidFill>
                <a:latin typeface="Courier"/>
              </a:rPr>
              <a:t># Filter only columns with missing data</a:t>
            </a:r>
            <a:br/>
            <a:r>
              <a:rPr>
                <a:solidFill>
                  <a:srgbClr val="003B4F"/>
                </a:solidFill>
                <a:latin typeface="Courier"/>
              </a:rPr>
              <a:t>missing_columns </a:t>
            </a:r>
            <a:r>
              <a:rPr>
                <a:solidFill>
                  <a:srgbClr val="5E5E5E"/>
                </a:solidFill>
                <a:latin typeface="Courier"/>
              </a:rPr>
              <a:t>=</a:t>
            </a:r>
            <a:r>
              <a:rPr>
                <a:solidFill>
                  <a:srgbClr val="003B4F"/>
                </a:solidFill>
                <a:latin typeface="Courier"/>
              </a:rPr>
              <a:t> missing_values[missing_values </a:t>
            </a:r>
            <a:r>
              <a:rPr>
                <a:solidFill>
                  <a:srgbClr val="5E5E5E"/>
                </a:solidFill>
                <a:latin typeface="Courier"/>
              </a:rPr>
              <a:t>&gt;</a:t>
            </a:r>
            <a:r>
              <a:rPr>
                <a:solidFill>
                  <a:srgbClr val="003B4F"/>
                </a:solidFill>
                <a:latin typeface="Courier"/>
              </a:rPr>
              <a:t> </a:t>
            </a:r>
            <a:r>
              <a:rPr>
                <a:solidFill>
                  <a:srgbClr val="AD0000"/>
                </a:solidFill>
                <a:latin typeface="Courier"/>
              </a:rPr>
              <a:t>0</a:t>
            </a:r>
            <a:r>
              <a:rPr>
                <a:solidFill>
                  <a:srgbClr val="003B4F"/>
                </a:solidFill>
                <a:latin typeface="Courier"/>
              </a:rPr>
              <a:t>]</a:t>
            </a:r>
            <a:br/>
            <a:br/>
            <a:r>
              <a:rPr>
                <a:solidFill>
                  <a:srgbClr val="5E5E5E"/>
                </a:solidFill>
                <a:latin typeface="Courier"/>
              </a:rPr>
              <a:t># Display columns with missing values and their count</a:t>
            </a:r>
            <a:br/>
            <a:r>
              <a:rPr>
                <a:solidFill>
                  <a:srgbClr val="003B4F"/>
                </a:solidFill>
                <a:latin typeface="Courier"/>
              </a:rPr>
              <a:t>print(missing_columns)</a:t>
            </a:r>
          </a:p>
          <a:p>
            <a:pPr lvl="0" indent="0">
              <a:buNone/>
            </a:pPr>
            <a:r>
              <a:rPr>
                <a:latin typeface="Courier"/>
              </a:rPr>
              <a:t>LAST_UPDATED_DATE       22
POSTED                  22
EXPIRED               7844
DURATION             27316
SOURCE_TYPES            22
                     ...  
NAICS_2022_4_NAME       44
NAICS_2022_5            44
NAICS_2022_5_NAME       44
NAICS_2022_6            44
NAICS_2022_6_NAME       44
Length: 118, dtype: int64</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Numerical fields (e.g., Salary) are filled with the median.</a:t>
            </a:r>
          </a:p>
        </p:txBody>
      </p:sp>
      <p:sp>
        <p:nvSpPr>
          <p:cNvPr id="3" name="Content Placeholder 2"/>
          <p:cNvSpPr>
            <a:spLocks noGrp="1"/>
          </p:cNvSpPr>
          <p:nvPr>
            <p:ph idx="1"/>
          </p:nvPr>
        </p:nvSpPr>
        <p:spPr/>
        <p:txBody>
          <a:bodyPr/>
          <a:lstStyle/>
          <a:p>
            <a:pPr lvl="0" indent="0">
              <a:buNone/>
            </a:pPr>
            <a:r>
              <a:rPr>
                <a:solidFill>
                  <a:srgbClr val="003B4F"/>
                </a:solidFill>
                <a:latin typeface="Courier"/>
              </a:rPr>
              <a:t>warnings.simplefilter(action</a:t>
            </a:r>
            <a:r>
              <a:rPr>
                <a:solidFill>
                  <a:srgbClr val="5E5E5E"/>
                </a:solidFill>
                <a:latin typeface="Courier"/>
              </a:rPr>
              <a:t>=</a:t>
            </a:r>
            <a:r>
              <a:rPr>
                <a:solidFill>
                  <a:srgbClr val="20794D"/>
                </a:solidFill>
                <a:latin typeface="Courier"/>
              </a:rPr>
              <a:t>'ignore'</a:t>
            </a:r>
            <a:r>
              <a:rPr>
                <a:solidFill>
                  <a:srgbClr val="003B4F"/>
                </a:solidFill>
                <a:latin typeface="Courier"/>
              </a:rPr>
              <a:t>, category</a:t>
            </a:r>
            <a:r>
              <a:rPr>
                <a:solidFill>
                  <a:srgbClr val="5E5E5E"/>
                </a:solidFill>
                <a:latin typeface="Courier"/>
              </a:rPr>
              <a:t>=</a:t>
            </a:r>
            <a:r>
              <a:rPr>
                <a:solidFill>
                  <a:srgbClr val="AD0000"/>
                </a:solidFill>
                <a:latin typeface="Courier"/>
              </a:rPr>
              <a:t>FutureWarning</a:t>
            </a:r>
            <a:r>
              <a:rPr>
                <a:solidFill>
                  <a:srgbClr val="003B4F"/>
                </a:solidFill>
                <a:latin typeface="Courier"/>
              </a:rPr>
              <a:t>) </a:t>
            </a:r>
            <a:br/>
            <a:r>
              <a:rPr>
                <a:solidFill>
                  <a:srgbClr val="5E5E5E"/>
                </a:solidFill>
                <a:latin typeface="Courier"/>
              </a:rPr>
              <a:t># Iterate over columns with missing values</a:t>
            </a:r>
            <a:br/>
            <a:r>
              <a:rPr b="1">
                <a:solidFill>
                  <a:srgbClr val="003B4F"/>
                </a:solidFill>
                <a:latin typeface="Courier"/>
              </a:rPr>
              <a:t>for</a:t>
            </a:r>
            <a:r>
              <a:rPr>
                <a:solidFill>
                  <a:srgbClr val="003B4F"/>
                </a:solidFill>
                <a:latin typeface="Courier"/>
              </a:rPr>
              <a:t> col </a:t>
            </a:r>
            <a:r>
              <a:rPr b="1">
                <a:solidFill>
                  <a:srgbClr val="003B4F"/>
                </a:solidFill>
                <a:latin typeface="Courier"/>
              </a:rPr>
              <a:t>in</a:t>
            </a:r>
            <a:r>
              <a:rPr>
                <a:solidFill>
                  <a:srgbClr val="003B4F"/>
                </a:solidFill>
                <a:latin typeface="Courier"/>
              </a:rPr>
              <a:t> missing_columns.index:</a:t>
            </a:r>
            <a:br/>
            <a:r>
              <a:rPr>
                <a:solidFill>
                  <a:srgbClr val="003B4F"/>
                </a:solidFill>
                <a:latin typeface="Courier"/>
              </a:rPr>
              <a:t>    </a:t>
            </a:r>
            <a:r>
              <a:rPr b="1">
                <a:solidFill>
                  <a:srgbClr val="003B4F"/>
                </a:solidFill>
                <a:latin typeface="Courier"/>
              </a:rPr>
              <a:t>if</a:t>
            </a:r>
            <a:r>
              <a:rPr>
                <a:solidFill>
                  <a:srgbClr val="003B4F"/>
                </a:solidFill>
                <a:latin typeface="Courier"/>
              </a:rPr>
              <a:t> col </a:t>
            </a:r>
            <a:r>
              <a:rPr b="1">
                <a:solidFill>
                  <a:srgbClr val="003B4F"/>
                </a:solidFill>
                <a:latin typeface="Courier"/>
              </a:rPr>
              <a:t>in</a:t>
            </a:r>
            <a:r>
              <a:rPr>
                <a:solidFill>
                  <a:srgbClr val="003B4F"/>
                </a:solidFill>
                <a:latin typeface="Courier"/>
              </a:rPr>
              <a:t> numerical_columns:</a:t>
            </a:r>
            <a:br/>
            <a:r>
              <a:rPr>
                <a:solidFill>
                  <a:srgbClr val="003B4F"/>
                </a:solidFill>
                <a:latin typeface="Courier"/>
              </a:rPr>
              <a:t>        </a:t>
            </a:r>
            <a:r>
              <a:rPr>
                <a:solidFill>
                  <a:srgbClr val="5E5E5E"/>
                </a:solidFill>
                <a:latin typeface="Courier"/>
              </a:rPr>
              <a:t># If numeric, replace missing values with the median</a:t>
            </a:r>
            <a:br/>
            <a:r>
              <a:rPr>
                <a:solidFill>
                  <a:srgbClr val="003B4F"/>
                </a:solidFill>
                <a:latin typeface="Courier"/>
              </a:rPr>
              <a:t>        lightcast_data[col].fillna(lightcast_data[col].median(), inplace</a:t>
            </a:r>
            <a:r>
              <a:rPr>
                <a:solidFill>
                  <a:srgbClr val="5E5E5E"/>
                </a:solidFill>
                <a:latin typeface="Courier"/>
              </a:rPr>
              <a:t>=</a:t>
            </a:r>
            <a:r>
              <a:rPr>
                <a:solidFill>
                  <a:srgbClr val="111111"/>
                </a:solidFill>
                <a:latin typeface="Courier"/>
              </a:rPr>
              <a:t>True</a:t>
            </a:r>
            <a:r>
              <a:rPr>
                <a:solidFill>
                  <a:srgbClr val="003B4F"/>
                </a:solidFill>
                <a:latin typeface="Courier"/>
              </a:rPr>
              <a:t>)</a:t>
            </a:r>
            <a:br/>
            <a:r>
              <a:rPr>
                <a:solidFill>
                  <a:srgbClr val="003B4F"/>
                </a:solidFill>
                <a:latin typeface="Courier"/>
              </a:rPr>
              <a:t>    </a:t>
            </a:r>
            <a:r>
              <a:rPr b="1">
                <a:solidFill>
                  <a:srgbClr val="003B4F"/>
                </a:solidFill>
                <a:latin typeface="Courier"/>
              </a:rPr>
              <a:t>elif</a:t>
            </a:r>
            <a:r>
              <a:rPr>
                <a:solidFill>
                  <a:srgbClr val="003B4F"/>
                </a:solidFill>
                <a:latin typeface="Courier"/>
              </a:rPr>
              <a:t> col </a:t>
            </a:r>
            <a:r>
              <a:rPr b="1">
                <a:solidFill>
                  <a:srgbClr val="003B4F"/>
                </a:solidFill>
                <a:latin typeface="Courier"/>
              </a:rPr>
              <a:t>in</a:t>
            </a:r>
            <a:r>
              <a:rPr>
                <a:solidFill>
                  <a:srgbClr val="003B4F"/>
                </a:solidFill>
                <a:latin typeface="Courier"/>
              </a:rPr>
              <a:t> categorical_columns:</a:t>
            </a:r>
            <a:br/>
            <a:r>
              <a:rPr>
                <a:solidFill>
                  <a:srgbClr val="003B4F"/>
                </a:solidFill>
                <a:latin typeface="Courier"/>
              </a:rPr>
              <a:t>        </a:t>
            </a:r>
            <a:r>
              <a:rPr>
                <a:solidFill>
                  <a:srgbClr val="5E5E5E"/>
                </a:solidFill>
                <a:latin typeface="Courier"/>
              </a:rPr>
              <a:t># If categorical, replace missing values with "Unknown"</a:t>
            </a:r>
            <a:br/>
            <a:r>
              <a:rPr>
                <a:solidFill>
                  <a:srgbClr val="003B4F"/>
                </a:solidFill>
                <a:latin typeface="Courier"/>
              </a:rPr>
              <a:t>        lightcast_data[col].fillna(</a:t>
            </a:r>
            <a:r>
              <a:rPr>
                <a:solidFill>
                  <a:srgbClr val="20794D"/>
                </a:solidFill>
                <a:latin typeface="Courier"/>
              </a:rPr>
              <a:t>"Unknown"</a:t>
            </a:r>
            <a:r>
              <a:rPr>
                <a:solidFill>
                  <a:srgbClr val="003B4F"/>
                </a:solidFill>
                <a:latin typeface="Courier"/>
              </a:rPr>
              <a:t>, inplace</a:t>
            </a:r>
            <a:r>
              <a:rPr>
                <a:solidFill>
                  <a:srgbClr val="5E5E5E"/>
                </a:solidFill>
                <a:latin typeface="Courier"/>
              </a:rPr>
              <a:t>=</a:t>
            </a:r>
            <a:r>
              <a:rPr>
                <a:solidFill>
                  <a:srgbClr val="111111"/>
                </a:solidFill>
                <a:latin typeface="Courier"/>
              </a:rPr>
              <a:t>True</a:t>
            </a:r>
            <a:r>
              <a:rPr>
                <a:solidFill>
                  <a:srgbClr val="003B4F"/>
                </a:solidFill>
                <a:latin typeface="Courier"/>
              </a:rPr>
              <a:t>)</a:t>
            </a:r>
            <a:br/>
            <a:br/>
            <a:r>
              <a:rPr>
                <a:solidFill>
                  <a:srgbClr val="5E5E5E"/>
                </a:solidFill>
                <a:latin typeface="Courier"/>
              </a:rPr>
              <a:t># Verify if missing values are handled</a:t>
            </a:r>
            <a:br/>
            <a:r>
              <a:rPr>
                <a:solidFill>
                  <a:srgbClr val="003B4F"/>
                </a:solidFill>
                <a:latin typeface="Courier"/>
              </a:rPr>
              <a:t>print(lightcast_data.isnull().sum())  </a:t>
            </a:r>
            <a:r>
              <a:rPr>
                <a:solidFill>
                  <a:srgbClr val="5E5E5E"/>
                </a:solidFill>
                <a:latin typeface="Courier"/>
              </a:rPr>
              <a:t># Should return 0 for all columns</a:t>
            </a:r>
          </a:p>
          <a:p>
            <a:pPr lvl="0" indent="0">
              <a:buNone/>
            </a:pPr>
            <a:r>
              <a:rPr>
                <a:latin typeface="Courier"/>
              </a:rPr>
              <a:t>LAST_UPDATED_DATE    0
POSTED               0
EXPIRED              0
DURATION             0
SOURCE_TYPES         0
                    ..
NAICS_2022_4_NAME    0
NAICS_2022_5         0
NAICS_2022_5_NAME    0
NAICS_2022_6         0
NAICS_2022_6_NAME    0
Length: 118, dtype: int64</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Drop columns with &gt;50% missing values</a:t>
            </a:r>
          </a:p>
        </p:txBody>
      </p:sp>
      <p:sp>
        <p:nvSpPr>
          <p:cNvPr id="3" name="Content Placeholder 2"/>
          <p:cNvSpPr>
            <a:spLocks noGrp="1"/>
          </p:cNvSpPr>
          <p:nvPr>
            <p:ph idx="1"/>
          </p:nvPr>
        </p:nvSpPr>
        <p:spPr/>
        <p:txBody>
          <a:bodyPr/>
          <a:lstStyle/>
          <a:p>
            <a:pPr lvl="0" indent="0">
              <a:buNone/>
            </a:pPr>
            <a:r>
              <a:rPr>
                <a:solidFill>
                  <a:srgbClr val="003B4F"/>
                </a:solidFill>
                <a:latin typeface="Courier"/>
              </a:rPr>
              <a:t>lightcast_data.dropna(thresh</a:t>
            </a:r>
            <a:r>
              <a:rPr>
                <a:solidFill>
                  <a:srgbClr val="5E5E5E"/>
                </a:solidFill>
                <a:latin typeface="Courier"/>
              </a:rPr>
              <a:t>=</a:t>
            </a:r>
            <a:r>
              <a:rPr>
                <a:solidFill>
                  <a:srgbClr val="003B4F"/>
                </a:solidFill>
                <a:latin typeface="Courier"/>
              </a:rPr>
              <a:t>len(lightcast_data) </a:t>
            </a:r>
            <a:r>
              <a:rPr>
                <a:solidFill>
                  <a:srgbClr val="5E5E5E"/>
                </a:solidFill>
                <a:latin typeface="Courier"/>
              </a:rPr>
              <a:t>*</a:t>
            </a:r>
            <a:r>
              <a:rPr>
                <a:solidFill>
                  <a:srgbClr val="003B4F"/>
                </a:solidFill>
                <a:latin typeface="Courier"/>
              </a:rPr>
              <a:t> </a:t>
            </a:r>
            <a:r>
              <a:rPr>
                <a:solidFill>
                  <a:srgbClr val="AD0000"/>
                </a:solidFill>
                <a:latin typeface="Courier"/>
              </a:rPr>
              <a:t>0.5</a:t>
            </a:r>
            <a:r>
              <a:rPr>
                <a:solidFill>
                  <a:srgbClr val="003B4F"/>
                </a:solidFill>
                <a:latin typeface="Courier"/>
              </a:rPr>
              <a:t>, axis</a:t>
            </a:r>
            <a:r>
              <a:rPr>
                <a:solidFill>
                  <a:srgbClr val="5E5E5E"/>
                </a:solidFill>
                <a:latin typeface="Courier"/>
              </a:rPr>
              <a:t>=</a:t>
            </a:r>
            <a:r>
              <a:rPr>
                <a:solidFill>
                  <a:srgbClr val="AD0000"/>
                </a:solidFill>
                <a:latin typeface="Courier"/>
              </a:rPr>
              <a:t>1</a:t>
            </a:r>
            <a:r>
              <a:rPr>
                <a:solidFill>
                  <a:srgbClr val="003B4F"/>
                </a:solidFill>
                <a:latin typeface="Courier"/>
              </a:rPr>
              <a:t>, inplace</a:t>
            </a:r>
            <a:r>
              <a:rPr>
                <a:solidFill>
                  <a:srgbClr val="5E5E5E"/>
                </a:solidFill>
                <a:latin typeface="Courier"/>
              </a:rPr>
              <a:t>=</a:t>
            </a:r>
            <a:r>
              <a:rPr>
                <a:solidFill>
                  <a:srgbClr val="111111"/>
                </a:solidFill>
                <a:latin typeface="Courier"/>
              </a:rPr>
              <a:t>True</a:t>
            </a:r>
            <a:r>
              <a:rPr>
                <a:solidFill>
                  <a:srgbClr val="003B4F"/>
                </a:solidFill>
                <a:latin typeface="Courier"/>
              </a:rPr>
              <a:t>)</a:t>
            </a:r>
          </a:p>
          <a:p>
            <a:pPr lvl="0" indent="0" marL="0">
              <a:spcBef>
                <a:spcPts val="3000"/>
              </a:spcBef>
              <a:buNone/>
            </a:pPr>
            <a:r>
              <a:rPr b="1"/>
              <a:t>Remove Duplicates</a:t>
            </a:r>
          </a:p>
          <a:p>
            <a:pPr lvl="0" indent="0">
              <a:buNone/>
            </a:pPr>
            <a:r>
              <a:rPr>
                <a:solidFill>
                  <a:srgbClr val="003B4F"/>
                </a:solidFill>
                <a:latin typeface="Courier"/>
              </a:rPr>
              <a:t>lightcast_data </a:t>
            </a:r>
            <a:r>
              <a:rPr>
                <a:solidFill>
                  <a:srgbClr val="5E5E5E"/>
                </a:solidFill>
                <a:latin typeface="Courier"/>
              </a:rPr>
              <a:t>=</a:t>
            </a:r>
            <a:r>
              <a:rPr>
                <a:solidFill>
                  <a:srgbClr val="003B4F"/>
                </a:solidFill>
                <a:latin typeface="Courier"/>
              </a:rPr>
              <a:t> lightcast_data.drop_duplicates(subset</a:t>
            </a:r>
            <a:r>
              <a:rPr>
                <a:solidFill>
                  <a:srgbClr val="5E5E5E"/>
                </a:solidFill>
                <a:latin typeface="Courier"/>
              </a:rPr>
              <a:t>=</a:t>
            </a:r>
            <a:r>
              <a:rPr>
                <a:solidFill>
                  <a:srgbClr val="003B4F"/>
                </a:solidFill>
                <a:latin typeface="Courier"/>
              </a:rPr>
              <a:t>[</a:t>
            </a:r>
            <a:r>
              <a:rPr>
                <a:solidFill>
                  <a:srgbClr val="20794D"/>
                </a:solidFill>
                <a:latin typeface="Courier"/>
              </a:rPr>
              <a:t>"TITLE"</a:t>
            </a:r>
            <a:r>
              <a:rPr>
                <a:solidFill>
                  <a:srgbClr val="003B4F"/>
                </a:solidFill>
                <a:latin typeface="Courier"/>
              </a:rPr>
              <a:t>, </a:t>
            </a:r>
            <a:r>
              <a:rPr>
                <a:solidFill>
                  <a:srgbClr val="20794D"/>
                </a:solidFill>
                <a:latin typeface="Courier"/>
              </a:rPr>
              <a:t>"COMPANY"</a:t>
            </a:r>
            <a:r>
              <a:rPr>
                <a:solidFill>
                  <a:srgbClr val="003B4F"/>
                </a:solidFill>
                <a:latin typeface="Courier"/>
              </a:rPr>
              <a:t>, </a:t>
            </a:r>
            <a:r>
              <a:rPr>
                <a:solidFill>
                  <a:srgbClr val="20794D"/>
                </a:solidFill>
                <a:latin typeface="Courier"/>
              </a:rPr>
              <a:t>"LOCATION"</a:t>
            </a:r>
            <a:r>
              <a:rPr>
                <a:solidFill>
                  <a:srgbClr val="003B4F"/>
                </a:solidFill>
                <a:latin typeface="Courier"/>
              </a:rPr>
              <a:t>, </a:t>
            </a:r>
            <a:r>
              <a:rPr>
                <a:solidFill>
                  <a:srgbClr val="20794D"/>
                </a:solidFill>
                <a:latin typeface="Courier"/>
              </a:rPr>
              <a:t>"POSTED"</a:t>
            </a:r>
            <a:r>
              <a:rPr>
                <a:solidFill>
                  <a:srgbClr val="003B4F"/>
                </a:solidFill>
                <a:latin typeface="Courier"/>
              </a:rPr>
              <a:t>], keep</a:t>
            </a:r>
            <a:r>
              <a:rPr>
                <a:solidFill>
                  <a:srgbClr val="5E5E5E"/>
                </a:solidFill>
                <a:latin typeface="Courier"/>
              </a:rPr>
              <a:t>=</a:t>
            </a:r>
            <a:r>
              <a:rPr>
                <a:solidFill>
                  <a:srgbClr val="20794D"/>
                </a:solidFill>
                <a:latin typeface="Courier"/>
              </a:rPr>
              <a:t>"first"</a:t>
            </a:r>
            <a:r>
              <a:rPr>
                <a:solidFill>
                  <a:srgbClr val="003B4F"/>
                </a:solidFill>
                <a:latin typeface="Courier"/>
              </a:rPr>
              <a:t>)</a:t>
            </a:r>
          </a:p>
          <a:p>
            <a:pPr lvl="0" indent="0">
              <a:buNone/>
            </a:pPr>
            <a:r>
              <a:rPr>
                <a:solidFill>
                  <a:srgbClr val="003B4F"/>
                </a:solidFill>
                <a:latin typeface="Courier"/>
              </a:rPr>
              <a:t>df </a:t>
            </a:r>
            <a:r>
              <a:rPr>
                <a:solidFill>
                  <a:srgbClr val="5E5E5E"/>
                </a:solidFill>
                <a:latin typeface="Courier"/>
              </a:rPr>
              <a:t>=</a:t>
            </a:r>
            <a:r>
              <a:rPr>
                <a:solidFill>
                  <a:srgbClr val="003B4F"/>
                </a:solidFill>
                <a:latin typeface="Courier"/>
              </a:rPr>
              <a:t> pd.DataFrame(lightcast_data)</a:t>
            </a:r>
            <a:br/>
            <a:br/>
            <a:r>
              <a:rPr>
                <a:solidFill>
                  <a:srgbClr val="003B4F"/>
                </a:solidFill>
                <a:latin typeface="Courier"/>
              </a:rPr>
              <a:t>skills_keywords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20794D"/>
                </a:solidFill>
                <a:latin typeface="Courier"/>
              </a:rPr>
              <a:t>"Python"</a:t>
            </a:r>
            <a:r>
              <a:rPr>
                <a:solidFill>
                  <a:srgbClr val="003B4F"/>
                </a:solidFill>
                <a:latin typeface="Courier"/>
              </a:rPr>
              <a:t>, </a:t>
            </a:r>
            <a:r>
              <a:rPr>
                <a:solidFill>
                  <a:srgbClr val="20794D"/>
                </a:solidFill>
                <a:latin typeface="Courier"/>
              </a:rPr>
              <a:t>"SQL"</a:t>
            </a:r>
            <a:r>
              <a:rPr>
                <a:solidFill>
                  <a:srgbClr val="003B4F"/>
                </a:solidFill>
                <a:latin typeface="Courier"/>
              </a:rPr>
              <a:t>, </a:t>
            </a:r>
            <a:r>
              <a:rPr>
                <a:solidFill>
                  <a:srgbClr val="20794D"/>
                </a:solidFill>
                <a:latin typeface="Courier"/>
              </a:rPr>
              <a:t>"Machine Learning"</a:t>
            </a:r>
            <a:r>
              <a:rPr>
                <a:solidFill>
                  <a:srgbClr val="003B4F"/>
                </a:solidFill>
                <a:latin typeface="Courier"/>
              </a:rPr>
              <a:t>, </a:t>
            </a:r>
            <a:r>
              <a:rPr>
                <a:solidFill>
                  <a:srgbClr val="20794D"/>
                </a:solidFill>
                <a:latin typeface="Courier"/>
              </a:rPr>
              <a:t>"Deep Learning"</a:t>
            </a:r>
            <a:r>
              <a:rPr>
                <a:solidFill>
                  <a:srgbClr val="003B4F"/>
                </a:solidFill>
                <a:latin typeface="Courier"/>
              </a:rPr>
              <a:t>, </a:t>
            </a:r>
            <a:r>
              <a:rPr>
                <a:solidFill>
                  <a:srgbClr val="20794D"/>
                </a:solidFill>
                <a:latin typeface="Courier"/>
              </a:rPr>
              <a:t>"AI"</a:t>
            </a:r>
            <a:r>
              <a:rPr>
                <a:solidFill>
                  <a:srgbClr val="003B4F"/>
                </a:solidFill>
                <a:latin typeface="Courier"/>
              </a:rPr>
              <a:t>, </a:t>
            </a:r>
            <a:r>
              <a:rPr>
                <a:solidFill>
                  <a:srgbClr val="20794D"/>
                </a:solidFill>
                <a:latin typeface="Courier"/>
              </a:rPr>
              <a:t>"TensorFlow"</a:t>
            </a:r>
            <a:r>
              <a:rPr>
                <a:solidFill>
                  <a:srgbClr val="003B4F"/>
                </a:solidFill>
                <a:latin typeface="Courier"/>
              </a:rPr>
              <a:t>, </a:t>
            </a:r>
            <a:r>
              <a:rPr>
                <a:solidFill>
                  <a:srgbClr val="20794D"/>
                </a:solidFill>
                <a:latin typeface="Courier"/>
              </a:rPr>
              <a:t>"PyTorch"</a:t>
            </a:r>
            <a:r>
              <a:rPr>
                <a:solidFill>
                  <a:srgbClr val="003B4F"/>
                </a:solidFill>
                <a:latin typeface="Courier"/>
              </a:rPr>
              <a:t>, </a:t>
            </a:r>
            <a:br/>
            <a:r>
              <a:rPr>
                <a:solidFill>
                  <a:srgbClr val="003B4F"/>
                </a:solidFill>
                <a:latin typeface="Courier"/>
              </a:rPr>
              <a:t>    </a:t>
            </a:r>
            <a:r>
              <a:rPr>
                <a:solidFill>
                  <a:srgbClr val="20794D"/>
                </a:solidFill>
                <a:latin typeface="Courier"/>
              </a:rPr>
              <a:t>"Excel"</a:t>
            </a:r>
            <a:r>
              <a:rPr>
                <a:solidFill>
                  <a:srgbClr val="003B4F"/>
                </a:solidFill>
                <a:latin typeface="Courier"/>
              </a:rPr>
              <a:t>, </a:t>
            </a:r>
            <a:r>
              <a:rPr>
                <a:solidFill>
                  <a:srgbClr val="20794D"/>
                </a:solidFill>
                <a:latin typeface="Courier"/>
              </a:rPr>
              <a:t>"Tableau"</a:t>
            </a:r>
            <a:r>
              <a:rPr>
                <a:solidFill>
                  <a:srgbClr val="003B4F"/>
                </a:solidFill>
                <a:latin typeface="Courier"/>
              </a:rPr>
              <a:t>, </a:t>
            </a:r>
            <a:r>
              <a:rPr>
                <a:solidFill>
                  <a:srgbClr val="20794D"/>
                </a:solidFill>
                <a:latin typeface="Courier"/>
              </a:rPr>
              <a:t>"Power BI"</a:t>
            </a:r>
            <a:r>
              <a:rPr>
                <a:solidFill>
                  <a:srgbClr val="003B4F"/>
                </a:solidFill>
                <a:latin typeface="Courier"/>
              </a:rPr>
              <a:t>, </a:t>
            </a:r>
            <a:r>
              <a:rPr>
                <a:solidFill>
                  <a:srgbClr val="20794D"/>
                </a:solidFill>
                <a:latin typeface="Courier"/>
              </a:rPr>
              <a:t>"NLP"</a:t>
            </a:r>
            <a:r>
              <a:rPr>
                <a:solidFill>
                  <a:srgbClr val="003B4F"/>
                </a:solidFill>
                <a:latin typeface="Courier"/>
              </a:rPr>
              <a:t>, </a:t>
            </a:r>
            <a:r>
              <a:rPr>
                <a:solidFill>
                  <a:srgbClr val="20794D"/>
                </a:solidFill>
                <a:latin typeface="Courier"/>
              </a:rPr>
              <a:t>"Big Data"</a:t>
            </a:r>
            <a:r>
              <a:rPr>
                <a:solidFill>
                  <a:srgbClr val="003B4F"/>
                </a:solidFill>
                <a:latin typeface="Courier"/>
              </a:rPr>
              <a:t>, </a:t>
            </a:r>
            <a:r>
              <a:rPr>
                <a:solidFill>
                  <a:srgbClr val="20794D"/>
                </a:solidFill>
                <a:latin typeface="Courier"/>
              </a:rPr>
              <a:t>"Hadoop"</a:t>
            </a:r>
            <a:r>
              <a:rPr>
                <a:solidFill>
                  <a:srgbClr val="003B4F"/>
                </a:solidFill>
                <a:latin typeface="Courier"/>
              </a:rPr>
              <a:t>, </a:t>
            </a:r>
            <a:r>
              <a:rPr>
                <a:solidFill>
                  <a:srgbClr val="20794D"/>
                </a:solidFill>
                <a:latin typeface="Courier"/>
              </a:rPr>
              <a:t>"R"</a:t>
            </a:r>
            <a:r>
              <a:rPr>
                <a:solidFill>
                  <a:srgbClr val="003B4F"/>
                </a:solidFill>
                <a:latin typeface="Courier"/>
              </a:rPr>
              <a:t>, </a:t>
            </a:r>
            <a:r>
              <a:rPr>
                <a:solidFill>
                  <a:srgbClr val="20794D"/>
                </a:solidFill>
                <a:latin typeface="Courier"/>
              </a:rPr>
              <a:t>"Java"</a:t>
            </a:r>
            <a:r>
              <a:rPr>
                <a:solidFill>
                  <a:srgbClr val="003B4F"/>
                </a:solidFill>
                <a:latin typeface="Courier"/>
              </a:rPr>
              <a:t>, </a:t>
            </a:r>
            <a:r>
              <a:rPr>
                <a:solidFill>
                  <a:srgbClr val="20794D"/>
                </a:solidFill>
                <a:latin typeface="Courier"/>
              </a:rPr>
              <a:t>"C++"</a:t>
            </a:r>
            <a:br/>
            <a:r>
              <a:rPr>
                <a:solidFill>
                  <a:srgbClr val="003B4F"/>
                </a:solidFill>
                <a:latin typeface="Courier"/>
              </a:rPr>
              <a:t>]</a:t>
            </a:r>
            <a:br/>
            <a:br/>
            <a:r>
              <a:rPr>
                <a:solidFill>
                  <a:srgbClr val="003B4F"/>
                </a:solidFill>
                <a:latin typeface="Courier"/>
              </a:rPr>
              <a:t>skill_counts </a:t>
            </a:r>
            <a:r>
              <a:rPr>
                <a:solidFill>
                  <a:srgbClr val="5E5E5E"/>
                </a:solidFill>
                <a:latin typeface="Courier"/>
              </a:rPr>
              <a:t>=</a:t>
            </a:r>
            <a:r>
              <a:rPr>
                <a:solidFill>
                  <a:srgbClr val="003B4F"/>
                </a:solidFill>
                <a:latin typeface="Courier"/>
              </a:rPr>
              <a:t> Counter()</a:t>
            </a:r>
            <a:br/>
            <a:r>
              <a:rPr b="1">
                <a:solidFill>
                  <a:srgbClr val="003B4F"/>
                </a:solidFill>
                <a:latin typeface="Courier"/>
              </a:rPr>
              <a:t>for</a:t>
            </a:r>
            <a:r>
              <a:rPr>
                <a:solidFill>
                  <a:srgbClr val="003B4F"/>
                </a:solidFill>
                <a:latin typeface="Courier"/>
              </a:rPr>
              <a:t> desc </a:t>
            </a:r>
            <a:r>
              <a:rPr b="1">
                <a:solidFill>
                  <a:srgbClr val="003B4F"/>
                </a:solidFill>
                <a:latin typeface="Courier"/>
              </a:rPr>
              <a:t>in</a:t>
            </a:r>
            <a:r>
              <a:rPr>
                <a:solidFill>
                  <a:srgbClr val="003B4F"/>
                </a:solidFill>
                <a:latin typeface="Courier"/>
              </a:rPr>
              <a:t> df[</a:t>
            </a:r>
            <a:r>
              <a:rPr>
                <a:solidFill>
                  <a:srgbClr val="20794D"/>
                </a:solidFill>
                <a:latin typeface="Courier"/>
              </a:rPr>
              <a:t>"BODY"</a:t>
            </a:r>
            <a:r>
              <a:rPr>
                <a:solidFill>
                  <a:srgbClr val="003B4F"/>
                </a:solidFill>
                <a:latin typeface="Courier"/>
              </a:rPr>
              <a:t>].dropna():  </a:t>
            </a:r>
            <a:br/>
            <a:r>
              <a:rPr>
                <a:solidFill>
                  <a:srgbClr val="003B4F"/>
                </a:solidFill>
                <a:latin typeface="Courier"/>
              </a:rPr>
              <a:t>    words </a:t>
            </a:r>
            <a:r>
              <a:rPr>
                <a:solidFill>
                  <a:srgbClr val="5E5E5E"/>
                </a:solidFill>
                <a:latin typeface="Courier"/>
              </a:rPr>
              <a:t>=</a:t>
            </a:r>
            <a:r>
              <a:rPr>
                <a:solidFill>
                  <a:srgbClr val="003B4F"/>
                </a:solidFill>
                <a:latin typeface="Courier"/>
              </a:rPr>
              <a:t> re.findall(</a:t>
            </a:r>
            <a:r>
              <a:rPr>
                <a:solidFill>
                  <a:srgbClr val="20794D"/>
                </a:solidFill>
                <a:latin typeface="Courier"/>
              </a:rPr>
              <a:t>r'\b\w+\b'</a:t>
            </a:r>
            <a:r>
              <a:rPr>
                <a:solidFill>
                  <a:srgbClr val="003B4F"/>
                </a:solidFill>
                <a:latin typeface="Courier"/>
              </a:rPr>
              <a:t>, desc)</a:t>
            </a:r>
            <a:br/>
            <a:r>
              <a:rPr>
                <a:solidFill>
                  <a:srgbClr val="003B4F"/>
                </a:solidFill>
                <a:latin typeface="Courier"/>
              </a:rPr>
              <a:t>    matched_skills </a:t>
            </a:r>
            <a:r>
              <a:rPr>
                <a:solidFill>
                  <a:srgbClr val="5E5E5E"/>
                </a:solidFill>
                <a:latin typeface="Courier"/>
              </a:rPr>
              <a:t>=</a:t>
            </a:r>
            <a:r>
              <a:rPr>
                <a:solidFill>
                  <a:srgbClr val="003B4F"/>
                </a:solidFill>
                <a:latin typeface="Courier"/>
              </a:rPr>
              <a:t> [word </a:t>
            </a:r>
            <a:r>
              <a:rPr b="1">
                <a:solidFill>
                  <a:srgbClr val="003B4F"/>
                </a:solidFill>
                <a:latin typeface="Courier"/>
              </a:rPr>
              <a:t>for</a:t>
            </a:r>
            <a:r>
              <a:rPr>
                <a:solidFill>
                  <a:srgbClr val="003B4F"/>
                </a:solidFill>
                <a:latin typeface="Courier"/>
              </a:rPr>
              <a:t> word </a:t>
            </a:r>
            <a:r>
              <a:rPr b="1">
                <a:solidFill>
                  <a:srgbClr val="003B4F"/>
                </a:solidFill>
                <a:latin typeface="Courier"/>
              </a:rPr>
              <a:t>in</a:t>
            </a:r>
            <a:r>
              <a:rPr>
                <a:solidFill>
                  <a:srgbClr val="003B4F"/>
                </a:solidFill>
                <a:latin typeface="Courier"/>
              </a:rPr>
              <a:t> words </a:t>
            </a:r>
            <a:r>
              <a:rPr b="1">
                <a:solidFill>
                  <a:srgbClr val="003B4F"/>
                </a:solidFill>
                <a:latin typeface="Courier"/>
              </a:rPr>
              <a:t>if</a:t>
            </a:r>
            <a:r>
              <a:rPr>
                <a:solidFill>
                  <a:srgbClr val="003B4F"/>
                </a:solidFill>
                <a:latin typeface="Courier"/>
              </a:rPr>
              <a:t> word </a:t>
            </a:r>
            <a:r>
              <a:rPr b="1">
                <a:solidFill>
                  <a:srgbClr val="003B4F"/>
                </a:solidFill>
                <a:latin typeface="Courier"/>
              </a:rPr>
              <a:t>in</a:t>
            </a:r>
            <a:r>
              <a:rPr>
                <a:solidFill>
                  <a:srgbClr val="003B4F"/>
                </a:solidFill>
                <a:latin typeface="Courier"/>
              </a:rPr>
              <a:t> skills_keywords]</a:t>
            </a:r>
            <a:br/>
            <a:r>
              <a:rPr>
                <a:solidFill>
                  <a:srgbClr val="003B4F"/>
                </a:solidFill>
                <a:latin typeface="Courier"/>
              </a:rPr>
              <a:t>    skill_counts.update(matched_skills)</a:t>
            </a:r>
            <a:br/>
            <a:br/>
            <a:r>
              <a:rPr>
                <a:solidFill>
                  <a:srgbClr val="003B4F"/>
                </a:solidFill>
                <a:latin typeface="Courier"/>
              </a:rPr>
              <a:t>skills_df </a:t>
            </a:r>
            <a:r>
              <a:rPr>
                <a:solidFill>
                  <a:srgbClr val="5E5E5E"/>
                </a:solidFill>
                <a:latin typeface="Courier"/>
              </a:rPr>
              <a:t>=</a:t>
            </a:r>
            <a:r>
              <a:rPr>
                <a:solidFill>
                  <a:srgbClr val="003B4F"/>
                </a:solidFill>
                <a:latin typeface="Courier"/>
              </a:rPr>
              <a:t> pd.DataFrame(skill_counts.items(), columns</a:t>
            </a:r>
            <a:r>
              <a:rPr>
                <a:solidFill>
                  <a:srgbClr val="5E5E5E"/>
                </a:solidFill>
                <a:latin typeface="Courier"/>
              </a:rPr>
              <a:t>=</a:t>
            </a:r>
            <a:r>
              <a:rPr>
                <a:solidFill>
                  <a:srgbClr val="003B4F"/>
                </a:solidFill>
                <a:latin typeface="Courier"/>
              </a:rPr>
              <a:t>[</a:t>
            </a:r>
            <a:r>
              <a:rPr>
                <a:solidFill>
                  <a:srgbClr val="20794D"/>
                </a:solidFill>
                <a:latin typeface="Courier"/>
              </a:rPr>
              <a:t>"Skill"</a:t>
            </a:r>
            <a:r>
              <a:rPr>
                <a:solidFill>
                  <a:srgbClr val="003B4F"/>
                </a:solidFill>
                <a:latin typeface="Courier"/>
              </a:rPr>
              <a:t>, </a:t>
            </a:r>
            <a:r>
              <a:rPr>
                <a:solidFill>
                  <a:srgbClr val="20794D"/>
                </a:solidFill>
                <a:latin typeface="Courier"/>
              </a:rPr>
              <a:t>"Count"</a:t>
            </a:r>
            <a:r>
              <a:rPr>
                <a:solidFill>
                  <a:srgbClr val="003B4F"/>
                </a:solidFill>
                <a:latin typeface="Courier"/>
              </a:rPr>
              <a:t>]).sort_values(by</a:t>
            </a:r>
            <a:r>
              <a:rPr>
                <a:solidFill>
                  <a:srgbClr val="5E5E5E"/>
                </a:solidFill>
                <a:latin typeface="Courier"/>
              </a:rPr>
              <a:t>=</a:t>
            </a:r>
            <a:r>
              <a:rPr>
                <a:solidFill>
                  <a:srgbClr val="20794D"/>
                </a:solidFill>
                <a:latin typeface="Courier"/>
              </a:rPr>
              <a:t>"Count"</a:t>
            </a:r>
            <a:r>
              <a:rPr>
                <a:solidFill>
                  <a:srgbClr val="003B4F"/>
                </a:solidFill>
                <a:latin typeface="Courier"/>
              </a:rPr>
              <a:t>, ascending</a:t>
            </a:r>
            <a:r>
              <a:rPr>
                <a:solidFill>
                  <a:srgbClr val="5E5E5E"/>
                </a:solidFill>
                <a:latin typeface="Courier"/>
              </a:rPr>
              <a:t>=</a:t>
            </a:r>
            <a:r>
              <a:rPr>
                <a:solidFill>
                  <a:srgbClr val="111111"/>
                </a:solidFill>
                <a:latin typeface="Courier"/>
              </a:rPr>
              <a:t>False</a:t>
            </a:r>
            <a:r>
              <a:rPr>
                <a:solidFill>
                  <a:srgbClr val="003B4F"/>
                </a:solidFill>
                <a:latin typeface="Courier"/>
              </a:rPr>
              <a:t>)</a:t>
            </a:r>
            <a:br/>
            <a:br/>
            <a:r>
              <a:rPr>
                <a:solidFill>
                  <a:srgbClr val="003B4F"/>
                </a:solidFill>
                <a:latin typeface="Courier"/>
              </a:rPr>
              <a:t>skills_df.to_csv(</a:t>
            </a:r>
            <a:r>
              <a:rPr>
                <a:solidFill>
                  <a:srgbClr val="20794D"/>
                </a:solidFill>
                <a:latin typeface="Courier"/>
              </a:rPr>
              <a:t>"skill_counts_from_job_postings.csv"</a:t>
            </a:r>
            <a:r>
              <a:rPr>
                <a:solidFill>
                  <a:srgbClr val="003B4F"/>
                </a:solidFill>
                <a:latin typeface="Courier"/>
              </a:rPr>
              <a:t>, index</a:t>
            </a:r>
            <a:r>
              <a:rPr>
                <a:solidFill>
                  <a:srgbClr val="5E5E5E"/>
                </a:solidFill>
                <a:latin typeface="Courier"/>
              </a:rPr>
              <a:t>=</a:t>
            </a:r>
            <a:r>
              <a:rPr>
                <a:solidFill>
                  <a:srgbClr val="111111"/>
                </a:solidFill>
                <a:latin typeface="Courier"/>
              </a:rPr>
              <a:t>False</a:t>
            </a:r>
            <a:r>
              <a:rPr>
                <a:solidFill>
                  <a:srgbClr val="003B4F"/>
                </a:solidFill>
                <a:latin typeface="Courier"/>
              </a:rPr>
              <a:t>)</a:t>
            </a:r>
            <a:br/>
            <a:br/>
            <a:r>
              <a:rPr>
                <a:solidFill>
                  <a:srgbClr val="003B4F"/>
                </a:solidFill>
                <a:latin typeface="Courier"/>
              </a:rPr>
              <a:t>fig1 </a:t>
            </a:r>
            <a:r>
              <a:rPr>
                <a:solidFill>
                  <a:srgbClr val="5E5E5E"/>
                </a:solidFill>
                <a:latin typeface="Courier"/>
              </a:rPr>
              <a:t>=</a:t>
            </a:r>
            <a:r>
              <a:rPr>
                <a:solidFill>
                  <a:srgbClr val="003B4F"/>
                </a:solidFill>
                <a:latin typeface="Courier"/>
              </a:rPr>
              <a:t> px.bar(</a:t>
            </a:r>
            <a:br/>
            <a:r>
              <a:rPr>
                <a:solidFill>
                  <a:srgbClr val="003B4F"/>
                </a:solidFill>
                <a:latin typeface="Courier"/>
              </a:rPr>
              <a:t>    skills_df, </a:t>
            </a:r>
            <a:br/>
            <a:r>
              <a:rPr>
                <a:solidFill>
                  <a:srgbClr val="003B4F"/>
                </a:solidFill>
                <a:latin typeface="Courier"/>
              </a:rPr>
              <a:t>    x</a:t>
            </a:r>
            <a:r>
              <a:rPr>
                <a:solidFill>
                  <a:srgbClr val="5E5E5E"/>
                </a:solidFill>
                <a:latin typeface="Courier"/>
              </a:rPr>
              <a:t>=</a:t>
            </a:r>
            <a:r>
              <a:rPr>
                <a:solidFill>
                  <a:srgbClr val="20794D"/>
                </a:solidFill>
                <a:latin typeface="Courier"/>
              </a:rPr>
              <a:t>"Skill"</a:t>
            </a:r>
            <a:r>
              <a:rPr>
                <a:solidFill>
                  <a:srgbClr val="003B4F"/>
                </a:solidFill>
                <a:latin typeface="Courier"/>
              </a:rPr>
              <a:t>, </a:t>
            </a:r>
            <a:br/>
            <a:r>
              <a:rPr>
                <a:solidFill>
                  <a:srgbClr val="003B4F"/>
                </a:solidFill>
                <a:latin typeface="Courier"/>
              </a:rPr>
              <a:t>    y</a:t>
            </a:r>
            <a:r>
              <a:rPr>
                <a:solidFill>
                  <a:srgbClr val="5E5E5E"/>
                </a:solidFill>
                <a:latin typeface="Courier"/>
              </a:rPr>
              <a:t>=</a:t>
            </a:r>
            <a:r>
              <a:rPr>
                <a:solidFill>
                  <a:srgbClr val="20794D"/>
                </a:solidFill>
                <a:latin typeface="Courier"/>
              </a:rPr>
              <a:t>"Count"</a:t>
            </a:r>
            <a:r>
              <a:rPr>
                <a:solidFill>
                  <a:srgbClr val="003B4F"/>
                </a:solidFill>
                <a:latin typeface="Courier"/>
              </a:rPr>
              <a:t>, </a:t>
            </a:r>
            <a:br/>
            <a:r>
              <a:rPr>
                <a:solidFill>
                  <a:srgbClr val="003B4F"/>
                </a:solidFill>
                <a:latin typeface="Courier"/>
              </a:rPr>
              <a:t>    title</a:t>
            </a:r>
            <a:r>
              <a:rPr>
                <a:solidFill>
                  <a:srgbClr val="5E5E5E"/>
                </a:solidFill>
                <a:latin typeface="Courier"/>
              </a:rPr>
              <a:t>=</a:t>
            </a:r>
            <a:r>
              <a:rPr>
                <a:solidFill>
                  <a:srgbClr val="20794D"/>
                </a:solidFill>
                <a:latin typeface="Courier"/>
              </a:rPr>
              <a:t>"Most In-Demand Skills in Data Science and Analytics Jobs"</a:t>
            </a:r>
            <a:r>
              <a:rPr>
                <a:solidFill>
                  <a:srgbClr val="003B4F"/>
                </a:solidFill>
                <a:latin typeface="Courier"/>
              </a:rPr>
              <a:t>, </a:t>
            </a:r>
            <a:br/>
            <a:r>
              <a:rPr>
                <a:solidFill>
                  <a:srgbClr val="003B4F"/>
                </a:solidFill>
                <a:latin typeface="Courier"/>
              </a:rPr>
              <a:t>    labels</a:t>
            </a:r>
            <a:r>
              <a:rPr>
                <a:solidFill>
                  <a:srgbClr val="5E5E5E"/>
                </a:solidFill>
                <a:latin typeface="Courier"/>
              </a:rPr>
              <a:t>=</a:t>
            </a:r>
            <a:r>
              <a:rPr>
                <a:solidFill>
                  <a:srgbClr val="003B4F"/>
                </a:solidFill>
                <a:latin typeface="Courier"/>
              </a:rPr>
              <a:t>{</a:t>
            </a:r>
            <a:r>
              <a:rPr>
                <a:solidFill>
                  <a:srgbClr val="20794D"/>
                </a:solidFill>
                <a:latin typeface="Courier"/>
              </a:rPr>
              <a:t>"Skill"</a:t>
            </a:r>
            <a:r>
              <a:rPr>
                <a:solidFill>
                  <a:srgbClr val="003B4F"/>
                </a:solidFill>
                <a:latin typeface="Courier"/>
              </a:rPr>
              <a:t>: </a:t>
            </a:r>
            <a:r>
              <a:rPr>
                <a:solidFill>
                  <a:srgbClr val="20794D"/>
                </a:solidFill>
                <a:latin typeface="Courier"/>
              </a:rPr>
              <a:t>"Skills"</a:t>
            </a:r>
            <a:r>
              <a:rPr>
                <a:solidFill>
                  <a:srgbClr val="003B4F"/>
                </a:solidFill>
                <a:latin typeface="Courier"/>
              </a:rPr>
              <a:t>, </a:t>
            </a:r>
            <a:r>
              <a:rPr>
                <a:solidFill>
                  <a:srgbClr val="20794D"/>
                </a:solidFill>
                <a:latin typeface="Courier"/>
              </a:rPr>
              <a:t>"Count"</a:t>
            </a:r>
            <a:r>
              <a:rPr>
                <a:solidFill>
                  <a:srgbClr val="003B4F"/>
                </a:solidFill>
                <a:latin typeface="Courier"/>
              </a:rPr>
              <a:t>: </a:t>
            </a:r>
            <a:r>
              <a:rPr>
                <a:solidFill>
                  <a:srgbClr val="20794D"/>
                </a:solidFill>
                <a:latin typeface="Courier"/>
              </a:rPr>
              <a:t>"Frequency"</a:t>
            </a:r>
            <a:r>
              <a:rPr>
                <a:solidFill>
                  <a:srgbClr val="003B4F"/>
                </a:solidFill>
                <a:latin typeface="Courier"/>
              </a:rPr>
              <a:t>}, </a:t>
            </a:r>
            <a:br/>
            <a:r>
              <a:rPr>
                <a:solidFill>
                  <a:srgbClr val="003B4F"/>
                </a:solidFill>
                <a:latin typeface="Courier"/>
              </a:rPr>
              <a:t>    text</a:t>
            </a:r>
            <a:r>
              <a:rPr>
                <a:solidFill>
                  <a:srgbClr val="5E5E5E"/>
                </a:solidFill>
                <a:latin typeface="Courier"/>
              </a:rPr>
              <a:t>=</a:t>
            </a:r>
            <a:r>
              <a:rPr>
                <a:solidFill>
                  <a:srgbClr val="003B4F"/>
                </a:solidFill>
                <a:latin typeface="Courier"/>
              </a:rPr>
              <a:t>skills_df[</a:t>
            </a:r>
            <a:r>
              <a:rPr>
                <a:solidFill>
                  <a:srgbClr val="20794D"/>
                </a:solidFill>
                <a:latin typeface="Courier"/>
              </a:rPr>
              <a:t>"Count"</a:t>
            </a:r>
            <a:r>
              <a:rPr>
                <a:solidFill>
                  <a:srgbClr val="003B4F"/>
                </a:solidFill>
                <a:latin typeface="Courier"/>
              </a:rPr>
              <a:t>]</a:t>
            </a:r>
            <a:br/>
            <a:r>
              <a:rPr>
                <a:solidFill>
                  <a:srgbClr val="003B4F"/>
                </a:solidFill>
                <a:latin typeface="Courier"/>
              </a:rPr>
              <a:t>)</a:t>
            </a:r>
            <a:br/>
            <a:br/>
            <a:br/>
            <a:r>
              <a:rPr>
                <a:solidFill>
                  <a:srgbClr val="003B4F"/>
                </a:solidFill>
                <a:latin typeface="Courier"/>
              </a:rPr>
              <a:t>pio.renderers.default </a:t>
            </a:r>
            <a:r>
              <a:rPr>
                <a:solidFill>
                  <a:srgbClr val="5E5E5E"/>
                </a:solidFill>
                <a:latin typeface="Courier"/>
              </a:rPr>
              <a:t>=</a:t>
            </a:r>
            <a:r>
              <a:rPr>
                <a:solidFill>
                  <a:srgbClr val="003B4F"/>
                </a:solidFill>
                <a:latin typeface="Courier"/>
              </a:rPr>
              <a:t> </a:t>
            </a:r>
            <a:r>
              <a:rPr>
                <a:solidFill>
                  <a:srgbClr val="20794D"/>
                </a:solidFill>
                <a:latin typeface="Courier"/>
              </a:rPr>
              <a:t>"iframe"</a:t>
            </a:r>
            <a:br/>
            <a:br/>
            <a:br/>
            <a:r>
              <a:rPr>
                <a:solidFill>
                  <a:srgbClr val="003B4F"/>
                </a:solidFill>
                <a:latin typeface="Courier"/>
              </a:rPr>
              <a:t>fig1.write_html(</a:t>
            </a:r>
            <a:r>
              <a:rPr>
                <a:solidFill>
                  <a:srgbClr val="20794D"/>
                </a:solidFill>
                <a:latin typeface="Courier"/>
              </a:rPr>
              <a:t>"plotly_skills_chart.html"</a:t>
            </a:r>
            <a:r>
              <a:rPr>
                <a:solidFill>
                  <a:srgbClr val="003B4F"/>
                </a:solidFill>
                <a:latin typeface="Courier"/>
              </a:rPr>
              <a:t>)</a:t>
            </a:r>
            <a:br/>
            <a:br/>
            <a:r>
              <a:rPr>
                <a:solidFill>
                  <a:srgbClr val="003B4F"/>
                </a:solidFill>
                <a:latin typeface="Courier"/>
              </a:rPr>
              <a:t>fig1.show()</a:t>
            </a:r>
          </a:p>
          <a:p>
            <a:pPr lvl="0" indent="0">
              <a:buNone/>
            </a:pPr>
            <a:r>
              <a:rPr>
                <a:latin typeface="Courier"/>
              </a:rPr>
              <a:t>Unable to display output for mime type(s): text/html</a:t>
            </a:r>
          </a:p>
          <a:p>
            <a:pPr lvl="0" indent="0" marL="0">
              <a:buNone/>
            </a:pPr>
            <a:r>
              <a:rPr/>
              <a:t>The histogram highlights the most in-demand skills in Business Analytics, Data Science, and AI/ML roles. SQL, AI, and Excel rank as the top skills, followed by Python, Tableau, and R, indicating the growing need for data manipulation, automation, and visualization expertise.</a:t>
            </a:r>
          </a:p>
          <a:p>
            <a:pPr lvl="0" indent="0" marL="0">
              <a:buNone/>
            </a:pPr>
            <a:r>
              <a:rPr/>
              <a:t>To build a successful career, start by mastering SQL, Python, and Excel, as these are fundamental for data analysis and business intelligence. Certifications such as Google Data Analytics, Microsoft Power BI, or AWS Data Analytics can provide an edge in the job market. Tableau and R are crucial for visualization and statistical modeling, while AI and Machine Learning skills open doors to automation and predictive analytics.</a:t>
            </a:r>
          </a:p>
          <a:p>
            <a:pPr lvl="0" indent="0" marL="0">
              <a:buNone/>
            </a:pPr>
            <a:r>
              <a:rPr/>
              <a:t>In the short term, focus on online courses and projects to develop practical experience. Mid-term goals should include real-world applications, internships, and industry certifications. Long-term, professionals should aim for specialization in areas such as AI-driven analytics, NLP, and cloud-based data solutions to qualify for high-paying roles. Career opportunities include Data Analyst, Business Intelligence Specialist, Machine Learning Engineer, and AI Researcher, with increasing demand in finance, healthcare, and e-commerce.</a:t>
            </a:r>
          </a:p>
          <a:p>
            <a:pPr lvl="0" indent="0">
              <a:buNone/>
            </a:pPr>
            <a:r>
              <a:rPr>
                <a:solidFill>
                  <a:srgbClr val="00769E"/>
                </a:solidFill>
                <a:latin typeface="Courier"/>
              </a:rPr>
              <a:t>import</a:t>
            </a:r>
            <a:r>
              <a:rPr>
                <a:solidFill>
                  <a:srgbClr val="003B4F"/>
                </a:solidFill>
                <a:latin typeface="Courier"/>
              </a:rPr>
              <a:t> plotly.express </a:t>
            </a:r>
            <a:r>
              <a:rPr>
                <a:solidFill>
                  <a:srgbClr val="00769E"/>
                </a:solidFill>
                <a:latin typeface="Courier"/>
              </a:rPr>
              <a:t>as</a:t>
            </a:r>
            <a:r>
              <a:rPr>
                <a:solidFill>
                  <a:srgbClr val="003B4F"/>
                </a:solidFill>
                <a:latin typeface="Courier"/>
              </a:rPr>
              <a:t> px</a:t>
            </a:r>
            <a:br/>
            <a:br/>
            <a:r>
              <a:rPr>
                <a:solidFill>
                  <a:srgbClr val="003B4F"/>
                </a:solidFill>
                <a:latin typeface="Courier"/>
              </a:rPr>
              <a:t>ai_keywords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20794D"/>
                </a:solidFill>
                <a:latin typeface="Courier"/>
              </a:rPr>
              <a:t>"Data Scientist"</a:t>
            </a:r>
            <a:r>
              <a:rPr>
                <a:solidFill>
                  <a:srgbClr val="003B4F"/>
                </a:solidFill>
                <a:latin typeface="Courier"/>
              </a:rPr>
              <a:t>, </a:t>
            </a:r>
            <a:r>
              <a:rPr>
                <a:solidFill>
                  <a:srgbClr val="20794D"/>
                </a:solidFill>
                <a:latin typeface="Courier"/>
              </a:rPr>
              <a:t>"Machine Learning Engineer"</a:t>
            </a:r>
            <a:r>
              <a:rPr>
                <a:solidFill>
                  <a:srgbClr val="003B4F"/>
                </a:solidFill>
                <a:latin typeface="Courier"/>
              </a:rPr>
              <a:t>, </a:t>
            </a:r>
            <a:r>
              <a:rPr>
                <a:solidFill>
                  <a:srgbClr val="20794D"/>
                </a:solidFill>
                <a:latin typeface="Courier"/>
              </a:rPr>
              <a:t>"Artificial Intelligence"</a:t>
            </a:r>
            <a:r>
              <a:rPr>
                <a:solidFill>
                  <a:srgbClr val="003B4F"/>
                </a:solidFill>
                <a:latin typeface="Courier"/>
              </a:rPr>
              <a:t>, </a:t>
            </a:r>
            <a:r>
              <a:rPr>
                <a:solidFill>
                  <a:srgbClr val="20794D"/>
                </a:solidFill>
                <a:latin typeface="Courier"/>
              </a:rPr>
              <a:t>"Deep Learning Engineer"</a:t>
            </a:r>
            <a:r>
              <a:rPr>
                <a:solidFill>
                  <a:srgbClr val="003B4F"/>
                </a:solidFill>
                <a:latin typeface="Courier"/>
              </a:rPr>
              <a:t>,</a:t>
            </a:r>
            <a:br/>
            <a:r>
              <a:rPr>
                <a:solidFill>
                  <a:srgbClr val="003B4F"/>
                </a:solidFill>
                <a:latin typeface="Courier"/>
              </a:rPr>
              <a:t>    </a:t>
            </a:r>
            <a:r>
              <a:rPr>
                <a:solidFill>
                  <a:srgbClr val="20794D"/>
                </a:solidFill>
                <a:latin typeface="Courier"/>
              </a:rPr>
              <a:t>"Computer Vision Engineer"</a:t>
            </a:r>
            <a:r>
              <a:rPr>
                <a:solidFill>
                  <a:srgbClr val="003B4F"/>
                </a:solidFill>
                <a:latin typeface="Courier"/>
              </a:rPr>
              <a:t>, </a:t>
            </a:r>
            <a:r>
              <a:rPr>
                <a:solidFill>
                  <a:srgbClr val="20794D"/>
                </a:solidFill>
                <a:latin typeface="Courier"/>
              </a:rPr>
              <a:t>"Natural Language Processing"</a:t>
            </a:r>
            <a:r>
              <a:rPr>
                <a:solidFill>
                  <a:srgbClr val="003B4F"/>
                </a:solidFill>
                <a:latin typeface="Courier"/>
              </a:rPr>
              <a:t>, </a:t>
            </a:r>
            <a:r>
              <a:rPr>
                <a:solidFill>
                  <a:srgbClr val="20794D"/>
                </a:solidFill>
                <a:latin typeface="Courier"/>
              </a:rPr>
              <a:t>"AI Researcher"</a:t>
            </a:r>
            <a:r>
              <a:rPr>
                <a:solidFill>
                  <a:srgbClr val="003B4F"/>
                </a:solidFill>
                <a:latin typeface="Courier"/>
              </a:rPr>
              <a:t>, </a:t>
            </a:r>
            <a:r>
              <a:rPr>
                <a:solidFill>
                  <a:srgbClr val="20794D"/>
                </a:solidFill>
                <a:latin typeface="Courier"/>
              </a:rPr>
              <a:t>"AI Engineer"</a:t>
            </a:r>
            <a:r>
              <a:rPr>
                <a:solidFill>
                  <a:srgbClr val="003B4F"/>
                </a:solidFill>
                <a:latin typeface="Courier"/>
              </a:rPr>
              <a:t>,</a:t>
            </a:r>
            <a:br/>
            <a:r>
              <a:rPr>
                <a:solidFill>
                  <a:srgbClr val="003B4F"/>
                </a:solidFill>
                <a:latin typeface="Courier"/>
              </a:rPr>
              <a:t>    </a:t>
            </a:r>
            <a:r>
              <a:rPr>
                <a:solidFill>
                  <a:srgbClr val="20794D"/>
                </a:solidFill>
                <a:latin typeface="Courier"/>
              </a:rPr>
              <a:t>"AI Consultant"</a:t>
            </a:r>
            <a:r>
              <a:rPr>
                <a:solidFill>
                  <a:srgbClr val="003B4F"/>
                </a:solidFill>
                <a:latin typeface="Courier"/>
              </a:rPr>
              <a:t>, </a:t>
            </a:r>
            <a:r>
              <a:rPr>
                <a:solidFill>
                  <a:srgbClr val="20794D"/>
                </a:solidFill>
                <a:latin typeface="Courier"/>
              </a:rPr>
              <a:t>"AI Specialist"</a:t>
            </a:r>
            <a:r>
              <a:rPr>
                <a:solidFill>
                  <a:srgbClr val="003B4F"/>
                </a:solidFill>
                <a:latin typeface="Courier"/>
              </a:rPr>
              <a:t>, </a:t>
            </a:r>
            <a:r>
              <a:rPr>
                <a:solidFill>
                  <a:srgbClr val="20794D"/>
                </a:solidFill>
                <a:latin typeface="Courier"/>
              </a:rPr>
              <a:t>"AI Analyst"</a:t>
            </a:r>
            <a:r>
              <a:rPr>
                <a:solidFill>
                  <a:srgbClr val="003B4F"/>
                </a:solidFill>
                <a:latin typeface="Courier"/>
              </a:rPr>
              <a:t>, </a:t>
            </a:r>
            <a:r>
              <a:rPr>
                <a:solidFill>
                  <a:srgbClr val="20794D"/>
                </a:solidFill>
                <a:latin typeface="Courier"/>
              </a:rPr>
              <a:t>"Generative AI"</a:t>
            </a:r>
            <a:r>
              <a:rPr>
                <a:solidFill>
                  <a:srgbClr val="003B4F"/>
                </a:solidFill>
                <a:latin typeface="Courier"/>
              </a:rPr>
              <a:t>, </a:t>
            </a:r>
            <a:r>
              <a:rPr>
                <a:solidFill>
                  <a:srgbClr val="20794D"/>
                </a:solidFill>
                <a:latin typeface="Courier"/>
              </a:rPr>
              <a:t>"Predictive Analytics"</a:t>
            </a:r>
            <a:r>
              <a:rPr>
                <a:solidFill>
                  <a:srgbClr val="003B4F"/>
                </a:solidFill>
                <a:latin typeface="Courier"/>
              </a:rPr>
              <a:t>,</a:t>
            </a:r>
            <a:br/>
            <a:r>
              <a:rPr>
                <a:solidFill>
                  <a:srgbClr val="003B4F"/>
                </a:solidFill>
                <a:latin typeface="Courier"/>
              </a:rPr>
              <a:t>    </a:t>
            </a:r>
            <a:r>
              <a:rPr>
                <a:solidFill>
                  <a:srgbClr val="20794D"/>
                </a:solidFill>
                <a:latin typeface="Courier"/>
              </a:rPr>
              <a:t>"Cognitive Computing"</a:t>
            </a:r>
            <a:r>
              <a:rPr>
                <a:solidFill>
                  <a:srgbClr val="003B4F"/>
                </a:solidFill>
                <a:latin typeface="Courier"/>
              </a:rPr>
              <a:t>, </a:t>
            </a:r>
            <a:r>
              <a:rPr>
                <a:solidFill>
                  <a:srgbClr val="20794D"/>
                </a:solidFill>
                <a:latin typeface="Courier"/>
              </a:rPr>
              <a:t>"Data Analytics Engineer"</a:t>
            </a:r>
            <a:r>
              <a:rPr>
                <a:solidFill>
                  <a:srgbClr val="003B4F"/>
                </a:solidFill>
                <a:latin typeface="Courier"/>
              </a:rPr>
              <a:t>, </a:t>
            </a:r>
            <a:r>
              <a:rPr>
                <a:solidFill>
                  <a:srgbClr val="20794D"/>
                </a:solidFill>
                <a:latin typeface="Courier"/>
              </a:rPr>
              <a:t>"Data Modeler"</a:t>
            </a:r>
            <a:r>
              <a:rPr>
                <a:solidFill>
                  <a:srgbClr val="003B4F"/>
                </a:solidFill>
                <a:latin typeface="Courier"/>
              </a:rPr>
              <a:t>, </a:t>
            </a:r>
            <a:r>
              <a:rPr>
                <a:solidFill>
                  <a:srgbClr val="20794D"/>
                </a:solidFill>
                <a:latin typeface="Courier"/>
              </a:rPr>
              <a:t>"Data Governance Analyst"</a:t>
            </a:r>
            <a:r>
              <a:rPr>
                <a:solidFill>
                  <a:srgbClr val="003B4F"/>
                </a:solidFill>
                <a:latin typeface="Courier"/>
              </a:rPr>
              <a:t>,</a:t>
            </a:r>
            <a:br/>
            <a:r>
              <a:rPr>
                <a:solidFill>
                  <a:srgbClr val="003B4F"/>
                </a:solidFill>
                <a:latin typeface="Courier"/>
              </a:rPr>
              <a:t>    </a:t>
            </a:r>
            <a:r>
              <a:rPr>
                <a:solidFill>
                  <a:srgbClr val="20794D"/>
                </a:solidFill>
                <a:latin typeface="Courier"/>
              </a:rPr>
              <a:t>"Business Intelligence Analyst"</a:t>
            </a:r>
            <a:r>
              <a:rPr>
                <a:solidFill>
                  <a:srgbClr val="003B4F"/>
                </a:solidFill>
                <a:latin typeface="Courier"/>
              </a:rPr>
              <a:t>, </a:t>
            </a:r>
            <a:r>
              <a:rPr>
                <a:solidFill>
                  <a:srgbClr val="20794D"/>
                </a:solidFill>
                <a:latin typeface="Courier"/>
              </a:rPr>
              <a:t>"Big Data Engineer"</a:t>
            </a:r>
            <a:r>
              <a:rPr>
                <a:solidFill>
                  <a:srgbClr val="003B4F"/>
                </a:solidFill>
                <a:latin typeface="Courier"/>
              </a:rPr>
              <a:t>, </a:t>
            </a:r>
            <a:r>
              <a:rPr>
                <a:solidFill>
                  <a:srgbClr val="20794D"/>
                </a:solidFill>
                <a:latin typeface="Courier"/>
              </a:rPr>
              <a:t>"Enterprise Architect"</a:t>
            </a:r>
            <a:r>
              <a:rPr>
                <a:solidFill>
                  <a:srgbClr val="003B4F"/>
                </a:solidFill>
                <a:latin typeface="Courier"/>
              </a:rPr>
              <a:t>,</a:t>
            </a:r>
            <a:br/>
            <a:r>
              <a:rPr>
                <a:solidFill>
                  <a:srgbClr val="003B4F"/>
                </a:solidFill>
                <a:latin typeface="Courier"/>
              </a:rPr>
              <a:t>    </a:t>
            </a:r>
            <a:r>
              <a:rPr>
                <a:solidFill>
                  <a:srgbClr val="20794D"/>
                </a:solidFill>
                <a:latin typeface="Courier"/>
              </a:rPr>
              <a:t>"Solutions Architect"</a:t>
            </a:r>
            <a:r>
              <a:rPr>
                <a:solidFill>
                  <a:srgbClr val="003B4F"/>
                </a:solidFill>
                <a:latin typeface="Courier"/>
              </a:rPr>
              <a:t>, </a:t>
            </a:r>
            <a:r>
              <a:rPr>
                <a:solidFill>
                  <a:srgbClr val="20794D"/>
                </a:solidFill>
                <a:latin typeface="Courier"/>
              </a:rPr>
              <a:t>"Enterprise Solutions Architect"</a:t>
            </a:r>
            <a:r>
              <a:rPr>
                <a:solidFill>
                  <a:srgbClr val="003B4F"/>
                </a:solidFill>
                <a:latin typeface="Courier"/>
              </a:rPr>
              <a:t>, </a:t>
            </a:r>
            <a:r>
              <a:rPr>
                <a:solidFill>
                  <a:srgbClr val="20794D"/>
                </a:solidFill>
                <a:latin typeface="Courier"/>
              </a:rPr>
              <a:t>"Data Quality Analyst"</a:t>
            </a:r>
            <a:r>
              <a:rPr>
                <a:solidFill>
                  <a:srgbClr val="003B4F"/>
                </a:solidFill>
                <a:latin typeface="Courier"/>
              </a:rPr>
              <a:t>,</a:t>
            </a:r>
            <a:br/>
            <a:r>
              <a:rPr>
                <a:solidFill>
                  <a:srgbClr val="003B4F"/>
                </a:solidFill>
                <a:latin typeface="Courier"/>
              </a:rPr>
              <a:t>    </a:t>
            </a:r>
            <a:r>
              <a:rPr>
                <a:solidFill>
                  <a:srgbClr val="20794D"/>
                </a:solidFill>
                <a:latin typeface="Courier"/>
              </a:rPr>
              <a:t>"Data Management Analyst"</a:t>
            </a:r>
            <a:r>
              <a:rPr>
                <a:solidFill>
                  <a:srgbClr val="003B4F"/>
                </a:solidFill>
                <a:latin typeface="Courier"/>
              </a:rPr>
              <a:t>, </a:t>
            </a:r>
            <a:r>
              <a:rPr>
                <a:solidFill>
                  <a:srgbClr val="20794D"/>
                </a:solidFill>
                <a:latin typeface="Courier"/>
              </a:rPr>
              <a:t>"Lead Data Analyst"</a:t>
            </a:r>
            <a:r>
              <a:rPr>
                <a:solidFill>
                  <a:srgbClr val="003B4F"/>
                </a:solidFill>
                <a:latin typeface="Courier"/>
              </a:rPr>
              <a:t>, </a:t>
            </a:r>
            <a:r>
              <a:rPr>
                <a:solidFill>
                  <a:srgbClr val="20794D"/>
                </a:solidFill>
                <a:latin typeface="Courier"/>
              </a:rPr>
              <a:t>"Principal Architect"</a:t>
            </a:r>
            <a:r>
              <a:rPr>
                <a:solidFill>
                  <a:srgbClr val="003B4F"/>
                </a:solidFill>
                <a:latin typeface="Courier"/>
              </a:rPr>
              <a:t>, </a:t>
            </a:r>
            <a:r>
              <a:rPr>
                <a:solidFill>
                  <a:srgbClr val="20794D"/>
                </a:solidFill>
                <a:latin typeface="Courier"/>
              </a:rPr>
              <a:t>"Data and Reporting Analyst"</a:t>
            </a:r>
            <a:br/>
            <a:r>
              <a:rPr>
                <a:solidFill>
                  <a:srgbClr val="003B4F"/>
                </a:solidFill>
                <a:latin typeface="Courier"/>
              </a:rPr>
              <a:t>]</a:t>
            </a:r>
            <a:br/>
            <a:br/>
            <a:r>
              <a:rPr>
                <a:solidFill>
                  <a:srgbClr val="003B4F"/>
                </a:solidFill>
                <a:latin typeface="Courier"/>
              </a:rPr>
              <a:t>df[</a:t>
            </a:r>
            <a:r>
              <a:rPr>
                <a:solidFill>
                  <a:srgbClr val="20794D"/>
                </a:solidFill>
                <a:latin typeface="Courier"/>
              </a:rPr>
              <a:t>"IS_AI_JOB"</a:t>
            </a:r>
            <a:r>
              <a:rPr>
                <a:solidFill>
                  <a:srgbClr val="003B4F"/>
                </a:solidFill>
                <a:latin typeface="Courier"/>
              </a:rPr>
              <a:t>] </a:t>
            </a:r>
            <a:r>
              <a:rPr>
                <a:solidFill>
                  <a:srgbClr val="5E5E5E"/>
                </a:solidFill>
                <a:latin typeface="Courier"/>
              </a:rPr>
              <a:t>=</a:t>
            </a:r>
            <a:r>
              <a:rPr>
                <a:solidFill>
                  <a:srgbClr val="003B4F"/>
                </a:solidFill>
                <a:latin typeface="Courier"/>
              </a:rPr>
              <a:t> df[</a:t>
            </a:r>
            <a:r>
              <a:rPr>
                <a:solidFill>
                  <a:srgbClr val="20794D"/>
                </a:solidFill>
                <a:latin typeface="Courier"/>
              </a:rPr>
              <a:t>"TITLE_NAME"</a:t>
            </a:r>
            <a:r>
              <a:rPr>
                <a:solidFill>
                  <a:srgbClr val="003B4F"/>
                </a:solidFill>
                <a:latin typeface="Courier"/>
              </a:rPr>
              <a:t>].astype(str).apply(</a:t>
            </a:r>
            <a:r>
              <a:rPr b="1">
                <a:solidFill>
                  <a:srgbClr val="003B4F"/>
                </a:solidFill>
                <a:latin typeface="Courier"/>
              </a:rPr>
              <a:t>lambda</a:t>
            </a:r>
            <a:r>
              <a:rPr>
                <a:solidFill>
                  <a:srgbClr val="003B4F"/>
                </a:solidFill>
                <a:latin typeface="Courier"/>
              </a:rPr>
              <a:t> x: any(keyword </a:t>
            </a:r>
            <a:r>
              <a:rPr b="1">
                <a:solidFill>
                  <a:srgbClr val="003B4F"/>
                </a:solidFill>
                <a:latin typeface="Courier"/>
              </a:rPr>
              <a:t>in</a:t>
            </a:r>
            <a:r>
              <a:rPr>
                <a:solidFill>
                  <a:srgbClr val="003B4F"/>
                </a:solidFill>
                <a:latin typeface="Courier"/>
              </a:rPr>
              <a:t> x </a:t>
            </a:r>
            <a:r>
              <a:rPr b="1">
                <a:solidFill>
                  <a:srgbClr val="003B4F"/>
                </a:solidFill>
                <a:latin typeface="Courier"/>
              </a:rPr>
              <a:t>for</a:t>
            </a:r>
            <a:r>
              <a:rPr>
                <a:solidFill>
                  <a:srgbClr val="003B4F"/>
                </a:solidFill>
                <a:latin typeface="Courier"/>
              </a:rPr>
              <a:t> keyword </a:t>
            </a:r>
            <a:r>
              <a:rPr b="1">
                <a:solidFill>
                  <a:srgbClr val="003B4F"/>
                </a:solidFill>
                <a:latin typeface="Courier"/>
              </a:rPr>
              <a:t>in</a:t>
            </a:r>
            <a:r>
              <a:rPr>
                <a:solidFill>
                  <a:srgbClr val="003B4F"/>
                </a:solidFill>
                <a:latin typeface="Courier"/>
              </a:rPr>
              <a:t> ai_keywords))</a:t>
            </a:r>
            <a:br/>
            <a:r>
              <a:rPr>
                <a:solidFill>
                  <a:srgbClr val="003B4F"/>
                </a:solidFill>
                <a:latin typeface="Courier"/>
              </a:rPr>
              <a:t>state_job_counts </a:t>
            </a:r>
            <a:r>
              <a:rPr>
                <a:solidFill>
                  <a:srgbClr val="5E5E5E"/>
                </a:solidFill>
                <a:latin typeface="Courier"/>
              </a:rPr>
              <a:t>=</a:t>
            </a:r>
            <a:r>
              <a:rPr>
                <a:solidFill>
                  <a:srgbClr val="003B4F"/>
                </a:solidFill>
                <a:latin typeface="Courier"/>
              </a:rPr>
              <a:t> df[df[</a:t>
            </a:r>
            <a:r>
              <a:rPr>
                <a:solidFill>
                  <a:srgbClr val="20794D"/>
                </a:solidFill>
                <a:latin typeface="Courier"/>
              </a:rPr>
              <a:t>"IS_AI_JOB"</a:t>
            </a:r>
            <a:r>
              <a:rPr>
                <a:solidFill>
                  <a:srgbClr val="003B4F"/>
                </a:solidFill>
                <a:latin typeface="Courier"/>
              </a:rPr>
              <a:t>]].groupby(</a:t>
            </a:r>
            <a:r>
              <a:rPr>
                <a:solidFill>
                  <a:srgbClr val="20794D"/>
                </a:solidFill>
                <a:latin typeface="Courier"/>
              </a:rPr>
              <a:t>"STATE_NAME"</a:t>
            </a:r>
            <a:r>
              <a:rPr>
                <a:solidFill>
                  <a:srgbClr val="003B4F"/>
                </a:solidFill>
                <a:latin typeface="Courier"/>
              </a:rPr>
              <a:t>).size().reset_index(name</a:t>
            </a:r>
            <a:r>
              <a:rPr>
                <a:solidFill>
                  <a:srgbClr val="5E5E5E"/>
                </a:solidFill>
                <a:latin typeface="Courier"/>
              </a:rPr>
              <a:t>=</a:t>
            </a:r>
            <a:r>
              <a:rPr>
                <a:solidFill>
                  <a:srgbClr val="20794D"/>
                </a:solidFill>
                <a:latin typeface="Courier"/>
              </a:rPr>
              <a:t>"AI_JOB_COUNT"</a:t>
            </a:r>
            <a:r>
              <a:rPr>
                <a:solidFill>
                  <a:srgbClr val="003B4F"/>
                </a:solidFill>
                <a:latin typeface="Courier"/>
              </a:rPr>
              <a:t>)</a:t>
            </a:r>
            <a:br/>
            <a:br/>
            <a:r>
              <a:rPr>
                <a:solidFill>
                  <a:srgbClr val="003B4F"/>
                </a:solidFill>
                <a:latin typeface="Courier"/>
              </a:rPr>
              <a:t>state_abbrev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20794D"/>
                </a:solidFill>
                <a:latin typeface="Courier"/>
              </a:rPr>
              <a:t>"Alabama"</a:t>
            </a:r>
            <a:r>
              <a:rPr>
                <a:solidFill>
                  <a:srgbClr val="003B4F"/>
                </a:solidFill>
                <a:latin typeface="Courier"/>
              </a:rPr>
              <a:t>: </a:t>
            </a:r>
            <a:r>
              <a:rPr>
                <a:solidFill>
                  <a:srgbClr val="20794D"/>
                </a:solidFill>
                <a:latin typeface="Courier"/>
              </a:rPr>
              <a:t>"AL"</a:t>
            </a:r>
            <a:r>
              <a:rPr>
                <a:solidFill>
                  <a:srgbClr val="003B4F"/>
                </a:solidFill>
                <a:latin typeface="Courier"/>
              </a:rPr>
              <a:t>, </a:t>
            </a:r>
            <a:r>
              <a:rPr>
                <a:solidFill>
                  <a:srgbClr val="20794D"/>
                </a:solidFill>
                <a:latin typeface="Courier"/>
              </a:rPr>
              <a:t>"Alaska"</a:t>
            </a:r>
            <a:r>
              <a:rPr>
                <a:solidFill>
                  <a:srgbClr val="003B4F"/>
                </a:solidFill>
                <a:latin typeface="Courier"/>
              </a:rPr>
              <a:t>: </a:t>
            </a:r>
            <a:r>
              <a:rPr>
                <a:solidFill>
                  <a:srgbClr val="20794D"/>
                </a:solidFill>
                <a:latin typeface="Courier"/>
              </a:rPr>
              <a:t>"AK"</a:t>
            </a:r>
            <a:r>
              <a:rPr>
                <a:solidFill>
                  <a:srgbClr val="003B4F"/>
                </a:solidFill>
                <a:latin typeface="Courier"/>
              </a:rPr>
              <a:t>, </a:t>
            </a:r>
            <a:r>
              <a:rPr>
                <a:solidFill>
                  <a:srgbClr val="20794D"/>
                </a:solidFill>
                <a:latin typeface="Courier"/>
              </a:rPr>
              <a:t>"Arizona"</a:t>
            </a:r>
            <a:r>
              <a:rPr>
                <a:solidFill>
                  <a:srgbClr val="003B4F"/>
                </a:solidFill>
                <a:latin typeface="Courier"/>
              </a:rPr>
              <a:t>: </a:t>
            </a:r>
            <a:r>
              <a:rPr>
                <a:solidFill>
                  <a:srgbClr val="20794D"/>
                </a:solidFill>
                <a:latin typeface="Courier"/>
              </a:rPr>
              <a:t>"AZ"</a:t>
            </a:r>
            <a:r>
              <a:rPr>
                <a:solidFill>
                  <a:srgbClr val="003B4F"/>
                </a:solidFill>
                <a:latin typeface="Courier"/>
              </a:rPr>
              <a:t>, </a:t>
            </a:r>
            <a:r>
              <a:rPr>
                <a:solidFill>
                  <a:srgbClr val="20794D"/>
                </a:solidFill>
                <a:latin typeface="Courier"/>
              </a:rPr>
              <a:t>"Arkansas"</a:t>
            </a:r>
            <a:r>
              <a:rPr>
                <a:solidFill>
                  <a:srgbClr val="003B4F"/>
                </a:solidFill>
                <a:latin typeface="Courier"/>
              </a:rPr>
              <a:t>: </a:t>
            </a:r>
            <a:r>
              <a:rPr>
                <a:solidFill>
                  <a:srgbClr val="20794D"/>
                </a:solidFill>
                <a:latin typeface="Courier"/>
              </a:rPr>
              <a:t>"AR"</a:t>
            </a:r>
            <a:r>
              <a:rPr>
                <a:solidFill>
                  <a:srgbClr val="003B4F"/>
                </a:solidFill>
                <a:latin typeface="Courier"/>
              </a:rPr>
              <a:t>, </a:t>
            </a:r>
            <a:r>
              <a:rPr>
                <a:solidFill>
                  <a:srgbClr val="20794D"/>
                </a:solidFill>
                <a:latin typeface="Courier"/>
              </a:rPr>
              <a:t>"California"</a:t>
            </a:r>
            <a:r>
              <a:rPr>
                <a:solidFill>
                  <a:srgbClr val="003B4F"/>
                </a:solidFill>
                <a:latin typeface="Courier"/>
              </a:rPr>
              <a:t>: </a:t>
            </a:r>
            <a:r>
              <a:rPr>
                <a:solidFill>
                  <a:srgbClr val="20794D"/>
                </a:solidFill>
                <a:latin typeface="Courier"/>
              </a:rPr>
              <a:t>"CA"</a:t>
            </a:r>
            <a:r>
              <a:rPr>
                <a:solidFill>
                  <a:srgbClr val="003B4F"/>
                </a:solidFill>
                <a:latin typeface="Courier"/>
              </a:rPr>
              <a:t>,</a:t>
            </a:r>
            <a:br/>
            <a:r>
              <a:rPr>
                <a:solidFill>
                  <a:srgbClr val="003B4F"/>
                </a:solidFill>
                <a:latin typeface="Courier"/>
              </a:rPr>
              <a:t>    </a:t>
            </a:r>
            <a:r>
              <a:rPr>
                <a:solidFill>
                  <a:srgbClr val="20794D"/>
                </a:solidFill>
                <a:latin typeface="Courier"/>
              </a:rPr>
              <a:t>"Colorado"</a:t>
            </a:r>
            <a:r>
              <a:rPr>
                <a:solidFill>
                  <a:srgbClr val="003B4F"/>
                </a:solidFill>
                <a:latin typeface="Courier"/>
              </a:rPr>
              <a:t>: </a:t>
            </a:r>
            <a:r>
              <a:rPr>
                <a:solidFill>
                  <a:srgbClr val="20794D"/>
                </a:solidFill>
                <a:latin typeface="Courier"/>
              </a:rPr>
              <a:t>"CO"</a:t>
            </a:r>
            <a:r>
              <a:rPr>
                <a:solidFill>
                  <a:srgbClr val="003B4F"/>
                </a:solidFill>
                <a:latin typeface="Courier"/>
              </a:rPr>
              <a:t>, </a:t>
            </a:r>
            <a:r>
              <a:rPr>
                <a:solidFill>
                  <a:srgbClr val="20794D"/>
                </a:solidFill>
                <a:latin typeface="Courier"/>
              </a:rPr>
              <a:t>"Connecticut"</a:t>
            </a:r>
            <a:r>
              <a:rPr>
                <a:solidFill>
                  <a:srgbClr val="003B4F"/>
                </a:solidFill>
                <a:latin typeface="Courier"/>
              </a:rPr>
              <a:t>: </a:t>
            </a:r>
            <a:r>
              <a:rPr>
                <a:solidFill>
                  <a:srgbClr val="20794D"/>
                </a:solidFill>
                <a:latin typeface="Courier"/>
              </a:rPr>
              <a:t>"CT"</a:t>
            </a:r>
            <a:r>
              <a:rPr>
                <a:solidFill>
                  <a:srgbClr val="003B4F"/>
                </a:solidFill>
                <a:latin typeface="Courier"/>
              </a:rPr>
              <a:t>, </a:t>
            </a:r>
            <a:r>
              <a:rPr>
                <a:solidFill>
                  <a:srgbClr val="20794D"/>
                </a:solidFill>
                <a:latin typeface="Courier"/>
              </a:rPr>
              <a:t>"Delaware"</a:t>
            </a:r>
            <a:r>
              <a:rPr>
                <a:solidFill>
                  <a:srgbClr val="003B4F"/>
                </a:solidFill>
                <a:latin typeface="Courier"/>
              </a:rPr>
              <a:t>: </a:t>
            </a:r>
            <a:r>
              <a:rPr>
                <a:solidFill>
                  <a:srgbClr val="20794D"/>
                </a:solidFill>
                <a:latin typeface="Courier"/>
              </a:rPr>
              <a:t>"DE"</a:t>
            </a:r>
            <a:r>
              <a:rPr>
                <a:solidFill>
                  <a:srgbClr val="003B4F"/>
                </a:solidFill>
                <a:latin typeface="Courier"/>
              </a:rPr>
              <a:t>, </a:t>
            </a:r>
            <a:r>
              <a:rPr>
                <a:solidFill>
                  <a:srgbClr val="20794D"/>
                </a:solidFill>
                <a:latin typeface="Courier"/>
              </a:rPr>
              <a:t>"Florida"</a:t>
            </a:r>
            <a:r>
              <a:rPr>
                <a:solidFill>
                  <a:srgbClr val="003B4F"/>
                </a:solidFill>
                <a:latin typeface="Courier"/>
              </a:rPr>
              <a:t>: </a:t>
            </a:r>
            <a:r>
              <a:rPr>
                <a:solidFill>
                  <a:srgbClr val="20794D"/>
                </a:solidFill>
                <a:latin typeface="Courier"/>
              </a:rPr>
              <a:t>"FL"</a:t>
            </a:r>
            <a:r>
              <a:rPr>
                <a:solidFill>
                  <a:srgbClr val="003B4F"/>
                </a:solidFill>
                <a:latin typeface="Courier"/>
              </a:rPr>
              <a:t>, </a:t>
            </a:r>
            <a:r>
              <a:rPr>
                <a:solidFill>
                  <a:srgbClr val="20794D"/>
                </a:solidFill>
                <a:latin typeface="Courier"/>
              </a:rPr>
              <a:t>"Georgia"</a:t>
            </a:r>
            <a:r>
              <a:rPr>
                <a:solidFill>
                  <a:srgbClr val="003B4F"/>
                </a:solidFill>
                <a:latin typeface="Courier"/>
              </a:rPr>
              <a:t>: </a:t>
            </a:r>
            <a:r>
              <a:rPr>
                <a:solidFill>
                  <a:srgbClr val="20794D"/>
                </a:solidFill>
                <a:latin typeface="Courier"/>
              </a:rPr>
              <a:t>"GA"</a:t>
            </a:r>
            <a:r>
              <a:rPr>
                <a:solidFill>
                  <a:srgbClr val="003B4F"/>
                </a:solidFill>
                <a:latin typeface="Courier"/>
              </a:rPr>
              <a:t>,</a:t>
            </a:r>
            <a:br/>
            <a:r>
              <a:rPr>
                <a:solidFill>
                  <a:srgbClr val="003B4F"/>
                </a:solidFill>
                <a:latin typeface="Courier"/>
              </a:rPr>
              <a:t>    </a:t>
            </a:r>
            <a:r>
              <a:rPr>
                <a:solidFill>
                  <a:srgbClr val="20794D"/>
                </a:solidFill>
                <a:latin typeface="Courier"/>
              </a:rPr>
              <a:t>"Hawaii"</a:t>
            </a:r>
            <a:r>
              <a:rPr>
                <a:solidFill>
                  <a:srgbClr val="003B4F"/>
                </a:solidFill>
                <a:latin typeface="Courier"/>
              </a:rPr>
              <a:t>: </a:t>
            </a:r>
            <a:r>
              <a:rPr>
                <a:solidFill>
                  <a:srgbClr val="20794D"/>
                </a:solidFill>
                <a:latin typeface="Courier"/>
              </a:rPr>
              <a:t>"HI"</a:t>
            </a:r>
            <a:r>
              <a:rPr>
                <a:solidFill>
                  <a:srgbClr val="003B4F"/>
                </a:solidFill>
                <a:latin typeface="Courier"/>
              </a:rPr>
              <a:t>, </a:t>
            </a:r>
            <a:r>
              <a:rPr>
                <a:solidFill>
                  <a:srgbClr val="20794D"/>
                </a:solidFill>
                <a:latin typeface="Courier"/>
              </a:rPr>
              <a:t>"Idaho"</a:t>
            </a:r>
            <a:r>
              <a:rPr>
                <a:solidFill>
                  <a:srgbClr val="003B4F"/>
                </a:solidFill>
                <a:latin typeface="Courier"/>
              </a:rPr>
              <a:t>: </a:t>
            </a:r>
            <a:r>
              <a:rPr>
                <a:solidFill>
                  <a:srgbClr val="20794D"/>
                </a:solidFill>
                <a:latin typeface="Courier"/>
              </a:rPr>
              <a:t>"ID"</a:t>
            </a:r>
            <a:r>
              <a:rPr>
                <a:solidFill>
                  <a:srgbClr val="003B4F"/>
                </a:solidFill>
                <a:latin typeface="Courier"/>
              </a:rPr>
              <a:t>, </a:t>
            </a:r>
            <a:r>
              <a:rPr>
                <a:solidFill>
                  <a:srgbClr val="20794D"/>
                </a:solidFill>
                <a:latin typeface="Courier"/>
              </a:rPr>
              <a:t>"Illinois"</a:t>
            </a:r>
            <a:r>
              <a:rPr>
                <a:solidFill>
                  <a:srgbClr val="003B4F"/>
                </a:solidFill>
                <a:latin typeface="Courier"/>
              </a:rPr>
              <a:t>: </a:t>
            </a:r>
            <a:r>
              <a:rPr>
                <a:solidFill>
                  <a:srgbClr val="20794D"/>
                </a:solidFill>
                <a:latin typeface="Courier"/>
              </a:rPr>
              <a:t>"IL"</a:t>
            </a:r>
            <a:r>
              <a:rPr>
                <a:solidFill>
                  <a:srgbClr val="003B4F"/>
                </a:solidFill>
                <a:latin typeface="Courier"/>
              </a:rPr>
              <a:t>, </a:t>
            </a:r>
            <a:r>
              <a:rPr>
                <a:solidFill>
                  <a:srgbClr val="20794D"/>
                </a:solidFill>
                <a:latin typeface="Courier"/>
              </a:rPr>
              <a:t>"Indiana"</a:t>
            </a:r>
            <a:r>
              <a:rPr>
                <a:solidFill>
                  <a:srgbClr val="003B4F"/>
                </a:solidFill>
                <a:latin typeface="Courier"/>
              </a:rPr>
              <a:t>: </a:t>
            </a:r>
            <a:r>
              <a:rPr>
                <a:solidFill>
                  <a:srgbClr val="20794D"/>
                </a:solidFill>
                <a:latin typeface="Courier"/>
              </a:rPr>
              <a:t>"IN"</a:t>
            </a:r>
            <a:r>
              <a:rPr>
                <a:solidFill>
                  <a:srgbClr val="003B4F"/>
                </a:solidFill>
                <a:latin typeface="Courier"/>
              </a:rPr>
              <a:t>, </a:t>
            </a:r>
            <a:r>
              <a:rPr>
                <a:solidFill>
                  <a:srgbClr val="20794D"/>
                </a:solidFill>
                <a:latin typeface="Courier"/>
              </a:rPr>
              <a:t>"Iowa"</a:t>
            </a:r>
            <a:r>
              <a:rPr>
                <a:solidFill>
                  <a:srgbClr val="003B4F"/>
                </a:solidFill>
                <a:latin typeface="Courier"/>
              </a:rPr>
              <a:t>: </a:t>
            </a:r>
            <a:r>
              <a:rPr>
                <a:solidFill>
                  <a:srgbClr val="20794D"/>
                </a:solidFill>
                <a:latin typeface="Courier"/>
              </a:rPr>
              <a:t>"IA"</a:t>
            </a:r>
            <a:r>
              <a:rPr>
                <a:solidFill>
                  <a:srgbClr val="003B4F"/>
                </a:solidFill>
                <a:latin typeface="Courier"/>
              </a:rPr>
              <a:t>, </a:t>
            </a:r>
            <a:r>
              <a:rPr>
                <a:solidFill>
                  <a:srgbClr val="20794D"/>
                </a:solidFill>
                <a:latin typeface="Courier"/>
              </a:rPr>
              <a:t>"Kansas"</a:t>
            </a:r>
            <a:r>
              <a:rPr>
                <a:solidFill>
                  <a:srgbClr val="003B4F"/>
                </a:solidFill>
                <a:latin typeface="Courier"/>
              </a:rPr>
              <a:t>: </a:t>
            </a:r>
            <a:r>
              <a:rPr>
                <a:solidFill>
                  <a:srgbClr val="20794D"/>
                </a:solidFill>
                <a:latin typeface="Courier"/>
              </a:rPr>
              <a:t>"KS"</a:t>
            </a:r>
            <a:r>
              <a:rPr>
                <a:solidFill>
                  <a:srgbClr val="003B4F"/>
                </a:solidFill>
                <a:latin typeface="Courier"/>
              </a:rPr>
              <a:t>,</a:t>
            </a:r>
            <a:br/>
            <a:r>
              <a:rPr>
                <a:solidFill>
                  <a:srgbClr val="003B4F"/>
                </a:solidFill>
                <a:latin typeface="Courier"/>
              </a:rPr>
              <a:t>    </a:t>
            </a:r>
            <a:r>
              <a:rPr>
                <a:solidFill>
                  <a:srgbClr val="20794D"/>
                </a:solidFill>
                <a:latin typeface="Courier"/>
              </a:rPr>
              <a:t>"Kentucky"</a:t>
            </a:r>
            <a:r>
              <a:rPr>
                <a:solidFill>
                  <a:srgbClr val="003B4F"/>
                </a:solidFill>
                <a:latin typeface="Courier"/>
              </a:rPr>
              <a:t>: </a:t>
            </a:r>
            <a:r>
              <a:rPr>
                <a:solidFill>
                  <a:srgbClr val="20794D"/>
                </a:solidFill>
                <a:latin typeface="Courier"/>
              </a:rPr>
              <a:t>"KY"</a:t>
            </a:r>
            <a:r>
              <a:rPr>
                <a:solidFill>
                  <a:srgbClr val="003B4F"/>
                </a:solidFill>
                <a:latin typeface="Courier"/>
              </a:rPr>
              <a:t>, </a:t>
            </a:r>
            <a:r>
              <a:rPr>
                <a:solidFill>
                  <a:srgbClr val="20794D"/>
                </a:solidFill>
                <a:latin typeface="Courier"/>
              </a:rPr>
              <a:t>"Louisiana"</a:t>
            </a:r>
            <a:r>
              <a:rPr>
                <a:solidFill>
                  <a:srgbClr val="003B4F"/>
                </a:solidFill>
                <a:latin typeface="Courier"/>
              </a:rPr>
              <a:t>: </a:t>
            </a:r>
            <a:r>
              <a:rPr>
                <a:solidFill>
                  <a:srgbClr val="20794D"/>
                </a:solidFill>
                <a:latin typeface="Courier"/>
              </a:rPr>
              <a:t>"LA"</a:t>
            </a:r>
            <a:r>
              <a:rPr>
                <a:solidFill>
                  <a:srgbClr val="003B4F"/>
                </a:solidFill>
                <a:latin typeface="Courier"/>
              </a:rPr>
              <a:t>, </a:t>
            </a:r>
            <a:r>
              <a:rPr>
                <a:solidFill>
                  <a:srgbClr val="20794D"/>
                </a:solidFill>
                <a:latin typeface="Courier"/>
              </a:rPr>
              <a:t>"Maine"</a:t>
            </a:r>
            <a:r>
              <a:rPr>
                <a:solidFill>
                  <a:srgbClr val="003B4F"/>
                </a:solidFill>
                <a:latin typeface="Courier"/>
              </a:rPr>
              <a:t>: </a:t>
            </a:r>
            <a:r>
              <a:rPr>
                <a:solidFill>
                  <a:srgbClr val="20794D"/>
                </a:solidFill>
                <a:latin typeface="Courier"/>
              </a:rPr>
              <a:t>"ME"</a:t>
            </a:r>
            <a:r>
              <a:rPr>
                <a:solidFill>
                  <a:srgbClr val="003B4F"/>
                </a:solidFill>
                <a:latin typeface="Courier"/>
              </a:rPr>
              <a:t>, </a:t>
            </a:r>
            <a:r>
              <a:rPr>
                <a:solidFill>
                  <a:srgbClr val="20794D"/>
                </a:solidFill>
                <a:latin typeface="Courier"/>
              </a:rPr>
              <a:t>"Maryland"</a:t>
            </a:r>
            <a:r>
              <a:rPr>
                <a:solidFill>
                  <a:srgbClr val="003B4F"/>
                </a:solidFill>
                <a:latin typeface="Courier"/>
              </a:rPr>
              <a:t>: </a:t>
            </a:r>
            <a:r>
              <a:rPr>
                <a:solidFill>
                  <a:srgbClr val="20794D"/>
                </a:solidFill>
                <a:latin typeface="Courier"/>
              </a:rPr>
              <a:t>"MD"</a:t>
            </a:r>
            <a:r>
              <a:rPr>
                <a:solidFill>
                  <a:srgbClr val="003B4F"/>
                </a:solidFill>
                <a:latin typeface="Courier"/>
              </a:rPr>
              <a:t>, </a:t>
            </a:r>
            <a:r>
              <a:rPr>
                <a:solidFill>
                  <a:srgbClr val="20794D"/>
                </a:solidFill>
                <a:latin typeface="Courier"/>
              </a:rPr>
              <a:t>"Massachusetts"</a:t>
            </a:r>
            <a:r>
              <a:rPr>
                <a:solidFill>
                  <a:srgbClr val="003B4F"/>
                </a:solidFill>
                <a:latin typeface="Courier"/>
              </a:rPr>
              <a:t>: </a:t>
            </a:r>
            <a:r>
              <a:rPr>
                <a:solidFill>
                  <a:srgbClr val="20794D"/>
                </a:solidFill>
                <a:latin typeface="Courier"/>
              </a:rPr>
              <a:t>"MA"</a:t>
            </a:r>
            <a:r>
              <a:rPr>
                <a:solidFill>
                  <a:srgbClr val="003B4F"/>
                </a:solidFill>
                <a:latin typeface="Courier"/>
              </a:rPr>
              <a:t>,</a:t>
            </a:r>
            <a:br/>
            <a:r>
              <a:rPr>
                <a:solidFill>
                  <a:srgbClr val="003B4F"/>
                </a:solidFill>
                <a:latin typeface="Courier"/>
              </a:rPr>
              <a:t>    </a:t>
            </a:r>
            <a:r>
              <a:rPr>
                <a:solidFill>
                  <a:srgbClr val="20794D"/>
                </a:solidFill>
                <a:latin typeface="Courier"/>
              </a:rPr>
              <a:t>"Michigan"</a:t>
            </a:r>
            <a:r>
              <a:rPr>
                <a:solidFill>
                  <a:srgbClr val="003B4F"/>
                </a:solidFill>
                <a:latin typeface="Courier"/>
              </a:rPr>
              <a:t>: </a:t>
            </a:r>
            <a:r>
              <a:rPr>
                <a:solidFill>
                  <a:srgbClr val="20794D"/>
                </a:solidFill>
                <a:latin typeface="Courier"/>
              </a:rPr>
              <a:t>"MI"</a:t>
            </a:r>
            <a:r>
              <a:rPr>
                <a:solidFill>
                  <a:srgbClr val="003B4F"/>
                </a:solidFill>
                <a:latin typeface="Courier"/>
              </a:rPr>
              <a:t>, </a:t>
            </a:r>
            <a:r>
              <a:rPr>
                <a:solidFill>
                  <a:srgbClr val="20794D"/>
                </a:solidFill>
                <a:latin typeface="Courier"/>
              </a:rPr>
              <a:t>"Minnesota"</a:t>
            </a:r>
            <a:r>
              <a:rPr>
                <a:solidFill>
                  <a:srgbClr val="003B4F"/>
                </a:solidFill>
                <a:latin typeface="Courier"/>
              </a:rPr>
              <a:t>: </a:t>
            </a:r>
            <a:r>
              <a:rPr>
                <a:solidFill>
                  <a:srgbClr val="20794D"/>
                </a:solidFill>
                <a:latin typeface="Courier"/>
              </a:rPr>
              <a:t>"MN"</a:t>
            </a:r>
            <a:r>
              <a:rPr>
                <a:solidFill>
                  <a:srgbClr val="003B4F"/>
                </a:solidFill>
                <a:latin typeface="Courier"/>
              </a:rPr>
              <a:t>, </a:t>
            </a:r>
            <a:r>
              <a:rPr>
                <a:solidFill>
                  <a:srgbClr val="20794D"/>
                </a:solidFill>
                <a:latin typeface="Courier"/>
              </a:rPr>
              <a:t>"Mississippi"</a:t>
            </a:r>
            <a:r>
              <a:rPr>
                <a:solidFill>
                  <a:srgbClr val="003B4F"/>
                </a:solidFill>
                <a:latin typeface="Courier"/>
              </a:rPr>
              <a:t>: </a:t>
            </a:r>
            <a:r>
              <a:rPr>
                <a:solidFill>
                  <a:srgbClr val="20794D"/>
                </a:solidFill>
                <a:latin typeface="Courier"/>
              </a:rPr>
              <a:t>"MS"</a:t>
            </a:r>
            <a:r>
              <a:rPr>
                <a:solidFill>
                  <a:srgbClr val="003B4F"/>
                </a:solidFill>
                <a:latin typeface="Courier"/>
              </a:rPr>
              <a:t>, </a:t>
            </a:r>
            <a:r>
              <a:rPr>
                <a:solidFill>
                  <a:srgbClr val="20794D"/>
                </a:solidFill>
                <a:latin typeface="Courier"/>
              </a:rPr>
              <a:t>"Missouri"</a:t>
            </a:r>
            <a:r>
              <a:rPr>
                <a:solidFill>
                  <a:srgbClr val="003B4F"/>
                </a:solidFill>
                <a:latin typeface="Courier"/>
              </a:rPr>
              <a:t>: </a:t>
            </a:r>
            <a:r>
              <a:rPr>
                <a:solidFill>
                  <a:srgbClr val="20794D"/>
                </a:solidFill>
                <a:latin typeface="Courier"/>
              </a:rPr>
              <a:t>"MO"</a:t>
            </a:r>
            <a:r>
              <a:rPr>
                <a:solidFill>
                  <a:srgbClr val="003B4F"/>
                </a:solidFill>
                <a:latin typeface="Courier"/>
              </a:rPr>
              <a:t>, </a:t>
            </a:r>
            <a:r>
              <a:rPr>
                <a:solidFill>
                  <a:srgbClr val="20794D"/>
                </a:solidFill>
                <a:latin typeface="Courier"/>
              </a:rPr>
              <a:t>"Montana"</a:t>
            </a:r>
            <a:r>
              <a:rPr>
                <a:solidFill>
                  <a:srgbClr val="003B4F"/>
                </a:solidFill>
                <a:latin typeface="Courier"/>
              </a:rPr>
              <a:t>: </a:t>
            </a:r>
            <a:r>
              <a:rPr>
                <a:solidFill>
                  <a:srgbClr val="20794D"/>
                </a:solidFill>
                <a:latin typeface="Courier"/>
              </a:rPr>
              <a:t>"MT"</a:t>
            </a:r>
            <a:r>
              <a:rPr>
                <a:solidFill>
                  <a:srgbClr val="003B4F"/>
                </a:solidFill>
                <a:latin typeface="Courier"/>
              </a:rPr>
              <a:t>,</a:t>
            </a:r>
            <a:br/>
            <a:r>
              <a:rPr>
                <a:solidFill>
                  <a:srgbClr val="003B4F"/>
                </a:solidFill>
                <a:latin typeface="Courier"/>
              </a:rPr>
              <a:t>    </a:t>
            </a:r>
            <a:r>
              <a:rPr>
                <a:solidFill>
                  <a:srgbClr val="20794D"/>
                </a:solidFill>
                <a:latin typeface="Courier"/>
              </a:rPr>
              <a:t>"Nebraska"</a:t>
            </a:r>
            <a:r>
              <a:rPr>
                <a:solidFill>
                  <a:srgbClr val="003B4F"/>
                </a:solidFill>
                <a:latin typeface="Courier"/>
              </a:rPr>
              <a:t>: </a:t>
            </a:r>
            <a:r>
              <a:rPr>
                <a:solidFill>
                  <a:srgbClr val="20794D"/>
                </a:solidFill>
                <a:latin typeface="Courier"/>
              </a:rPr>
              <a:t>"NE"</a:t>
            </a:r>
            <a:r>
              <a:rPr>
                <a:solidFill>
                  <a:srgbClr val="003B4F"/>
                </a:solidFill>
                <a:latin typeface="Courier"/>
              </a:rPr>
              <a:t>, </a:t>
            </a:r>
            <a:r>
              <a:rPr>
                <a:solidFill>
                  <a:srgbClr val="20794D"/>
                </a:solidFill>
                <a:latin typeface="Courier"/>
              </a:rPr>
              <a:t>"Nevada"</a:t>
            </a:r>
            <a:r>
              <a:rPr>
                <a:solidFill>
                  <a:srgbClr val="003B4F"/>
                </a:solidFill>
                <a:latin typeface="Courier"/>
              </a:rPr>
              <a:t>: </a:t>
            </a:r>
            <a:r>
              <a:rPr>
                <a:solidFill>
                  <a:srgbClr val="20794D"/>
                </a:solidFill>
                <a:latin typeface="Courier"/>
              </a:rPr>
              <a:t>"NV"</a:t>
            </a:r>
            <a:r>
              <a:rPr>
                <a:solidFill>
                  <a:srgbClr val="003B4F"/>
                </a:solidFill>
                <a:latin typeface="Courier"/>
              </a:rPr>
              <a:t>, </a:t>
            </a:r>
            <a:r>
              <a:rPr>
                <a:solidFill>
                  <a:srgbClr val="20794D"/>
                </a:solidFill>
                <a:latin typeface="Courier"/>
              </a:rPr>
              <a:t>"New Hampshire"</a:t>
            </a:r>
            <a:r>
              <a:rPr>
                <a:solidFill>
                  <a:srgbClr val="003B4F"/>
                </a:solidFill>
                <a:latin typeface="Courier"/>
              </a:rPr>
              <a:t>: </a:t>
            </a:r>
            <a:r>
              <a:rPr>
                <a:solidFill>
                  <a:srgbClr val="20794D"/>
                </a:solidFill>
                <a:latin typeface="Courier"/>
              </a:rPr>
              <a:t>"NH"</a:t>
            </a:r>
            <a:r>
              <a:rPr>
                <a:solidFill>
                  <a:srgbClr val="003B4F"/>
                </a:solidFill>
                <a:latin typeface="Courier"/>
              </a:rPr>
              <a:t>, </a:t>
            </a:r>
            <a:r>
              <a:rPr>
                <a:solidFill>
                  <a:srgbClr val="20794D"/>
                </a:solidFill>
                <a:latin typeface="Courier"/>
              </a:rPr>
              <a:t>"New Jersey"</a:t>
            </a:r>
            <a:r>
              <a:rPr>
                <a:solidFill>
                  <a:srgbClr val="003B4F"/>
                </a:solidFill>
                <a:latin typeface="Courier"/>
              </a:rPr>
              <a:t>: </a:t>
            </a:r>
            <a:r>
              <a:rPr>
                <a:solidFill>
                  <a:srgbClr val="20794D"/>
                </a:solidFill>
                <a:latin typeface="Courier"/>
              </a:rPr>
              <a:t>"NJ"</a:t>
            </a:r>
            <a:r>
              <a:rPr>
                <a:solidFill>
                  <a:srgbClr val="003B4F"/>
                </a:solidFill>
                <a:latin typeface="Courier"/>
              </a:rPr>
              <a:t>, </a:t>
            </a:r>
            <a:r>
              <a:rPr>
                <a:solidFill>
                  <a:srgbClr val="20794D"/>
                </a:solidFill>
                <a:latin typeface="Courier"/>
              </a:rPr>
              <a:t>"New Mexico"</a:t>
            </a:r>
            <a:r>
              <a:rPr>
                <a:solidFill>
                  <a:srgbClr val="003B4F"/>
                </a:solidFill>
                <a:latin typeface="Courier"/>
              </a:rPr>
              <a:t>: </a:t>
            </a:r>
            <a:r>
              <a:rPr>
                <a:solidFill>
                  <a:srgbClr val="20794D"/>
                </a:solidFill>
                <a:latin typeface="Courier"/>
              </a:rPr>
              <a:t>"NM"</a:t>
            </a:r>
            <a:r>
              <a:rPr>
                <a:solidFill>
                  <a:srgbClr val="003B4F"/>
                </a:solidFill>
                <a:latin typeface="Courier"/>
              </a:rPr>
              <a:t>,</a:t>
            </a:r>
            <a:br/>
            <a:r>
              <a:rPr>
                <a:solidFill>
                  <a:srgbClr val="003B4F"/>
                </a:solidFill>
                <a:latin typeface="Courier"/>
              </a:rPr>
              <a:t>    </a:t>
            </a:r>
            <a:r>
              <a:rPr>
                <a:solidFill>
                  <a:srgbClr val="20794D"/>
                </a:solidFill>
                <a:latin typeface="Courier"/>
              </a:rPr>
              <a:t>"New York"</a:t>
            </a:r>
            <a:r>
              <a:rPr>
                <a:solidFill>
                  <a:srgbClr val="003B4F"/>
                </a:solidFill>
                <a:latin typeface="Courier"/>
              </a:rPr>
              <a:t>: </a:t>
            </a:r>
            <a:r>
              <a:rPr>
                <a:solidFill>
                  <a:srgbClr val="20794D"/>
                </a:solidFill>
                <a:latin typeface="Courier"/>
              </a:rPr>
              <a:t>"NY"</a:t>
            </a:r>
            <a:r>
              <a:rPr>
                <a:solidFill>
                  <a:srgbClr val="003B4F"/>
                </a:solidFill>
                <a:latin typeface="Courier"/>
              </a:rPr>
              <a:t>, </a:t>
            </a:r>
            <a:r>
              <a:rPr>
                <a:solidFill>
                  <a:srgbClr val="20794D"/>
                </a:solidFill>
                <a:latin typeface="Courier"/>
              </a:rPr>
              <a:t>"North Carolina"</a:t>
            </a:r>
            <a:r>
              <a:rPr>
                <a:solidFill>
                  <a:srgbClr val="003B4F"/>
                </a:solidFill>
                <a:latin typeface="Courier"/>
              </a:rPr>
              <a:t>: </a:t>
            </a:r>
            <a:r>
              <a:rPr>
                <a:solidFill>
                  <a:srgbClr val="20794D"/>
                </a:solidFill>
                <a:latin typeface="Courier"/>
              </a:rPr>
              <a:t>"NC"</a:t>
            </a:r>
            <a:r>
              <a:rPr>
                <a:solidFill>
                  <a:srgbClr val="003B4F"/>
                </a:solidFill>
                <a:latin typeface="Courier"/>
              </a:rPr>
              <a:t>, </a:t>
            </a:r>
            <a:r>
              <a:rPr>
                <a:solidFill>
                  <a:srgbClr val="20794D"/>
                </a:solidFill>
                <a:latin typeface="Courier"/>
              </a:rPr>
              <a:t>"North Dakota"</a:t>
            </a:r>
            <a:r>
              <a:rPr>
                <a:solidFill>
                  <a:srgbClr val="003B4F"/>
                </a:solidFill>
                <a:latin typeface="Courier"/>
              </a:rPr>
              <a:t>: </a:t>
            </a:r>
            <a:r>
              <a:rPr>
                <a:solidFill>
                  <a:srgbClr val="20794D"/>
                </a:solidFill>
                <a:latin typeface="Courier"/>
              </a:rPr>
              <a:t>"ND"</a:t>
            </a:r>
            <a:r>
              <a:rPr>
                <a:solidFill>
                  <a:srgbClr val="003B4F"/>
                </a:solidFill>
                <a:latin typeface="Courier"/>
              </a:rPr>
              <a:t>, </a:t>
            </a:r>
            <a:r>
              <a:rPr>
                <a:solidFill>
                  <a:srgbClr val="20794D"/>
                </a:solidFill>
                <a:latin typeface="Courier"/>
              </a:rPr>
              <a:t>"Ohio"</a:t>
            </a:r>
            <a:r>
              <a:rPr>
                <a:solidFill>
                  <a:srgbClr val="003B4F"/>
                </a:solidFill>
                <a:latin typeface="Courier"/>
              </a:rPr>
              <a:t>: </a:t>
            </a:r>
            <a:r>
              <a:rPr>
                <a:solidFill>
                  <a:srgbClr val="20794D"/>
                </a:solidFill>
                <a:latin typeface="Courier"/>
              </a:rPr>
              <a:t>"OH"</a:t>
            </a:r>
            <a:r>
              <a:rPr>
                <a:solidFill>
                  <a:srgbClr val="003B4F"/>
                </a:solidFill>
                <a:latin typeface="Courier"/>
              </a:rPr>
              <a:t>, </a:t>
            </a:r>
            <a:r>
              <a:rPr>
                <a:solidFill>
                  <a:srgbClr val="20794D"/>
                </a:solidFill>
                <a:latin typeface="Courier"/>
              </a:rPr>
              <a:t>"Oklahoma"</a:t>
            </a:r>
            <a:r>
              <a:rPr>
                <a:solidFill>
                  <a:srgbClr val="003B4F"/>
                </a:solidFill>
                <a:latin typeface="Courier"/>
              </a:rPr>
              <a:t>: </a:t>
            </a:r>
            <a:r>
              <a:rPr>
                <a:solidFill>
                  <a:srgbClr val="20794D"/>
                </a:solidFill>
                <a:latin typeface="Courier"/>
              </a:rPr>
              <a:t>"OK"</a:t>
            </a:r>
            <a:r>
              <a:rPr>
                <a:solidFill>
                  <a:srgbClr val="003B4F"/>
                </a:solidFill>
                <a:latin typeface="Courier"/>
              </a:rPr>
              <a:t>,</a:t>
            </a:r>
            <a:br/>
            <a:r>
              <a:rPr>
                <a:solidFill>
                  <a:srgbClr val="003B4F"/>
                </a:solidFill>
                <a:latin typeface="Courier"/>
              </a:rPr>
              <a:t>    </a:t>
            </a:r>
            <a:r>
              <a:rPr>
                <a:solidFill>
                  <a:srgbClr val="20794D"/>
                </a:solidFill>
                <a:latin typeface="Courier"/>
              </a:rPr>
              <a:t>"Oregon"</a:t>
            </a:r>
            <a:r>
              <a:rPr>
                <a:solidFill>
                  <a:srgbClr val="003B4F"/>
                </a:solidFill>
                <a:latin typeface="Courier"/>
              </a:rPr>
              <a:t>: </a:t>
            </a:r>
            <a:r>
              <a:rPr>
                <a:solidFill>
                  <a:srgbClr val="20794D"/>
                </a:solidFill>
                <a:latin typeface="Courier"/>
              </a:rPr>
              <a:t>"OR"</a:t>
            </a:r>
            <a:r>
              <a:rPr>
                <a:solidFill>
                  <a:srgbClr val="003B4F"/>
                </a:solidFill>
                <a:latin typeface="Courier"/>
              </a:rPr>
              <a:t>, </a:t>
            </a:r>
            <a:r>
              <a:rPr>
                <a:solidFill>
                  <a:srgbClr val="20794D"/>
                </a:solidFill>
                <a:latin typeface="Courier"/>
              </a:rPr>
              <a:t>"Pennsylvania"</a:t>
            </a:r>
            <a:r>
              <a:rPr>
                <a:solidFill>
                  <a:srgbClr val="003B4F"/>
                </a:solidFill>
                <a:latin typeface="Courier"/>
              </a:rPr>
              <a:t>: </a:t>
            </a:r>
            <a:r>
              <a:rPr>
                <a:solidFill>
                  <a:srgbClr val="20794D"/>
                </a:solidFill>
                <a:latin typeface="Courier"/>
              </a:rPr>
              <a:t>"PA"</a:t>
            </a:r>
            <a:r>
              <a:rPr>
                <a:solidFill>
                  <a:srgbClr val="003B4F"/>
                </a:solidFill>
                <a:latin typeface="Courier"/>
              </a:rPr>
              <a:t>, </a:t>
            </a:r>
            <a:r>
              <a:rPr>
                <a:solidFill>
                  <a:srgbClr val="20794D"/>
                </a:solidFill>
                <a:latin typeface="Courier"/>
              </a:rPr>
              <a:t>"Rhode Island"</a:t>
            </a:r>
            <a:r>
              <a:rPr>
                <a:solidFill>
                  <a:srgbClr val="003B4F"/>
                </a:solidFill>
                <a:latin typeface="Courier"/>
              </a:rPr>
              <a:t>: </a:t>
            </a:r>
            <a:r>
              <a:rPr>
                <a:solidFill>
                  <a:srgbClr val="20794D"/>
                </a:solidFill>
                <a:latin typeface="Courier"/>
              </a:rPr>
              <a:t>"RI"</a:t>
            </a:r>
            <a:r>
              <a:rPr>
                <a:solidFill>
                  <a:srgbClr val="003B4F"/>
                </a:solidFill>
                <a:latin typeface="Courier"/>
              </a:rPr>
              <a:t>, </a:t>
            </a:r>
            <a:r>
              <a:rPr>
                <a:solidFill>
                  <a:srgbClr val="20794D"/>
                </a:solidFill>
                <a:latin typeface="Courier"/>
              </a:rPr>
              <a:t>"South Carolina"</a:t>
            </a:r>
            <a:r>
              <a:rPr>
                <a:solidFill>
                  <a:srgbClr val="003B4F"/>
                </a:solidFill>
                <a:latin typeface="Courier"/>
              </a:rPr>
              <a:t>: </a:t>
            </a:r>
            <a:r>
              <a:rPr>
                <a:solidFill>
                  <a:srgbClr val="20794D"/>
                </a:solidFill>
                <a:latin typeface="Courier"/>
              </a:rPr>
              <a:t>"SC"</a:t>
            </a:r>
            <a:r>
              <a:rPr>
                <a:solidFill>
                  <a:srgbClr val="003B4F"/>
                </a:solidFill>
                <a:latin typeface="Courier"/>
              </a:rPr>
              <a:t>, </a:t>
            </a:r>
            <a:r>
              <a:rPr>
                <a:solidFill>
                  <a:srgbClr val="20794D"/>
                </a:solidFill>
                <a:latin typeface="Courier"/>
              </a:rPr>
              <a:t>"South Dakota"</a:t>
            </a:r>
            <a:r>
              <a:rPr>
                <a:solidFill>
                  <a:srgbClr val="003B4F"/>
                </a:solidFill>
                <a:latin typeface="Courier"/>
              </a:rPr>
              <a:t>: </a:t>
            </a:r>
            <a:r>
              <a:rPr>
                <a:solidFill>
                  <a:srgbClr val="20794D"/>
                </a:solidFill>
                <a:latin typeface="Courier"/>
              </a:rPr>
              <a:t>"SD"</a:t>
            </a:r>
            <a:r>
              <a:rPr>
                <a:solidFill>
                  <a:srgbClr val="003B4F"/>
                </a:solidFill>
                <a:latin typeface="Courier"/>
              </a:rPr>
              <a:t>,</a:t>
            </a:r>
            <a:br/>
            <a:r>
              <a:rPr>
                <a:solidFill>
                  <a:srgbClr val="003B4F"/>
                </a:solidFill>
                <a:latin typeface="Courier"/>
              </a:rPr>
              <a:t>    </a:t>
            </a:r>
            <a:r>
              <a:rPr>
                <a:solidFill>
                  <a:srgbClr val="20794D"/>
                </a:solidFill>
                <a:latin typeface="Courier"/>
              </a:rPr>
              <a:t>"Tennessee"</a:t>
            </a:r>
            <a:r>
              <a:rPr>
                <a:solidFill>
                  <a:srgbClr val="003B4F"/>
                </a:solidFill>
                <a:latin typeface="Courier"/>
              </a:rPr>
              <a:t>: </a:t>
            </a:r>
            <a:r>
              <a:rPr>
                <a:solidFill>
                  <a:srgbClr val="20794D"/>
                </a:solidFill>
                <a:latin typeface="Courier"/>
              </a:rPr>
              <a:t>"TN"</a:t>
            </a:r>
            <a:r>
              <a:rPr>
                <a:solidFill>
                  <a:srgbClr val="003B4F"/>
                </a:solidFill>
                <a:latin typeface="Courier"/>
              </a:rPr>
              <a:t>, </a:t>
            </a:r>
            <a:r>
              <a:rPr>
                <a:solidFill>
                  <a:srgbClr val="20794D"/>
                </a:solidFill>
                <a:latin typeface="Courier"/>
              </a:rPr>
              <a:t>"Texas"</a:t>
            </a:r>
            <a:r>
              <a:rPr>
                <a:solidFill>
                  <a:srgbClr val="003B4F"/>
                </a:solidFill>
                <a:latin typeface="Courier"/>
              </a:rPr>
              <a:t>: </a:t>
            </a:r>
            <a:r>
              <a:rPr>
                <a:solidFill>
                  <a:srgbClr val="20794D"/>
                </a:solidFill>
                <a:latin typeface="Courier"/>
              </a:rPr>
              <a:t>"TX"</a:t>
            </a:r>
            <a:r>
              <a:rPr>
                <a:solidFill>
                  <a:srgbClr val="003B4F"/>
                </a:solidFill>
                <a:latin typeface="Courier"/>
              </a:rPr>
              <a:t>, </a:t>
            </a:r>
            <a:r>
              <a:rPr>
                <a:solidFill>
                  <a:srgbClr val="20794D"/>
                </a:solidFill>
                <a:latin typeface="Courier"/>
              </a:rPr>
              <a:t>"Utah"</a:t>
            </a:r>
            <a:r>
              <a:rPr>
                <a:solidFill>
                  <a:srgbClr val="003B4F"/>
                </a:solidFill>
                <a:latin typeface="Courier"/>
              </a:rPr>
              <a:t>: </a:t>
            </a:r>
            <a:r>
              <a:rPr>
                <a:solidFill>
                  <a:srgbClr val="20794D"/>
                </a:solidFill>
                <a:latin typeface="Courier"/>
              </a:rPr>
              <a:t>"UT"</a:t>
            </a:r>
            <a:r>
              <a:rPr>
                <a:solidFill>
                  <a:srgbClr val="003B4F"/>
                </a:solidFill>
                <a:latin typeface="Courier"/>
              </a:rPr>
              <a:t>, </a:t>
            </a:r>
            <a:r>
              <a:rPr>
                <a:solidFill>
                  <a:srgbClr val="20794D"/>
                </a:solidFill>
                <a:latin typeface="Courier"/>
              </a:rPr>
              <a:t>"Vermont"</a:t>
            </a:r>
            <a:r>
              <a:rPr>
                <a:solidFill>
                  <a:srgbClr val="003B4F"/>
                </a:solidFill>
                <a:latin typeface="Courier"/>
              </a:rPr>
              <a:t>: </a:t>
            </a:r>
            <a:r>
              <a:rPr>
                <a:solidFill>
                  <a:srgbClr val="20794D"/>
                </a:solidFill>
                <a:latin typeface="Courier"/>
              </a:rPr>
              <a:t>"VT"</a:t>
            </a:r>
            <a:r>
              <a:rPr>
                <a:solidFill>
                  <a:srgbClr val="003B4F"/>
                </a:solidFill>
                <a:latin typeface="Courier"/>
              </a:rPr>
              <a:t>, </a:t>
            </a:r>
            <a:r>
              <a:rPr>
                <a:solidFill>
                  <a:srgbClr val="20794D"/>
                </a:solidFill>
                <a:latin typeface="Courier"/>
              </a:rPr>
              <a:t>"Virginia"</a:t>
            </a:r>
            <a:r>
              <a:rPr>
                <a:solidFill>
                  <a:srgbClr val="003B4F"/>
                </a:solidFill>
                <a:latin typeface="Courier"/>
              </a:rPr>
              <a:t>: </a:t>
            </a:r>
            <a:r>
              <a:rPr>
                <a:solidFill>
                  <a:srgbClr val="20794D"/>
                </a:solidFill>
                <a:latin typeface="Courier"/>
              </a:rPr>
              <a:t>"VA"</a:t>
            </a:r>
            <a:r>
              <a:rPr>
                <a:solidFill>
                  <a:srgbClr val="003B4F"/>
                </a:solidFill>
                <a:latin typeface="Courier"/>
              </a:rPr>
              <a:t>,</a:t>
            </a:r>
            <a:br/>
            <a:r>
              <a:rPr>
                <a:solidFill>
                  <a:srgbClr val="003B4F"/>
                </a:solidFill>
                <a:latin typeface="Courier"/>
              </a:rPr>
              <a:t>    </a:t>
            </a:r>
            <a:r>
              <a:rPr>
                <a:solidFill>
                  <a:srgbClr val="20794D"/>
                </a:solidFill>
                <a:latin typeface="Courier"/>
              </a:rPr>
              <a:t>"Washington"</a:t>
            </a:r>
            <a:r>
              <a:rPr>
                <a:solidFill>
                  <a:srgbClr val="003B4F"/>
                </a:solidFill>
                <a:latin typeface="Courier"/>
              </a:rPr>
              <a:t>: </a:t>
            </a:r>
            <a:r>
              <a:rPr>
                <a:solidFill>
                  <a:srgbClr val="20794D"/>
                </a:solidFill>
                <a:latin typeface="Courier"/>
              </a:rPr>
              <a:t>"WA"</a:t>
            </a:r>
            <a:r>
              <a:rPr>
                <a:solidFill>
                  <a:srgbClr val="003B4F"/>
                </a:solidFill>
                <a:latin typeface="Courier"/>
              </a:rPr>
              <a:t>, </a:t>
            </a:r>
            <a:r>
              <a:rPr>
                <a:solidFill>
                  <a:srgbClr val="20794D"/>
                </a:solidFill>
                <a:latin typeface="Courier"/>
              </a:rPr>
              <a:t>"West Virginia"</a:t>
            </a:r>
            <a:r>
              <a:rPr>
                <a:solidFill>
                  <a:srgbClr val="003B4F"/>
                </a:solidFill>
                <a:latin typeface="Courier"/>
              </a:rPr>
              <a:t>: </a:t>
            </a:r>
            <a:r>
              <a:rPr>
                <a:solidFill>
                  <a:srgbClr val="20794D"/>
                </a:solidFill>
                <a:latin typeface="Courier"/>
              </a:rPr>
              <a:t>"WV"</a:t>
            </a:r>
            <a:r>
              <a:rPr>
                <a:solidFill>
                  <a:srgbClr val="003B4F"/>
                </a:solidFill>
                <a:latin typeface="Courier"/>
              </a:rPr>
              <a:t>, </a:t>
            </a:r>
            <a:r>
              <a:rPr>
                <a:solidFill>
                  <a:srgbClr val="20794D"/>
                </a:solidFill>
                <a:latin typeface="Courier"/>
              </a:rPr>
              <a:t>"Wisconsin"</a:t>
            </a:r>
            <a:r>
              <a:rPr>
                <a:solidFill>
                  <a:srgbClr val="003B4F"/>
                </a:solidFill>
                <a:latin typeface="Courier"/>
              </a:rPr>
              <a:t>: </a:t>
            </a:r>
            <a:r>
              <a:rPr>
                <a:solidFill>
                  <a:srgbClr val="20794D"/>
                </a:solidFill>
                <a:latin typeface="Courier"/>
              </a:rPr>
              <a:t>"WI"</a:t>
            </a:r>
            <a:r>
              <a:rPr>
                <a:solidFill>
                  <a:srgbClr val="003B4F"/>
                </a:solidFill>
                <a:latin typeface="Courier"/>
              </a:rPr>
              <a:t>, </a:t>
            </a:r>
            <a:r>
              <a:rPr>
                <a:solidFill>
                  <a:srgbClr val="20794D"/>
                </a:solidFill>
                <a:latin typeface="Courier"/>
              </a:rPr>
              <a:t>"Wyoming"</a:t>
            </a:r>
            <a:r>
              <a:rPr>
                <a:solidFill>
                  <a:srgbClr val="003B4F"/>
                </a:solidFill>
                <a:latin typeface="Courier"/>
              </a:rPr>
              <a:t>: </a:t>
            </a:r>
            <a:r>
              <a:rPr>
                <a:solidFill>
                  <a:srgbClr val="20794D"/>
                </a:solidFill>
                <a:latin typeface="Courier"/>
              </a:rPr>
              <a:t>"WY"</a:t>
            </a:r>
            <a:br/>
            <a:r>
              <a:rPr>
                <a:solidFill>
                  <a:srgbClr val="003B4F"/>
                </a:solidFill>
                <a:latin typeface="Courier"/>
              </a:rPr>
              <a:t>}</a:t>
            </a:r>
            <a:br/>
            <a:br/>
            <a:r>
              <a:rPr>
                <a:solidFill>
                  <a:srgbClr val="003B4F"/>
                </a:solidFill>
                <a:latin typeface="Courier"/>
              </a:rPr>
              <a:t>state_job_counts[</a:t>
            </a:r>
            <a:r>
              <a:rPr>
                <a:solidFill>
                  <a:srgbClr val="20794D"/>
                </a:solidFill>
                <a:latin typeface="Courier"/>
              </a:rPr>
              <a:t>"STATE_ABBR"</a:t>
            </a:r>
            <a:r>
              <a:rPr>
                <a:solidFill>
                  <a:srgbClr val="003B4F"/>
                </a:solidFill>
                <a:latin typeface="Courier"/>
              </a:rPr>
              <a:t>] </a:t>
            </a:r>
            <a:r>
              <a:rPr>
                <a:solidFill>
                  <a:srgbClr val="5E5E5E"/>
                </a:solidFill>
                <a:latin typeface="Courier"/>
              </a:rPr>
              <a:t>=</a:t>
            </a:r>
            <a:r>
              <a:rPr>
                <a:solidFill>
                  <a:srgbClr val="003B4F"/>
                </a:solidFill>
                <a:latin typeface="Courier"/>
              </a:rPr>
              <a:t> state_job_counts[</a:t>
            </a:r>
            <a:r>
              <a:rPr>
                <a:solidFill>
                  <a:srgbClr val="20794D"/>
                </a:solidFill>
                <a:latin typeface="Courier"/>
              </a:rPr>
              <a:t>"STATE_NAME"</a:t>
            </a:r>
            <a:r>
              <a:rPr>
                <a:solidFill>
                  <a:srgbClr val="003B4F"/>
                </a:solidFill>
                <a:latin typeface="Courier"/>
              </a:rPr>
              <a:t>].map(state_abbrev)</a:t>
            </a:r>
            <a:br/>
            <a:br/>
            <a:r>
              <a:rPr>
                <a:solidFill>
                  <a:srgbClr val="003B4F"/>
                </a:solidFill>
                <a:latin typeface="Courier"/>
              </a:rPr>
              <a:t>fig2 </a:t>
            </a:r>
            <a:r>
              <a:rPr>
                <a:solidFill>
                  <a:srgbClr val="5E5E5E"/>
                </a:solidFill>
                <a:latin typeface="Courier"/>
              </a:rPr>
              <a:t>=</a:t>
            </a:r>
            <a:r>
              <a:rPr>
                <a:solidFill>
                  <a:srgbClr val="003B4F"/>
                </a:solidFill>
                <a:latin typeface="Courier"/>
              </a:rPr>
              <a:t> px.choropleth(</a:t>
            </a:r>
            <a:br/>
            <a:r>
              <a:rPr>
                <a:solidFill>
                  <a:srgbClr val="003B4F"/>
                </a:solidFill>
                <a:latin typeface="Courier"/>
              </a:rPr>
              <a:t>    state_job_counts,</a:t>
            </a:r>
            <a:br/>
            <a:r>
              <a:rPr>
                <a:solidFill>
                  <a:srgbClr val="003B4F"/>
                </a:solidFill>
                <a:latin typeface="Courier"/>
              </a:rPr>
              <a:t>    locations</a:t>
            </a:r>
            <a:r>
              <a:rPr>
                <a:solidFill>
                  <a:srgbClr val="5E5E5E"/>
                </a:solidFill>
                <a:latin typeface="Courier"/>
              </a:rPr>
              <a:t>=</a:t>
            </a:r>
            <a:r>
              <a:rPr>
                <a:solidFill>
                  <a:srgbClr val="20794D"/>
                </a:solidFill>
                <a:latin typeface="Courier"/>
              </a:rPr>
              <a:t>"STATE_ABBR"</a:t>
            </a:r>
            <a:r>
              <a:rPr>
                <a:solidFill>
                  <a:srgbClr val="003B4F"/>
                </a:solidFill>
                <a:latin typeface="Courier"/>
              </a:rPr>
              <a:t>,</a:t>
            </a:r>
            <a:br/>
            <a:r>
              <a:rPr>
                <a:solidFill>
                  <a:srgbClr val="003B4F"/>
                </a:solidFill>
                <a:latin typeface="Courier"/>
              </a:rPr>
              <a:t>    locationmode</a:t>
            </a:r>
            <a:r>
              <a:rPr>
                <a:solidFill>
                  <a:srgbClr val="5E5E5E"/>
                </a:solidFill>
                <a:latin typeface="Courier"/>
              </a:rPr>
              <a:t>=</a:t>
            </a:r>
            <a:r>
              <a:rPr>
                <a:solidFill>
                  <a:srgbClr val="20794D"/>
                </a:solidFill>
                <a:latin typeface="Courier"/>
              </a:rPr>
              <a:t>"USA-states"</a:t>
            </a:r>
            <a:r>
              <a:rPr>
                <a:solidFill>
                  <a:srgbClr val="003B4F"/>
                </a:solidFill>
                <a:latin typeface="Courier"/>
              </a:rPr>
              <a:t>,</a:t>
            </a:r>
            <a:br/>
            <a:r>
              <a:rPr>
                <a:solidFill>
                  <a:srgbClr val="003B4F"/>
                </a:solidFill>
                <a:latin typeface="Courier"/>
              </a:rPr>
              <a:t>    color</a:t>
            </a:r>
            <a:r>
              <a:rPr>
                <a:solidFill>
                  <a:srgbClr val="5E5E5E"/>
                </a:solidFill>
                <a:latin typeface="Courier"/>
              </a:rPr>
              <a:t>=</a:t>
            </a:r>
            <a:r>
              <a:rPr>
                <a:solidFill>
                  <a:srgbClr val="20794D"/>
                </a:solidFill>
                <a:latin typeface="Courier"/>
              </a:rPr>
              <a:t>"AI_JOB_COUNT"</a:t>
            </a:r>
            <a:r>
              <a:rPr>
                <a:solidFill>
                  <a:srgbClr val="003B4F"/>
                </a:solidFill>
                <a:latin typeface="Courier"/>
              </a:rPr>
              <a:t>,</a:t>
            </a:r>
            <a:br/>
            <a:r>
              <a:rPr>
                <a:solidFill>
                  <a:srgbClr val="003B4F"/>
                </a:solidFill>
                <a:latin typeface="Courier"/>
              </a:rPr>
              <a:t>    hover_name</a:t>
            </a:r>
            <a:r>
              <a:rPr>
                <a:solidFill>
                  <a:srgbClr val="5E5E5E"/>
                </a:solidFill>
                <a:latin typeface="Courier"/>
              </a:rPr>
              <a:t>=</a:t>
            </a:r>
            <a:r>
              <a:rPr>
                <a:solidFill>
                  <a:srgbClr val="20794D"/>
                </a:solidFill>
                <a:latin typeface="Courier"/>
              </a:rPr>
              <a:t>"STATE_NAME"</a:t>
            </a:r>
            <a:r>
              <a:rPr>
                <a:solidFill>
                  <a:srgbClr val="003B4F"/>
                </a:solidFill>
                <a:latin typeface="Courier"/>
              </a:rPr>
              <a:t>,</a:t>
            </a:r>
            <a:br/>
            <a:r>
              <a:rPr>
                <a:solidFill>
                  <a:srgbClr val="003B4F"/>
                </a:solidFill>
                <a:latin typeface="Courier"/>
              </a:rPr>
              <a:t>    color_continuous_scale</a:t>
            </a:r>
            <a:r>
              <a:rPr>
                <a:solidFill>
                  <a:srgbClr val="5E5E5E"/>
                </a:solidFill>
                <a:latin typeface="Courier"/>
              </a:rPr>
              <a:t>=</a:t>
            </a:r>
            <a:r>
              <a:rPr>
                <a:solidFill>
                  <a:srgbClr val="20794D"/>
                </a:solidFill>
                <a:latin typeface="Courier"/>
              </a:rPr>
              <a:t>"Blues"</a:t>
            </a:r>
            <a:r>
              <a:rPr>
                <a:solidFill>
                  <a:srgbClr val="003B4F"/>
                </a:solidFill>
                <a:latin typeface="Courier"/>
              </a:rPr>
              <a:t>,</a:t>
            </a:r>
            <a:br/>
            <a:r>
              <a:rPr>
                <a:solidFill>
                  <a:srgbClr val="003B4F"/>
                </a:solidFill>
                <a:latin typeface="Courier"/>
              </a:rPr>
              <a:t>    range_color</a:t>
            </a:r>
            <a:r>
              <a:rPr>
                <a:solidFill>
                  <a:srgbClr val="5E5E5E"/>
                </a:solidFill>
                <a:latin typeface="Courier"/>
              </a:rPr>
              <a:t>=</a:t>
            </a:r>
            <a:r>
              <a:rPr>
                <a:solidFill>
                  <a:srgbClr val="003B4F"/>
                </a:solidFill>
                <a:latin typeface="Courier"/>
              </a:rPr>
              <a:t>(</a:t>
            </a:r>
            <a:r>
              <a:rPr>
                <a:solidFill>
                  <a:srgbClr val="AD0000"/>
                </a:solidFill>
                <a:latin typeface="Courier"/>
              </a:rPr>
              <a:t>1</a:t>
            </a:r>
            <a:r>
              <a:rPr>
                <a:solidFill>
                  <a:srgbClr val="003B4F"/>
                </a:solidFill>
                <a:latin typeface="Courier"/>
              </a:rPr>
              <a:t>, state_job_counts[</a:t>
            </a:r>
            <a:r>
              <a:rPr>
                <a:solidFill>
                  <a:srgbClr val="20794D"/>
                </a:solidFill>
                <a:latin typeface="Courier"/>
              </a:rPr>
              <a:t>"AI_JOB_COUNT"</a:t>
            </a:r>
            <a:r>
              <a:rPr>
                <a:solidFill>
                  <a:srgbClr val="003B4F"/>
                </a:solidFill>
                <a:latin typeface="Courier"/>
              </a:rPr>
              <a:t>].max()),</a:t>
            </a:r>
            <a:br/>
            <a:r>
              <a:rPr>
                <a:solidFill>
                  <a:srgbClr val="003B4F"/>
                </a:solidFill>
                <a:latin typeface="Courier"/>
              </a:rPr>
              <a:t>    title</a:t>
            </a:r>
            <a:r>
              <a:rPr>
                <a:solidFill>
                  <a:srgbClr val="5E5E5E"/>
                </a:solidFill>
                <a:latin typeface="Courier"/>
              </a:rPr>
              <a:t>=</a:t>
            </a:r>
            <a:r>
              <a:rPr>
                <a:solidFill>
                  <a:srgbClr val="20794D"/>
                </a:solidFill>
                <a:latin typeface="Courier"/>
              </a:rPr>
              <a:t>"AI Job Market Trends Across US States"</a:t>
            </a:r>
            <a:r>
              <a:rPr>
                <a:solidFill>
                  <a:srgbClr val="003B4F"/>
                </a:solidFill>
                <a:latin typeface="Courier"/>
              </a:rPr>
              <a:t>,</a:t>
            </a:r>
            <a:br/>
            <a:r>
              <a:rPr>
                <a:solidFill>
                  <a:srgbClr val="003B4F"/>
                </a:solidFill>
                <a:latin typeface="Courier"/>
              </a:rPr>
              <a:t>    scope</a:t>
            </a:r>
            <a:r>
              <a:rPr>
                <a:solidFill>
                  <a:srgbClr val="5E5E5E"/>
                </a:solidFill>
                <a:latin typeface="Courier"/>
              </a:rPr>
              <a:t>=</a:t>
            </a:r>
            <a:r>
              <a:rPr>
                <a:solidFill>
                  <a:srgbClr val="20794D"/>
                </a:solidFill>
                <a:latin typeface="Courier"/>
              </a:rPr>
              <a:t>"usa"</a:t>
            </a:r>
            <a:br/>
            <a:r>
              <a:rPr>
                <a:solidFill>
                  <a:srgbClr val="003B4F"/>
                </a:solidFill>
                <a:latin typeface="Courier"/>
              </a:rPr>
              <a:t>)</a:t>
            </a:r>
            <a:br/>
            <a:br/>
            <a:r>
              <a:rPr>
                <a:solidFill>
                  <a:srgbClr val="003B4F"/>
                </a:solidFill>
                <a:latin typeface="Courier"/>
              </a:rPr>
              <a:t>pio.renderers.default </a:t>
            </a:r>
            <a:r>
              <a:rPr>
                <a:solidFill>
                  <a:srgbClr val="5E5E5E"/>
                </a:solidFill>
                <a:latin typeface="Courier"/>
              </a:rPr>
              <a:t>=</a:t>
            </a:r>
            <a:r>
              <a:rPr>
                <a:solidFill>
                  <a:srgbClr val="003B4F"/>
                </a:solidFill>
                <a:latin typeface="Courier"/>
              </a:rPr>
              <a:t> </a:t>
            </a:r>
            <a:r>
              <a:rPr>
                <a:solidFill>
                  <a:srgbClr val="20794D"/>
                </a:solidFill>
                <a:latin typeface="Courier"/>
              </a:rPr>
              <a:t>"iframe"</a:t>
            </a:r>
            <a:br/>
            <a:r>
              <a:rPr>
                <a:solidFill>
                  <a:srgbClr val="003B4F"/>
                </a:solidFill>
                <a:latin typeface="Courier"/>
              </a:rPr>
              <a:t>fig2.write_html(</a:t>
            </a:r>
            <a:r>
              <a:rPr>
                <a:solidFill>
                  <a:srgbClr val="20794D"/>
                </a:solidFill>
                <a:latin typeface="Courier"/>
              </a:rPr>
              <a:t>"plotly_ai_jobs_chart.html"</a:t>
            </a:r>
            <a:r>
              <a:rPr>
                <a:solidFill>
                  <a:srgbClr val="003B4F"/>
                </a:solidFill>
                <a:latin typeface="Courier"/>
              </a:rPr>
              <a:t>)</a:t>
            </a:r>
            <a:br/>
            <a:r>
              <a:rPr>
                <a:solidFill>
                  <a:srgbClr val="003B4F"/>
                </a:solidFill>
                <a:latin typeface="Courier"/>
              </a:rPr>
              <a:t>fig2.show()</a:t>
            </a:r>
          </a:p>
          <a:p>
            <a:pPr lvl="0" indent="0">
              <a:buNone/>
            </a:pPr>
            <a:r>
              <a:rPr>
                <a:latin typeface="Courier"/>
              </a:rPr>
              <a:t>Unable to display output for mime type(s): text/html</a:t>
            </a:r>
          </a:p>
          <a:p>
            <a:pPr lvl="0" indent="0" marL="0">
              <a:buNone/>
            </a:pPr>
            <a:r>
              <a:rPr/>
              <a:t>The heatmap highlights AI job market trends across U.S. states, with California, Texas, and New York leading in AI-driven job opportunities. This reflects the dominance of Silicon Valley, AI research hubs, and fintech industries. Other states, such as Massachusetts and Illinois, are also seeing a rise in AI-related roles due to innovation in healthcare and enterprise automation.</a:t>
            </a:r>
          </a:p>
          <a:p>
            <a:pPr lvl="0" indent="0" marL="0">
              <a:buNone/>
            </a:pPr>
            <a:r>
              <a:rPr/>
              <a:t>For those pursuing an AI career, it is beneficial to target tech hubs and remote AI opportunities. High-demand skills include Machine Learning, Deep Learning, NLP, and Big Data Technologies (Hadoop, Spark, TensorFlow, PyTorch). Certifications such as AWS AI/ML, TensorFlow Developer, or Microsoft AI Engineer can boost job prospects.</a:t>
            </a:r>
          </a:p>
          <a:p>
            <a:pPr lvl="0" indent="0" marL="0">
              <a:buNone/>
            </a:pPr>
            <a:r>
              <a:rPr/>
              <a:t>Career growth in AI follows a clear trajectory. Entry-level professionals start as AI Analysts or Junior Machine Learning Engineers, progressing to roles like AI Research Scientist, NLP Engineer, or AI Consultant. Industries with the highest AI adoption include finance, healthcare, automation, and robotics, making this a lucrative field for long-term career development.</a:t>
            </a:r>
          </a:p>
          <a:p>
            <a:pPr lvl="0" indent="0">
              <a:buNone/>
            </a:pPr>
            <a:r>
              <a:rPr>
                <a:solidFill>
                  <a:srgbClr val="5E5E5E"/>
                </a:solidFill>
                <a:latin typeface="Courier"/>
              </a:rPr>
              <a:t># Generate synthetic data</a:t>
            </a:r>
            <a:br/>
            <a:r>
              <a:rPr>
                <a:solidFill>
                  <a:srgbClr val="003B4F"/>
                </a:solidFill>
                <a:latin typeface="Courier"/>
              </a:rPr>
              <a:t>np.random.seed(</a:t>
            </a:r>
            <a:r>
              <a:rPr>
                <a:solidFill>
                  <a:srgbClr val="AD0000"/>
                </a:solidFill>
                <a:latin typeface="Courier"/>
              </a:rPr>
              <a:t>42</a:t>
            </a:r>
            <a:r>
              <a:rPr>
                <a:solidFill>
                  <a:srgbClr val="003B4F"/>
                </a:solidFill>
                <a:latin typeface="Courier"/>
              </a:rPr>
              <a:t>)</a:t>
            </a:r>
            <a:br/>
            <a:r>
              <a:rPr>
                <a:solidFill>
                  <a:srgbClr val="003B4F"/>
                </a:solidFill>
                <a:latin typeface="Courier"/>
              </a:rPr>
              <a:t>num_rows </a:t>
            </a:r>
            <a:r>
              <a:rPr>
                <a:solidFill>
                  <a:srgbClr val="5E5E5E"/>
                </a:solidFill>
                <a:latin typeface="Courier"/>
              </a:rPr>
              <a:t>=</a:t>
            </a:r>
            <a:r>
              <a:rPr>
                <a:solidFill>
                  <a:srgbClr val="003B4F"/>
                </a:solidFill>
                <a:latin typeface="Courier"/>
              </a:rPr>
              <a:t> </a:t>
            </a:r>
            <a:r>
              <a:rPr>
                <a:solidFill>
                  <a:srgbClr val="AD0000"/>
                </a:solidFill>
                <a:latin typeface="Courier"/>
              </a:rPr>
              <a:t>1000</a:t>
            </a:r>
            <a:br/>
            <a:br/>
            <a:r>
              <a:rPr>
                <a:solidFill>
                  <a:srgbClr val="003B4F"/>
                </a:solidFill>
                <a:latin typeface="Courier"/>
              </a:rPr>
              <a:t>data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20794D"/>
                </a:solidFill>
                <a:latin typeface="Courier"/>
              </a:rPr>
              <a:t>"ID"</a:t>
            </a:r>
            <a:r>
              <a:rPr>
                <a:solidFill>
                  <a:srgbClr val="003B4F"/>
                </a:solidFill>
                <a:latin typeface="Courier"/>
              </a:rPr>
              <a:t>: [</a:t>
            </a:r>
            <a:r>
              <a:rPr>
                <a:solidFill>
                  <a:srgbClr val="20794D"/>
                </a:solidFill>
                <a:latin typeface="Courier"/>
              </a:rPr>
              <a:t>f"id_</a:t>
            </a:r>
            <a:r>
              <a:rPr>
                <a:solidFill>
                  <a:srgbClr val="5E5E5E"/>
                </a:solidFill>
                <a:latin typeface="Courier"/>
              </a:rPr>
              <a:t>{</a:t>
            </a:r>
            <a:r>
              <a:rPr>
                <a:solidFill>
                  <a:srgbClr val="003B4F"/>
                </a:solidFill>
                <a:latin typeface="Courier"/>
              </a:rPr>
              <a:t>i</a:t>
            </a:r>
            <a:r>
              <a:rPr>
                <a:solidFill>
                  <a:srgbClr val="5E5E5E"/>
                </a:solidFill>
                <a:latin typeface="Courier"/>
              </a:rPr>
              <a:t>}</a:t>
            </a:r>
            <a:r>
              <a:rPr>
                <a:solidFill>
                  <a:srgbClr val="20794D"/>
                </a:solidFill>
                <a:latin typeface="Courier"/>
              </a:rPr>
              <a:t>"</a:t>
            </a:r>
            <a:r>
              <a:rPr>
                <a:solidFill>
                  <a:srgbClr val="003B4F"/>
                </a:solidFill>
                <a:latin typeface="Courier"/>
              </a:rPr>
              <a:t> </a:t>
            </a:r>
            <a:r>
              <a:rPr b="1">
                <a:solidFill>
                  <a:srgbClr val="003B4F"/>
                </a:solidFill>
                <a:latin typeface="Courier"/>
              </a:rPr>
              <a:t>for</a:t>
            </a:r>
            <a:r>
              <a:rPr>
                <a:solidFill>
                  <a:srgbClr val="003B4F"/>
                </a:solidFill>
                <a:latin typeface="Courier"/>
              </a:rPr>
              <a:t> i </a:t>
            </a:r>
            <a:r>
              <a:rPr b="1">
                <a:solidFill>
                  <a:srgbClr val="003B4F"/>
                </a:solidFill>
                <a:latin typeface="Courier"/>
              </a:rPr>
              <a:t>in</a:t>
            </a:r>
            <a:r>
              <a:rPr>
                <a:solidFill>
                  <a:srgbClr val="003B4F"/>
                </a:solidFill>
                <a:latin typeface="Courier"/>
              </a:rPr>
              <a:t> range(num_rows)],</a:t>
            </a:r>
            <a:br/>
            <a:r>
              <a:rPr>
                <a:solidFill>
                  <a:srgbClr val="003B4F"/>
                </a:solidFill>
                <a:latin typeface="Courier"/>
              </a:rPr>
              <a:t>    </a:t>
            </a:r>
            <a:r>
              <a:rPr>
                <a:solidFill>
                  <a:srgbClr val="20794D"/>
                </a:solidFill>
                <a:latin typeface="Courier"/>
              </a:rPr>
              <a:t>"TITLE_NAME"</a:t>
            </a:r>
            <a:r>
              <a:rPr>
                <a:solidFill>
                  <a:srgbClr val="003B4F"/>
                </a:solidFill>
                <a:latin typeface="Courier"/>
              </a:rPr>
              <a:t>: np.random.choice(</a:t>
            </a:r>
            <a:br/>
            <a:r>
              <a:rPr>
                <a:solidFill>
                  <a:srgbClr val="003B4F"/>
                </a:solidFill>
                <a:latin typeface="Courier"/>
              </a:rPr>
              <a:t>        [</a:t>
            </a:r>
            <a:r>
              <a:rPr>
                <a:solidFill>
                  <a:srgbClr val="20794D"/>
                </a:solidFill>
                <a:latin typeface="Courier"/>
              </a:rPr>
              <a:t>"Data Analyst"</a:t>
            </a:r>
            <a:r>
              <a:rPr>
                <a:solidFill>
                  <a:srgbClr val="003B4F"/>
                </a:solidFill>
                <a:latin typeface="Courier"/>
              </a:rPr>
              <a:t>, </a:t>
            </a:r>
            <a:r>
              <a:rPr>
                <a:solidFill>
                  <a:srgbClr val="20794D"/>
                </a:solidFill>
                <a:latin typeface="Courier"/>
              </a:rPr>
              <a:t>"Software Engineer"</a:t>
            </a:r>
            <a:r>
              <a:rPr>
                <a:solidFill>
                  <a:srgbClr val="003B4F"/>
                </a:solidFill>
                <a:latin typeface="Courier"/>
              </a:rPr>
              <a:t>, </a:t>
            </a:r>
            <a:r>
              <a:rPr>
                <a:solidFill>
                  <a:srgbClr val="20794D"/>
                </a:solidFill>
                <a:latin typeface="Courier"/>
              </a:rPr>
              <a:t>"AI Specialist"</a:t>
            </a:r>
            <a:r>
              <a:rPr>
                <a:solidFill>
                  <a:srgbClr val="003B4F"/>
                </a:solidFill>
                <a:latin typeface="Courier"/>
              </a:rPr>
              <a:t>, </a:t>
            </a:r>
            <a:r>
              <a:rPr>
                <a:solidFill>
                  <a:srgbClr val="20794D"/>
                </a:solidFill>
                <a:latin typeface="Courier"/>
              </a:rPr>
              <a:t>"Retail Manager"</a:t>
            </a:r>
            <a:r>
              <a:rPr>
                <a:solidFill>
                  <a:srgbClr val="003B4F"/>
                </a:solidFill>
                <a:latin typeface="Courier"/>
              </a:rPr>
              <a:t>, </a:t>
            </a:r>
            <a:r>
              <a:rPr>
                <a:solidFill>
                  <a:srgbClr val="20794D"/>
                </a:solidFill>
                <a:latin typeface="Courier"/>
              </a:rPr>
              <a:t>"Mechanical Engineer"</a:t>
            </a:r>
            <a:r>
              <a:rPr>
                <a:solidFill>
                  <a:srgbClr val="003B4F"/>
                </a:solidFill>
                <a:latin typeface="Courier"/>
              </a:rPr>
              <a:t>], </a:t>
            </a:r>
            <a:br/>
            <a:r>
              <a:rPr>
                <a:solidFill>
                  <a:srgbClr val="003B4F"/>
                </a:solidFill>
                <a:latin typeface="Courier"/>
              </a:rPr>
              <a:t>        num_rows</a:t>
            </a:r>
            <a:br/>
            <a:r>
              <a:rPr>
                <a:solidFill>
                  <a:srgbClr val="003B4F"/>
                </a:solidFill>
                <a:latin typeface="Courier"/>
              </a:rPr>
              <a:t>    ),</a:t>
            </a:r>
            <a:br/>
            <a:r>
              <a:rPr>
                <a:solidFill>
                  <a:srgbClr val="003B4F"/>
                </a:solidFill>
                <a:latin typeface="Courier"/>
              </a:rPr>
              <a:t>    </a:t>
            </a:r>
            <a:r>
              <a:rPr>
                <a:solidFill>
                  <a:srgbClr val="20794D"/>
                </a:solidFill>
                <a:latin typeface="Courier"/>
              </a:rPr>
              <a:t>"NAICS2_NAME"</a:t>
            </a:r>
            <a:r>
              <a:rPr>
                <a:solidFill>
                  <a:srgbClr val="003B4F"/>
                </a:solidFill>
                <a:latin typeface="Courier"/>
              </a:rPr>
              <a:t>: np.random.choice(</a:t>
            </a:r>
            <a:br/>
            <a:r>
              <a:rPr>
                <a:solidFill>
                  <a:srgbClr val="003B4F"/>
                </a:solidFill>
                <a:latin typeface="Courier"/>
              </a:rPr>
              <a:t>        [</a:t>
            </a:r>
            <a:r>
              <a:rPr>
                <a:solidFill>
                  <a:srgbClr val="20794D"/>
                </a:solidFill>
                <a:latin typeface="Courier"/>
              </a:rPr>
              <a:t>"Information Technology"</a:t>
            </a:r>
            <a:r>
              <a:rPr>
                <a:solidFill>
                  <a:srgbClr val="003B4F"/>
                </a:solidFill>
                <a:latin typeface="Courier"/>
              </a:rPr>
              <a:t>, </a:t>
            </a:r>
            <a:r>
              <a:rPr>
                <a:solidFill>
                  <a:srgbClr val="20794D"/>
                </a:solidFill>
                <a:latin typeface="Courier"/>
              </a:rPr>
              <a:t>"Retail"</a:t>
            </a:r>
            <a:r>
              <a:rPr>
                <a:solidFill>
                  <a:srgbClr val="003B4F"/>
                </a:solidFill>
                <a:latin typeface="Courier"/>
              </a:rPr>
              <a:t>, </a:t>
            </a:r>
            <a:r>
              <a:rPr>
                <a:solidFill>
                  <a:srgbClr val="20794D"/>
                </a:solidFill>
                <a:latin typeface="Courier"/>
              </a:rPr>
              <a:t>"Manufacturing"</a:t>
            </a:r>
            <a:r>
              <a:rPr>
                <a:solidFill>
                  <a:srgbClr val="003B4F"/>
                </a:solidFill>
                <a:latin typeface="Courier"/>
              </a:rPr>
              <a:t>, </a:t>
            </a:r>
            <a:r>
              <a:rPr>
                <a:solidFill>
                  <a:srgbClr val="20794D"/>
                </a:solidFill>
                <a:latin typeface="Courier"/>
              </a:rPr>
              <a:t>"Healthcare"</a:t>
            </a:r>
            <a:r>
              <a:rPr>
                <a:solidFill>
                  <a:srgbClr val="003B4F"/>
                </a:solidFill>
                <a:latin typeface="Courier"/>
              </a:rPr>
              <a:t>, </a:t>
            </a:r>
            <a:r>
              <a:rPr>
                <a:solidFill>
                  <a:srgbClr val="20794D"/>
                </a:solidFill>
                <a:latin typeface="Courier"/>
              </a:rPr>
              <a:t>"Finance"</a:t>
            </a:r>
            <a:r>
              <a:rPr>
                <a:solidFill>
                  <a:srgbClr val="003B4F"/>
                </a:solidFill>
                <a:latin typeface="Courier"/>
              </a:rPr>
              <a:t>], </a:t>
            </a:r>
            <a:br/>
            <a:r>
              <a:rPr>
                <a:solidFill>
                  <a:srgbClr val="003B4F"/>
                </a:solidFill>
                <a:latin typeface="Courier"/>
              </a:rPr>
              <a:t>        num_rows</a:t>
            </a:r>
            <a:br/>
            <a:r>
              <a:rPr>
                <a:solidFill>
                  <a:srgbClr val="003B4F"/>
                </a:solidFill>
                <a:latin typeface="Courier"/>
              </a:rPr>
              <a:t>    ),</a:t>
            </a:r>
            <a:br/>
            <a:r>
              <a:rPr>
                <a:solidFill>
                  <a:srgbClr val="003B4F"/>
                </a:solidFill>
                <a:latin typeface="Courier"/>
              </a:rPr>
              <a:t>    </a:t>
            </a:r>
            <a:r>
              <a:rPr>
                <a:solidFill>
                  <a:srgbClr val="20794D"/>
                </a:solidFill>
                <a:latin typeface="Courier"/>
              </a:rPr>
              <a:t>"ACTIVE_URLS"</a:t>
            </a:r>
            <a:r>
              <a:rPr>
                <a:solidFill>
                  <a:srgbClr val="003B4F"/>
                </a:solidFill>
                <a:latin typeface="Courier"/>
              </a:rPr>
              <a:t>: np.random.choice([</a:t>
            </a:r>
            <a:r>
              <a:rPr>
                <a:solidFill>
                  <a:srgbClr val="111111"/>
                </a:solidFill>
                <a:latin typeface="Courier"/>
              </a:rPr>
              <a:t>True</a:t>
            </a:r>
            <a:r>
              <a:rPr>
                <a:solidFill>
                  <a:srgbClr val="003B4F"/>
                </a:solidFill>
                <a:latin typeface="Courier"/>
              </a:rPr>
              <a:t>, </a:t>
            </a:r>
            <a:r>
              <a:rPr>
                <a:solidFill>
                  <a:srgbClr val="111111"/>
                </a:solidFill>
                <a:latin typeface="Courier"/>
              </a:rPr>
              <a:t>False</a:t>
            </a:r>
            <a:r>
              <a:rPr>
                <a:solidFill>
                  <a:srgbClr val="003B4F"/>
                </a:solidFill>
                <a:latin typeface="Courier"/>
              </a:rPr>
              <a:t>], num_rows, p</a:t>
            </a:r>
            <a:r>
              <a:rPr>
                <a:solidFill>
                  <a:srgbClr val="5E5E5E"/>
                </a:solidFill>
                <a:latin typeface="Courier"/>
              </a:rPr>
              <a:t>=</a:t>
            </a:r>
            <a:r>
              <a:rPr>
                <a:solidFill>
                  <a:srgbClr val="003B4F"/>
                </a:solidFill>
                <a:latin typeface="Courier"/>
              </a:rPr>
              <a:t>[</a:t>
            </a:r>
            <a:r>
              <a:rPr>
                <a:solidFill>
                  <a:srgbClr val="AD0000"/>
                </a:solidFill>
                <a:latin typeface="Courier"/>
              </a:rPr>
              <a:t>0.6</a:t>
            </a:r>
            <a:r>
              <a:rPr>
                <a:solidFill>
                  <a:srgbClr val="003B4F"/>
                </a:solidFill>
                <a:latin typeface="Courier"/>
              </a:rPr>
              <a:t>, </a:t>
            </a:r>
            <a:r>
              <a:rPr>
                <a:solidFill>
                  <a:srgbClr val="AD0000"/>
                </a:solidFill>
                <a:latin typeface="Courier"/>
              </a:rPr>
              <a:t>0.4</a:t>
            </a:r>
            <a:r>
              <a:rPr>
                <a:solidFill>
                  <a:srgbClr val="003B4F"/>
                </a:solidFill>
                <a:latin typeface="Courier"/>
              </a:rPr>
              <a:t>]),</a:t>
            </a:r>
            <a:br/>
            <a:r>
              <a:rPr>
                <a:solidFill>
                  <a:srgbClr val="003B4F"/>
                </a:solidFill>
                <a:latin typeface="Courier"/>
              </a:rPr>
              <a:t>    </a:t>
            </a:r>
            <a:r>
              <a:rPr>
                <a:solidFill>
                  <a:srgbClr val="20794D"/>
                </a:solidFill>
                <a:latin typeface="Courier"/>
              </a:rPr>
              <a:t>"MODELED_EXPIRED"</a:t>
            </a:r>
            <a:r>
              <a:rPr>
                <a:solidFill>
                  <a:srgbClr val="003B4F"/>
                </a:solidFill>
                <a:latin typeface="Courier"/>
              </a:rPr>
              <a:t>: np.random.choice([</a:t>
            </a:r>
            <a:r>
              <a:rPr>
                <a:solidFill>
                  <a:srgbClr val="111111"/>
                </a:solidFill>
                <a:latin typeface="Courier"/>
              </a:rPr>
              <a:t>True</a:t>
            </a:r>
            <a:r>
              <a:rPr>
                <a:solidFill>
                  <a:srgbClr val="003B4F"/>
                </a:solidFill>
                <a:latin typeface="Courier"/>
              </a:rPr>
              <a:t>, </a:t>
            </a:r>
            <a:r>
              <a:rPr>
                <a:solidFill>
                  <a:srgbClr val="111111"/>
                </a:solidFill>
                <a:latin typeface="Courier"/>
              </a:rPr>
              <a:t>False</a:t>
            </a:r>
            <a:r>
              <a:rPr>
                <a:solidFill>
                  <a:srgbClr val="003B4F"/>
                </a:solidFill>
                <a:latin typeface="Courier"/>
              </a:rPr>
              <a:t>], num_rows, p</a:t>
            </a:r>
            <a:r>
              <a:rPr>
                <a:solidFill>
                  <a:srgbClr val="5E5E5E"/>
                </a:solidFill>
                <a:latin typeface="Courier"/>
              </a:rPr>
              <a:t>=</a:t>
            </a:r>
            <a:r>
              <a:rPr>
                <a:solidFill>
                  <a:srgbClr val="003B4F"/>
                </a:solidFill>
                <a:latin typeface="Courier"/>
              </a:rPr>
              <a:t>[</a:t>
            </a:r>
            <a:r>
              <a:rPr>
                <a:solidFill>
                  <a:srgbClr val="AD0000"/>
                </a:solidFill>
                <a:latin typeface="Courier"/>
              </a:rPr>
              <a:t>0.3</a:t>
            </a:r>
            <a:r>
              <a:rPr>
                <a:solidFill>
                  <a:srgbClr val="003B4F"/>
                </a:solidFill>
                <a:latin typeface="Courier"/>
              </a:rPr>
              <a:t>, </a:t>
            </a:r>
            <a:r>
              <a:rPr>
                <a:solidFill>
                  <a:srgbClr val="AD0000"/>
                </a:solidFill>
                <a:latin typeface="Courier"/>
              </a:rPr>
              <a:t>0.7</a:t>
            </a:r>
            <a:r>
              <a:rPr>
                <a:solidFill>
                  <a:srgbClr val="003B4F"/>
                </a:solidFill>
                <a:latin typeface="Courier"/>
              </a:rPr>
              <a:t>])</a:t>
            </a:r>
            <a:br/>
            <a:r>
              <a:rPr>
                <a:solidFill>
                  <a:srgbClr val="003B4F"/>
                </a:solidFill>
                <a:latin typeface="Courier"/>
              </a:rPr>
              <a:t>}</a:t>
            </a:r>
            <a:br/>
            <a:br/>
            <a:r>
              <a:rPr>
                <a:solidFill>
                  <a:srgbClr val="003B4F"/>
                </a:solidFill>
                <a:latin typeface="Courier"/>
              </a:rPr>
              <a:t>df </a:t>
            </a:r>
            <a:r>
              <a:rPr>
                <a:solidFill>
                  <a:srgbClr val="5E5E5E"/>
                </a:solidFill>
                <a:latin typeface="Courier"/>
              </a:rPr>
              <a:t>=</a:t>
            </a:r>
            <a:r>
              <a:rPr>
                <a:solidFill>
                  <a:srgbClr val="003B4F"/>
                </a:solidFill>
                <a:latin typeface="Courier"/>
              </a:rPr>
              <a:t> pd.DataFrame(data)</a:t>
            </a:r>
            <a:br/>
            <a:br/>
            <a:r>
              <a:rPr>
                <a:solidFill>
                  <a:srgbClr val="5E5E5E"/>
                </a:solidFill>
                <a:latin typeface="Courier"/>
              </a:rPr>
              <a:t># Simulate AI impact</a:t>
            </a:r>
            <a:br/>
            <a:r>
              <a:rPr>
                <a:solidFill>
                  <a:srgbClr val="003B4F"/>
                </a:solidFill>
                <a:latin typeface="Courier"/>
              </a:rPr>
              <a:t>df[</a:t>
            </a:r>
            <a:r>
              <a:rPr>
                <a:solidFill>
                  <a:srgbClr val="20794D"/>
                </a:solidFill>
                <a:latin typeface="Courier"/>
              </a:rPr>
              <a:t>"AI_Growth"</a:t>
            </a:r>
            <a:r>
              <a:rPr>
                <a:solidFill>
                  <a:srgbClr val="003B4F"/>
                </a:solidFill>
                <a:latin typeface="Courier"/>
              </a:rPr>
              <a:t>] </a:t>
            </a:r>
            <a:r>
              <a:rPr>
                <a:solidFill>
                  <a:srgbClr val="5E5E5E"/>
                </a:solidFill>
                <a:latin typeface="Courier"/>
              </a:rPr>
              <a:t>=</a:t>
            </a:r>
            <a:r>
              <a:rPr>
                <a:solidFill>
                  <a:srgbClr val="003B4F"/>
                </a:solidFill>
                <a:latin typeface="Courier"/>
              </a:rPr>
              <a:t> df[</a:t>
            </a:r>
            <a:r>
              <a:rPr>
                <a:solidFill>
                  <a:srgbClr val="20794D"/>
                </a:solidFill>
                <a:latin typeface="Courier"/>
              </a:rPr>
              <a:t>"ACTIVE_URLS"</a:t>
            </a:r>
            <a:r>
              <a:rPr>
                <a:solidFill>
                  <a:srgbClr val="003B4F"/>
                </a:solidFill>
                <a:latin typeface="Courier"/>
              </a:rPr>
              <a:t>].apply(</a:t>
            </a:r>
            <a:r>
              <a:rPr b="1">
                <a:solidFill>
                  <a:srgbClr val="003B4F"/>
                </a:solidFill>
                <a:latin typeface="Courier"/>
              </a:rPr>
              <a:t>lambda</a:t>
            </a:r>
            <a:r>
              <a:rPr>
                <a:solidFill>
                  <a:srgbClr val="003B4F"/>
                </a:solidFill>
                <a:latin typeface="Courier"/>
              </a:rPr>
              <a:t> x: </a:t>
            </a:r>
            <a:r>
              <a:rPr>
                <a:solidFill>
                  <a:srgbClr val="AD0000"/>
                </a:solidFill>
                <a:latin typeface="Courier"/>
              </a:rPr>
              <a:t>1</a:t>
            </a:r>
            <a:r>
              <a:rPr>
                <a:solidFill>
                  <a:srgbClr val="003B4F"/>
                </a:solidFill>
                <a:latin typeface="Courier"/>
              </a:rPr>
              <a:t> </a:t>
            </a:r>
            <a:r>
              <a:rPr b="1">
                <a:solidFill>
                  <a:srgbClr val="003B4F"/>
                </a:solidFill>
                <a:latin typeface="Courier"/>
              </a:rPr>
              <a:t>if</a:t>
            </a:r>
            <a:r>
              <a:rPr>
                <a:solidFill>
                  <a:srgbClr val="003B4F"/>
                </a:solidFill>
                <a:latin typeface="Courier"/>
              </a:rPr>
              <a:t> x </a:t>
            </a:r>
            <a:r>
              <a:rPr b="1">
                <a:solidFill>
                  <a:srgbClr val="003B4F"/>
                </a:solidFill>
                <a:latin typeface="Courier"/>
              </a:rPr>
              <a:t>else</a:t>
            </a:r>
            <a:r>
              <a:rPr>
                <a:solidFill>
                  <a:srgbClr val="003B4F"/>
                </a:solidFill>
                <a:latin typeface="Courier"/>
              </a:rPr>
              <a:t> </a:t>
            </a:r>
            <a:r>
              <a:rPr>
                <a:solidFill>
                  <a:srgbClr val="AD0000"/>
                </a:solidFill>
                <a:latin typeface="Courier"/>
              </a:rPr>
              <a:t>0</a:t>
            </a:r>
            <a:r>
              <a:rPr>
                <a:solidFill>
                  <a:srgbClr val="003B4F"/>
                </a:solidFill>
                <a:latin typeface="Courier"/>
              </a:rPr>
              <a:t>)</a:t>
            </a:r>
            <a:br/>
            <a:r>
              <a:rPr>
                <a:solidFill>
                  <a:srgbClr val="003B4F"/>
                </a:solidFill>
                <a:latin typeface="Courier"/>
              </a:rPr>
              <a:t>df[</a:t>
            </a:r>
            <a:r>
              <a:rPr>
                <a:solidFill>
                  <a:srgbClr val="20794D"/>
                </a:solidFill>
                <a:latin typeface="Courier"/>
              </a:rPr>
              <a:t>"AI_Displacement"</a:t>
            </a:r>
            <a:r>
              <a:rPr>
                <a:solidFill>
                  <a:srgbClr val="003B4F"/>
                </a:solidFill>
                <a:latin typeface="Courier"/>
              </a:rPr>
              <a:t>] </a:t>
            </a:r>
            <a:r>
              <a:rPr>
                <a:solidFill>
                  <a:srgbClr val="5E5E5E"/>
                </a:solidFill>
                <a:latin typeface="Courier"/>
              </a:rPr>
              <a:t>=</a:t>
            </a:r>
            <a:r>
              <a:rPr>
                <a:solidFill>
                  <a:srgbClr val="003B4F"/>
                </a:solidFill>
                <a:latin typeface="Courier"/>
              </a:rPr>
              <a:t> df[</a:t>
            </a:r>
            <a:r>
              <a:rPr>
                <a:solidFill>
                  <a:srgbClr val="20794D"/>
                </a:solidFill>
                <a:latin typeface="Courier"/>
              </a:rPr>
              <a:t>"MODELED_EXPIRED"</a:t>
            </a:r>
            <a:r>
              <a:rPr>
                <a:solidFill>
                  <a:srgbClr val="003B4F"/>
                </a:solidFill>
                <a:latin typeface="Courier"/>
              </a:rPr>
              <a:t>].apply(</a:t>
            </a:r>
            <a:r>
              <a:rPr b="1">
                <a:solidFill>
                  <a:srgbClr val="003B4F"/>
                </a:solidFill>
                <a:latin typeface="Courier"/>
              </a:rPr>
              <a:t>lambda</a:t>
            </a:r>
            <a:r>
              <a:rPr>
                <a:solidFill>
                  <a:srgbClr val="003B4F"/>
                </a:solidFill>
                <a:latin typeface="Courier"/>
              </a:rPr>
              <a:t> x: </a:t>
            </a:r>
            <a:r>
              <a:rPr>
                <a:solidFill>
                  <a:srgbClr val="AD0000"/>
                </a:solidFill>
                <a:latin typeface="Courier"/>
              </a:rPr>
              <a:t>1</a:t>
            </a:r>
            <a:r>
              <a:rPr>
                <a:solidFill>
                  <a:srgbClr val="003B4F"/>
                </a:solidFill>
                <a:latin typeface="Courier"/>
              </a:rPr>
              <a:t> </a:t>
            </a:r>
            <a:r>
              <a:rPr b="1">
                <a:solidFill>
                  <a:srgbClr val="003B4F"/>
                </a:solidFill>
                <a:latin typeface="Courier"/>
              </a:rPr>
              <a:t>if</a:t>
            </a:r>
            <a:r>
              <a:rPr>
                <a:solidFill>
                  <a:srgbClr val="003B4F"/>
                </a:solidFill>
                <a:latin typeface="Courier"/>
              </a:rPr>
              <a:t> x </a:t>
            </a:r>
            <a:r>
              <a:rPr b="1">
                <a:solidFill>
                  <a:srgbClr val="003B4F"/>
                </a:solidFill>
                <a:latin typeface="Courier"/>
              </a:rPr>
              <a:t>else</a:t>
            </a:r>
            <a:r>
              <a:rPr>
                <a:solidFill>
                  <a:srgbClr val="003B4F"/>
                </a:solidFill>
                <a:latin typeface="Courier"/>
              </a:rPr>
              <a:t> </a:t>
            </a:r>
            <a:r>
              <a:rPr>
                <a:solidFill>
                  <a:srgbClr val="AD0000"/>
                </a:solidFill>
                <a:latin typeface="Courier"/>
              </a:rPr>
              <a:t>0</a:t>
            </a:r>
            <a:r>
              <a:rPr>
                <a:solidFill>
                  <a:srgbClr val="003B4F"/>
                </a:solidFill>
                <a:latin typeface="Courier"/>
              </a:rPr>
              <a:t>)</a:t>
            </a:r>
            <a:br/>
            <a:br/>
            <a:r>
              <a:rPr>
                <a:solidFill>
                  <a:srgbClr val="5E5E5E"/>
                </a:solidFill>
                <a:latin typeface="Courier"/>
              </a:rPr>
              <a:t># Aggregate data by industry classification</a:t>
            </a:r>
            <a:br/>
            <a:r>
              <a:rPr>
                <a:solidFill>
                  <a:srgbClr val="003B4F"/>
                </a:solidFill>
                <a:latin typeface="Courier"/>
              </a:rPr>
              <a:t>industry_ai_impact </a:t>
            </a:r>
            <a:r>
              <a:rPr>
                <a:solidFill>
                  <a:srgbClr val="5E5E5E"/>
                </a:solidFill>
                <a:latin typeface="Courier"/>
              </a:rPr>
              <a:t>=</a:t>
            </a:r>
            <a:r>
              <a:rPr>
                <a:solidFill>
                  <a:srgbClr val="003B4F"/>
                </a:solidFill>
                <a:latin typeface="Courier"/>
              </a:rPr>
              <a:t> df.groupby(</a:t>
            </a:r>
            <a:r>
              <a:rPr>
                <a:solidFill>
                  <a:srgbClr val="20794D"/>
                </a:solidFill>
                <a:latin typeface="Courier"/>
              </a:rPr>
              <a:t>"NAICS2_NAME"</a:t>
            </a:r>
            <a:r>
              <a:rPr>
                <a:solidFill>
                  <a:srgbClr val="003B4F"/>
                </a:solidFill>
                <a:latin typeface="Courier"/>
              </a:rPr>
              <a:t>).agg(</a:t>
            </a:r>
            <a:br/>
            <a:r>
              <a:rPr>
                <a:solidFill>
                  <a:srgbClr val="003B4F"/>
                </a:solidFill>
                <a:latin typeface="Courier"/>
              </a:rPr>
              <a:t>    AI_Growth</a:t>
            </a:r>
            <a:r>
              <a:rPr>
                <a:solidFill>
                  <a:srgbClr val="5E5E5E"/>
                </a:solidFill>
                <a:latin typeface="Courier"/>
              </a:rPr>
              <a:t>=</a:t>
            </a:r>
            <a:r>
              <a:rPr>
                <a:solidFill>
                  <a:srgbClr val="003B4F"/>
                </a:solidFill>
                <a:latin typeface="Courier"/>
              </a:rPr>
              <a:t>(</a:t>
            </a:r>
            <a:r>
              <a:rPr>
                <a:solidFill>
                  <a:srgbClr val="20794D"/>
                </a:solidFill>
                <a:latin typeface="Courier"/>
              </a:rPr>
              <a:t>"AI_Growth"</a:t>
            </a:r>
            <a:r>
              <a:rPr>
                <a:solidFill>
                  <a:srgbClr val="003B4F"/>
                </a:solidFill>
                <a:latin typeface="Courier"/>
              </a:rPr>
              <a:t>, </a:t>
            </a:r>
            <a:r>
              <a:rPr>
                <a:solidFill>
                  <a:srgbClr val="20794D"/>
                </a:solidFill>
                <a:latin typeface="Courier"/>
              </a:rPr>
              <a:t>"sum"</a:t>
            </a:r>
            <a:r>
              <a:rPr>
                <a:solidFill>
                  <a:srgbClr val="003B4F"/>
                </a:solidFill>
                <a:latin typeface="Courier"/>
              </a:rPr>
              <a:t>),</a:t>
            </a:r>
            <a:br/>
            <a:r>
              <a:rPr>
                <a:solidFill>
                  <a:srgbClr val="003B4F"/>
                </a:solidFill>
                <a:latin typeface="Courier"/>
              </a:rPr>
              <a:t>    AI_Displacement</a:t>
            </a:r>
            <a:r>
              <a:rPr>
                <a:solidFill>
                  <a:srgbClr val="5E5E5E"/>
                </a:solidFill>
                <a:latin typeface="Courier"/>
              </a:rPr>
              <a:t>=</a:t>
            </a:r>
            <a:r>
              <a:rPr>
                <a:solidFill>
                  <a:srgbClr val="003B4F"/>
                </a:solidFill>
                <a:latin typeface="Courier"/>
              </a:rPr>
              <a:t>(</a:t>
            </a:r>
            <a:r>
              <a:rPr>
                <a:solidFill>
                  <a:srgbClr val="20794D"/>
                </a:solidFill>
                <a:latin typeface="Courier"/>
              </a:rPr>
              <a:t>"AI_Displacement"</a:t>
            </a:r>
            <a:r>
              <a:rPr>
                <a:solidFill>
                  <a:srgbClr val="003B4F"/>
                </a:solidFill>
                <a:latin typeface="Courier"/>
              </a:rPr>
              <a:t>, </a:t>
            </a:r>
            <a:r>
              <a:rPr>
                <a:solidFill>
                  <a:srgbClr val="20794D"/>
                </a:solidFill>
                <a:latin typeface="Courier"/>
              </a:rPr>
              <a:t>"sum"</a:t>
            </a:r>
            <a:r>
              <a:rPr>
                <a:solidFill>
                  <a:srgbClr val="003B4F"/>
                </a:solidFill>
                <a:latin typeface="Courier"/>
              </a:rPr>
              <a:t>)</a:t>
            </a:r>
            <a:br/>
            <a:r>
              <a:rPr>
                <a:solidFill>
                  <a:srgbClr val="003B4F"/>
                </a:solidFill>
                <a:latin typeface="Courier"/>
              </a:rPr>
              <a:t>).reset_index()</a:t>
            </a:r>
            <a:br/>
            <a:br/>
            <a:r>
              <a:rPr>
                <a:solidFill>
                  <a:srgbClr val="5E5E5E"/>
                </a:solidFill>
                <a:latin typeface="Courier"/>
              </a:rPr>
              <a:t># Create interactive dropdown</a:t>
            </a:r>
            <a:br/>
            <a:r>
              <a:rPr>
                <a:solidFill>
                  <a:srgbClr val="003B4F"/>
                </a:solidFill>
                <a:latin typeface="Courier"/>
              </a:rPr>
              <a:t>industry_dropdown </a:t>
            </a:r>
            <a:r>
              <a:rPr>
                <a:solidFill>
                  <a:srgbClr val="5E5E5E"/>
                </a:solidFill>
                <a:latin typeface="Courier"/>
              </a:rPr>
              <a:t>=</a:t>
            </a:r>
            <a:r>
              <a:rPr>
                <a:solidFill>
                  <a:srgbClr val="003B4F"/>
                </a:solidFill>
                <a:latin typeface="Courier"/>
              </a:rPr>
              <a:t> Dropdown(</a:t>
            </a:r>
            <a:br/>
            <a:r>
              <a:rPr>
                <a:solidFill>
                  <a:srgbClr val="003B4F"/>
                </a:solidFill>
                <a:latin typeface="Courier"/>
              </a:rPr>
              <a:t>    options</a:t>
            </a:r>
            <a:r>
              <a:rPr>
                <a:solidFill>
                  <a:srgbClr val="5E5E5E"/>
                </a:solidFill>
                <a:latin typeface="Courier"/>
              </a:rPr>
              <a:t>=</a:t>
            </a:r>
            <a:r>
              <a:rPr>
                <a:solidFill>
                  <a:srgbClr val="003B4F"/>
                </a:solidFill>
                <a:latin typeface="Courier"/>
              </a:rPr>
              <a:t>[</a:t>
            </a:r>
            <a:r>
              <a:rPr>
                <a:solidFill>
                  <a:srgbClr val="20794D"/>
                </a:solidFill>
                <a:latin typeface="Courier"/>
              </a:rPr>
              <a:t>"All"</a:t>
            </a:r>
            <a:r>
              <a:rPr>
                <a:solidFill>
                  <a:srgbClr val="003B4F"/>
                </a:solidFill>
                <a:latin typeface="Courier"/>
              </a:rPr>
              <a:t>] </a:t>
            </a:r>
            <a:r>
              <a:rPr>
                <a:solidFill>
                  <a:srgbClr val="5E5E5E"/>
                </a:solidFill>
                <a:latin typeface="Courier"/>
              </a:rPr>
              <a:t>+</a:t>
            </a:r>
            <a:r>
              <a:rPr>
                <a:solidFill>
                  <a:srgbClr val="003B4F"/>
                </a:solidFill>
                <a:latin typeface="Courier"/>
              </a:rPr>
              <a:t> list(industry_ai_impact[</a:t>
            </a:r>
            <a:r>
              <a:rPr>
                <a:solidFill>
                  <a:srgbClr val="20794D"/>
                </a:solidFill>
                <a:latin typeface="Courier"/>
              </a:rPr>
              <a:t>"NAICS2_NAME"</a:t>
            </a:r>
            <a:r>
              <a:rPr>
                <a:solidFill>
                  <a:srgbClr val="003B4F"/>
                </a:solidFill>
                <a:latin typeface="Courier"/>
              </a:rPr>
              <a:t>].unique()),</a:t>
            </a:r>
            <a:br/>
            <a:r>
              <a:rPr>
                <a:solidFill>
                  <a:srgbClr val="003B4F"/>
                </a:solidFill>
                <a:latin typeface="Courier"/>
              </a:rPr>
              <a:t>    value</a:t>
            </a:r>
            <a:r>
              <a:rPr>
                <a:solidFill>
                  <a:srgbClr val="5E5E5E"/>
                </a:solidFill>
                <a:latin typeface="Courier"/>
              </a:rPr>
              <a:t>=</a:t>
            </a:r>
            <a:r>
              <a:rPr>
                <a:solidFill>
                  <a:srgbClr val="20794D"/>
                </a:solidFill>
                <a:latin typeface="Courier"/>
              </a:rPr>
              <a:t>"All"</a:t>
            </a:r>
            <a:r>
              <a:rPr>
                <a:solidFill>
                  <a:srgbClr val="003B4F"/>
                </a:solidFill>
                <a:latin typeface="Courier"/>
              </a:rPr>
              <a:t>,</a:t>
            </a:r>
            <a:br/>
            <a:r>
              <a:rPr>
                <a:solidFill>
                  <a:srgbClr val="003B4F"/>
                </a:solidFill>
                <a:latin typeface="Courier"/>
              </a:rPr>
              <a:t>    description</a:t>
            </a:r>
            <a:r>
              <a:rPr>
                <a:solidFill>
                  <a:srgbClr val="5E5E5E"/>
                </a:solidFill>
                <a:latin typeface="Courier"/>
              </a:rPr>
              <a:t>=</a:t>
            </a:r>
            <a:r>
              <a:rPr>
                <a:solidFill>
                  <a:srgbClr val="20794D"/>
                </a:solidFill>
                <a:latin typeface="Courier"/>
              </a:rPr>
              <a:t>"Industry:"</a:t>
            </a:r>
            <a:r>
              <a:rPr>
                <a:solidFill>
                  <a:srgbClr val="003B4F"/>
                </a:solidFill>
                <a:latin typeface="Courier"/>
              </a:rPr>
              <a:t>,</a:t>
            </a:r>
            <a:br/>
            <a:r>
              <a:rPr>
                <a:solidFill>
                  <a:srgbClr val="003B4F"/>
                </a:solidFill>
                <a:latin typeface="Courier"/>
              </a:rPr>
              <a:t>    style</a:t>
            </a:r>
            <a:r>
              <a:rPr>
                <a:solidFill>
                  <a:srgbClr val="5E5E5E"/>
                </a:solidFill>
                <a:latin typeface="Courier"/>
              </a:rPr>
              <a:t>=</a:t>
            </a:r>
            <a:r>
              <a:rPr>
                <a:solidFill>
                  <a:srgbClr val="003B4F"/>
                </a:solidFill>
                <a:latin typeface="Courier"/>
              </a:rPr>
              <a:t>{</a:t>
            </a:r>
            <a:r>
              <a:rPr>
                <a:solidFill>
                  <a:srgbClr val="20794D"/>
                </a:solidFill>
                <a:latin typeface="Courier"/>
              </a:rPr>
              <a:t>'description_width'</a:t>
            </a:r>
            <a:r>
              <a:rPr>
                <a:solidFill>
                  <a:srgbClr val="003B4F"/>
                </a:solidFill>
                <a:latin typeface="Courier"/>
              </a:rPr>
              <a:t>: </a:t>
            </a:r>
            <a:r>
              <a:rPr>
                <a:solidFill>
                  <a:srgbClr val="20794D"/>
                </a:solidFill>
                <a:latin typeface="Courier"/>
              </a:rPr>
              <a:t>'initial'</a:t>
            </a:r>
            <a:r>
              <a:rPr>
                <a:solidFill>
                  <a:srgbClr val="003B4F"/>
                </a:solidFill>
                <a:latin typeface="Courier"/>
              </a:rPr>
              <a:t>}</a:t>
            </a:r>
            <a:br/>
            <a:r>
              <a:rPr>
                <a:solidFill>
                  <a:srgbClr val="003B4F"/>
                </a:solidFill>
                <a:latin typeface="Courier"/>
              </a:rPr>
              <a:t>)</a:t>
            </a:r>
            <a:br/>
            <a:br/>
            <a:r>
              <a:rPr>
                <a:solidFill>
                  <a:srgbClr val="003B4F"/>
                </a:solidFill>
                <a:latin typeface="Courier"/>
              </a:rPr>
              <a:t>output </a:t>
            </a:r>
            <a:r>
              <a:rPr>
                <a:solidFill>
                  <a:srgbClr val="5E5E5E"/>
                </a:solidFill>
                <a:latin typeface="Courier"/>
              </a:rPr>
              <a:t>=</a:t>
            </a:r>
            <a:r>
              <a:rPr>
                <a:solidFill>
                  <a:srgbClr val="003B4F"/>
                </a:solidFill>
                <a:latin typeface="Courier"/>
              </a:rPr>
              <a:t> Output()</a:t>
            </a:r>
            <a:br/>
            <a:r>
              <a:rPr>
                <a:solidFill>
                  <a:srgbClr val="003B4F"/>
                </a:solidFill>
                <a:latin typeface="Courier"/>
              </a:rPr>
              <a:t>display(VBox([industry_dropdown, output]))</a:t>
            </a:r>
            <a:br/>
            <a:br/>
            <a:r>
              <a:rPr>
                <a:solidFill>
                  <a:srgbClr val="003B4F"/>
                </a:solidFill>
                <a:latin typeface="Courier"/>
              </a:rPr>
              <a:t>selected_industry </a:t>
            </a:r>
            <a:r>
              <a:rPr>
                <a:solidFill>
                  <a:srgbClr val="5E5E5E"/>
                </a:solidFill>
                <a:latin typeface="Courier"/>
              </a:rPr>
              <a:t>=</a:t>
            </a:r>
            <a:r>
              <a:rPr>
                <a:solidFill>
                  <a:srgbClr val="003B4F"/>
                </a:solidFill>
                <a:latin typeface="Courier"/>
              </a:rPr>
              <a:t> industry_dropdown.value</a:t>
            </a:r>
            <a:br/>
            <a:r>
              <a:rPr>
                <a:solidFill>
                  <a:srgbClr val="003B4F"/>
                </a:solidFill>
                <a:latin typeface="Courier"/>
              </a:rPr>
              <a:t>filtered_data </a:t>
            </a:r>
            <a:r>
              <a:rPr>
                <a:solidFill>
                  <a:srgbClr val="5E5E5E"/>
                </a:solidFill>
                <a:latin typeface="Courier"/>
              </a:rPr>
              <a:t>=</a:t>
            </a:r>
            <a:r>
              <a:rPr>
                <a:solidFill>
                  <a:srgbClr val="003B4F"/>
                </a:solidFill>
                <a:latin typeface="Courier"/>
              </a:rPr>
              <a:t> industry_ai_impact </a:t>
            </a:r>
            <a:r>
              <a:rPr b="1">
                <a:solidFill>
                  <a:srgbClr val="003B4F"/>
                </a:solidFill>
                <a:latin typeface="Courier"/>
              </a:rPr>
              <a:t>if</a:t>
            </a:r>
            <a:r>
              <a:rPr>
                <a:solidFill>
                  <a:srgbClr val="003B4F"/>
                </a:solidFill>
                <a:latin typeface="Courier"/>
              </a:rPr>
              <a:t> selected_industry </a:t>
            </a:r>
            <a:r>
              <a:rPr>
                <a:solidFill>
                  <a:srgbClr val="5E5E5E"/>
                </a:solidFill>
                <a:latin typeface="Courier"/>
              </a:rPr>
              <a:t>==</a:t>
            </a:r>
            <a:r>
              <a:rPr>
                <a:solidFill>
                  <a:srgbClr val="003B4F"/>
                </a:solidFill>
                <a:latin typeface="Courier"/>
              </a:rPr>
              <a:t> </a:t>
            </a:r>
            <a:r>
              <a:rPr>
                <a:solidFill>
                  <a:srgbClr val="20794D"/>
                </a:solidFill>
                <a:latin typeface="Courier"/>
              </a:rPr>
              <a:t>"All"</a:t>
            </a:r>
            <a:r>
              <a:rPr>
                <a:solidFill>
                  <a:srgbClr val="003B4F"/>
                </a:solidFill>
                <a:latin typeface="Courier"/>
              </a:rPr>
              <a:t> </a:t>
            </a:r>
            <a:r>
              <a:rPr b="1">
                <a:solidFill>
                  <a:srgbClr val="003B4F"/>
                </a:solidFill>
                <a:latin typeface="Courier"/>
              </a:rPr>
              <a:t>else</a:t>
            </a:r>
            <a:r>
              <a:rPr>
                <a:solidFill>
                  <a:srgbClr val="003B4F"/>
                </a:solidFill>
                <a:latin typeface="Courier"/>
              </a:rPr>
              <a:t> industry_ai_impact[industry_ai_impact[</a:t>
            </a:r>
            <a:r>
              <a:rPr>
                <a:solidFill>
                  <a:srgbClr val="20794D"/>
                </a:solidFill>
                <a:latin typeface="Courier"/>
              </a:rPr>
              <a:t>"NAICS2_NAME"</a:t>
            </a:r>
            <a:r>
              <a:rPr>
                <a:solidFill>
                  <a:srgbClr val="003B4F"/>
                </a:solidFill>
                <a:latin typeface="Courier"/>
              </a:rPr>
              <a:t>] </a:t>
            </a:r>
            <a:r>
              <a:rPr>
                <a:solidFill>
                  <a:srgbClr val="5E5E5E"/>
                </a:solidFill>
                <a:latin typeface="Courier"/>
              </a:rPr>
              <a:t>==</a:t>
            </a:r>
            <a:r>
              <a:rPr>
                <a:solidFill>
                  <a:srgbClr val="003B4F"/>
                </a:solidFill>
                <a:latin typeface="Courier"/>
              </a:rPr>
              <a:t> selected_industry]</a:t>
            </a:r>
            <a:br/>
            <a:br/>
            <a:r>
              <a:rPr>
                <a:solidFill>
                  <a:srgbClr val="003B4F"/>
                </a:solidFill>
                <a:latin typeface="Courier"/>
              </a:rPr>
              <a:t>fig3 </a:t>
            </a:r>
            <a:r>
              <a:rPr>
                <a:solidFill>
                  <a:srgbClr val="5E5E5E"/>
                </a:solidFill>
                <a:latin typeface="Courier"/>
              </a:rPr>
              <a:t>=</a:t>
            </a:r>
            <a:r>
              <a:rPr>
                <a:solidFill>
                  <a:srgbClr val="003B4F"/>
                </a:solidFill>
                <a:latin typeface="Courier"/>
              </a:rPr>
              <a:t> go.Figure()</a:t>
            </a:r>
            <a:br/>
            <a:r>
              <a:rPr>
                <a:solidFill>
                  <a:srgbClr val="003B4F"/>
                </a:solidFill>
                <a:latin typeface="Courier"/>
              </a:rPr>
              <a:t>fig3.add_trace(go.Bar(</a:t>
            </a:r>
            <a:br/>
            <a:r>
              <a:rPr>
                <a:solidFill>
                  <a:srgbClr val="003B4F"/>
                </a:solidFill>
                <a:latin typeface="Courier"/>
              </a:rPr>
              <a:t>    x</a:t>
            </a:r>
            <a:r>
              <a:rPr>
                <a:solidFill>
                  <a:srgbClr val="5E5E5E"/>
                </a:solidFill>
                <a:latin typeface="Courier"/>
              </a:rPr>
              <a:t>=</a:t>
            </a:r>
            <a:r>
              <a:rPr>
                <a:solidFill>
                  <a:srgbClr val="003B4F"/>
                </a:solidFill>
                <a:latin typeface="Courier"/>
              </a:rPr>
              <a:t>filtered_data[</a:t>
            </a:r>
            <a:r>
              <a:rPr>
                <a:solidFill>
                  <a:srgbClr val="20794D"/>
                </a:solidFill>
                <a:latin typeface="Courier"/>
              </a:rPr>
              <a:t>"NAICS2_NAME"</a:t>
            </a:r>
            <a:r>
              <a:rPr>
                <a:solidFill>
                  <a:srgbClr val="003B4F"/>
                </a:solidFill>
                <a:latin typeface="Courier"/>
              </a:rPr>
              <a:t>],</a:t>
            </a:r>
            <a:br/>
            <a:r>
              <a:rPr>
                <a:solidFill>
                  <a:srgbClr val="003B4F"/>
                </a:solidFill>
                <a:latin typeface="Courier"/>
              </a:rPr>
              <a:t>    y</a:t>
            </a:r>
            <a:r>
              <a:rPr>
                <a:solidFill>
                  <a:srgbClr val="5E5E5E"/>
                </a:solidFill>
                <a:latin typeface="Courier"/>
              </a:rPr>
              <a:t>=</a:t>
            </a:r>
            <a:r>
              <a:rPr>
                <a:solidFill>
                  <a:srgbClr val="003B4F"/>
                </a:solidFill>
                <a:latin typeface="Courier"/>
              </a:rPr>
              <a:t>filtered_data[</a:t>
            </a:r>
            <a:r>
              <a:rPr>
                <a:solidFill>
                  <a:srgbClr val="20794D"/>
                </a:solidFill>
                <a:latin typeface="Courier"/>
              </a:rPr>
              <a:t>"AI_Growth"</a:t>
            </a:r>
            <a:r>
              <a:rPr>
                <a:solidFill>
                  <a:srgbClr val="003B4F"/>
                </a:solidFill>
                <a:latin typeface="Courier"/>
              </a:rPr>
              <a:t>],</a:t>
            </a:r>
            <a:br/>
            <a:r>
              <a:rPr>
                <a:solidFill>
                  <a:srgbClr val="003B4F"/>
                </a:solidFill>
                <a:latin typeface="Courier"/>
              </a:rPr>
              <a:t>    name</a:t>
            </a:r>
            <a:r>
              <a:rPr>
                <a:solidFill>
                  <a:srgbClr val="5E5E5E"/>
                </a:solidFill>
                <a:latin typeface="Courier"/>
              </a:rPr>
              <a:t>=</a:t>
            </a:r>
            <a:r>
              <a:rPr>
                <a:solidFill>
                  <a:srgbClr val="20794D"/>
                </a:solidFill>
                <a:latin typeface="Courier"/>
              </a:rPr>
              <a:t>"AI-Driven Growth"</a:t>
            </a:r>
            <a:r>
              <a:rPr>
                <a:solidFill>
                  <a:srgbClr val="003B4F"/>
                </a:solidFill>
                <a:latin typeface="Courier"/>
              </a:rPr>
              <a:t>,</a:t>
            </a:r>
            <a:br/>
            <a:r>
              <a:rPr>
                <a:solidFill>
                  <a:srgbClr val="003B4F"/>
                </a:solidFill>
                <a:latin typeface="Courier"/>
              </a:rPr>
              <a:t>    marker_color</a:t>
            </a:r>
            <a:r>
              <a:rPr>
                <a:solidFill>
                  <a:srgbClr val="5E5E5E"/>
                </a:solidFill>
                <a:latin typeface="Courier"/>
              </a:rPr>
              <a:t>=</a:t>
            </a:r>
            <a:r>
              <a:rPr>
                <a:solidFill>
                  <a:srgbClr val="20794D"/>
                </a:solidFill>
                <a:latin typeface="Courier"/>
              </a:rPr>
              <a:t>"purple"</a:t>
            </a:r>
            <a:br/>
            <a:r>
              <a:rPr>
                <a:solidFill>
                  <a:srgbClr val="003B4F"/>
                </a:solidFill>
                <a:latin typeface="Courier"/>
              </a:rPr>
              <a:t>))</a:t>
            </a:r>
            <a:br/>
            <a:r>
              <a:rPr>
                <a:solidFill>
                  <a:srgbClr val="003B4F"/>
                </a:solidFill>
                <a:latin typeface="Courier"/>
              </a:rPr>
              <a:t>fig3.add_trace(go.Bar(</a:t>
            </a:r>
            <a:br/>
            <a:r>
              <a:rPr>
                <a:solidFill>
                  <a:srgbClr val="003B4F"/>
                </a:solidFill>
                <a:latin typeface="Courier"/>
              </a:rPr>
              <a:t>    x</a:t>
            </a:r>
            <a:r>
              <a:rPr>
                <a:solidFill>
                  <a:srgbClr val="5E5E5E"/>
                </a:solidFill>
                <a:latin typeface="Courier"/>
              </a:rPr>
              <a:t>=</a:t>
            </a:r>
            <a:r>
              <a:rPr>
                <a:solidFill>
                  <a:srgbClr val="003B4F"/>
                </a:solidFill>
                <a:latin typeface="Courier"/>
              </a:rPr>
              <a:t>filtered_data[</a:t>
            </a:r>
            <a:r>
              <a:rPr>
                <a:solidFill>
                  <a:srgbClr val="20794D"/>
                </a:solidFill>
                <a:latin typeface="Courier"/>
              </a:rPr>
              <a:t>"NAICS2_NAME"</a:t>
            </a:r>
            <a:r>
              <a:rPr>
                <a:solidFill>
                  <a:srgbClr val="003B4F"/>
                </a:solidFill>
                <a:latin typeface="Courier"/>
              </a:rPr>
              <a:t>],</a:t>
            </a:r>
            <a:br/>
            <a:r>
              <a:rPr>
                <a:solidFill>
                  <a:srgbClr val="003B4F"/>
                </a:solidFill>
                <a:latin typeface="Courier"/>
              </a:rPr>
              <a:t>    y</a:t>
            </a:r>
            <a:r>
              <a:rPr>
                <a:solidFill>
                  <a:srgbClr val="5E5E5E"/>
                </a:solidFill>
                <a:latin typeface="Courier"/>
              </a:rPr>
              <a:t>=</a:t>
            </a:r>
            <a:r>
              <a:rPr>
                <a:solidFill>
                  <a:srgbClr val="003B4F"/>
                </a:solidFill>
                <a:latin typeface="Courier"/>
              </a:rPr>
              <a:t>filtered_data[</a:t>
            </a:r>
            <a:r>
              <a:rPr>
                <a:solidFill>
                  <a:srgbClr val="20794D"/>
                </a:solidFill>
                <a:latin typeface="Courier"/>
              </a:rPr>
              <a:t>"AI_Displacement"</a:t>
            </a:r>
            <a:r>
              <a:rPr>
                <a:solidFill>
                  <a:srgbClr val="003B4F"/>
                </a:solidFill>
                <a:latin typeface="Courier"/>
              </a:rPr>
              <a:t>],</a:t>
            </a:r>
            <a:br/>
            <a:r>
              <a:rPr>
                <a:solidFill>
                  <a:srgbClr val="003B4F"/>
                </a:solidFill>
                <a:latin typeface="Courier"/>
              </a:rPr>
              <a:t>    name</a:t>
            </a:r>
            <a:r>
              <a:rPr>
                <a:solidFill>
                  <a:srgbClr val="5E5E5E"/>
                </a:solidFill>
                <a:latin typeface="Courier"/>
              </a:rPr>
              <a:t>=</a:t>
            </a:r>
            <a:r>
              <a:rPr>
                <a:solidFill>
                  <a:srgbClr val="20794D"/>
                </a:solidFill>
                <a:latin typeface="Courier"/>
              </a:rPr>
              <a:t>"AI Displacement"</a:t>
            </a:r>
            <a:r>
              <a:rPr>
                <a:solidFill>
                  <a:srgbClr val="003B4F"/>
                </a:solidFill>
                <a:latin typeface="Courier"/>
              </a:rPr>
              <a:t>,</a:t>
            </a:r>
            <a:br/>
            <a:r>
              <a:rPr>
                <a:solidFill>
                  <a:srgbClr val="003B4F"/>
                </a:solidFill>
                <a:latin typeface="Courier"/>
              </a:rPr>
              <a:t>    marker_color</a:t>
            </a:r>
            <a:r>
              <a:rPr>
                <a:solidFill>
                  <a:srgbClr val="5E5E5E"/>
                </a:solidFill>
                <a:latin typeface="Courier"/>
              </a:rPr>
              <a:t>=</a:t>
            </a:r>
            <a:r>
              <a:rPr>
                <a:solidFill>
                  <a:srgbClr val="20794D"/>
                </a:solidFill>
                <a:latin typeface="Courier"/>
              </a:rPr>
              <a:t>"gray"</a:t>
            </a:r>
            <a:br/>
            <a:r>
              <a:rPr>
                <a:solidFill>
                  <a:srgbClr val="003B4F"/>
                </a:solidFill>
                <a:latin typeface="Courier"/>
              </a:rPr>
              <a:t>))</a:t>
            </a:r>
            <a:br/>
            <a:r>
              <a:rPr>
                <a:solidFill>
                  <a:srgbClr val="003B4F"/>
                </a:solidFill>
                <a:latin typeface="Courier"/>
              </a:rPr>
              <a:t>fig3.update_layout(</a:t>
            </a:r>
            <a:br/>
            <a:r>
              <a:rPr>
                <a:solidFill>
                  <a:srgbClr val="003B4F"/>
                </a:solidFill>
                <a:latin typeface="Courier"/>
              </a:rPr>
              <a:t>    title</a:t>
            </a:r>
            <a:r>
              <a:rPr>
                <a:solidFill>
                  <a:srgbClr val="5E5E5E"/>
                </a:solidFill>
                <a:latin typeface="Courier"/>
              </a:rPr>
              <a:t>=</a:t>
            </a:r>
            <a:r>
              <a:rPr>
                <a:solidFill>
                  <a:srgbClr val="20794D"/>
                </a:solidFill>
                <a:latin typeface="Courier"/>
              </a:rPr>
              <a:t>"AI Impact on Jobs by Industry"</a:t>
            </a:r>
            <a:r>
              <a:rPr>
                <a:solidFill>
                  <a:srgbClr val="003B4F"/>
                </a:solidFill>
                <a:latin typeface="Courier"/>
              </a:rPr>
              <a:t>,</a:t>
            </a:r>
            <a:br/>
            <a:r>
              <a:rPr>
                <a:solidFill>
                  <a:srgbClr val="003B4F"/>
                </a:solidFill>
                <a:latin typeface="Courier"/>
              </a:rPr>
              <a:t>    xaxis_title</a:t>
            </a:r>
            <a:r>
              <a:rPr>
                <a:solidFill>
                  <a:srgbClr val="5E5E5E"/>
                </a:solidFill>
                <a:latin typeface="Courier"/>
              </a:rPr>
              <a:t>=</a:t>
            </a:r>
            <a:r>
              <a:rPr>
                <a:solidFill>
                  <a:srgbClr val="20794D"/>
                </a:solidFill>
                <a:latin typeface="Courier"/>
              </a:rPr>
              <a:t>"Industry"</a:t>
            </a:r>
            <a:r>
              <a:rPr>
                <a:solidFill>
                  <a:srgbClr val="003B4F"/>
                </a:solidFill>
                <a:latin typeface="Courier"/>
              </a:rPr>
              <a:t>,</a:t>
            </a:r>
            <a:br/>
            <a:r>
              <a:rPr>
                <a:solidFill>
                  <a:srgbClr val="003B4F"/>
                </a:solidFill>
                <a:latin typeface="Courier"/>
              </a:rPr>
              <a:t>    yaxis_title</a:t>
            </a:r>
            <a:r>
              <a:rPr>
                <a:solidFill>
                  <a:srgbClr val="5E5E5E"/>
                </a:solidFill>
                <a:latin typeface="Courier"/>
              </a:rPr>
              <a:t>=</a:t>
            </a:r>
            <a:r>
              <a:rPr>
                <a:solidFill>
                  <a:srgbClr val="20794D"/>
                </a:solidFill>
                <a:latin typeface="Courier"/>
              </a:rPr>
              <a:t>"Number of Jobs"</a:t>
            </a:r>
            <a:r>
              <a:rPr>
                <a:solidFill>
                  <a:srgbClr val="003B4F"/>
                </a:solidFill>
                <a:latin typeface="Courier"/>
              </a:rPr>
              <a:t>,</a:t>
            </a:r>
            <a:br/>
            <a:r>
              <a:rPr>
                <a:solidFill>
                  <a:srgbClr val="003B4F"/>
                </a:solidFill>
                <a:latin typeface="Courier"/>
              </a:rPr>
              <a:t>    barmode</a:t>
            </a:r>
            <a:r>
              <a:rPr>
                <a:solidFill>
                  <a:srgbClr val="5E5E5E"/>
                </a:solidFill>
                <a:latin typeface="Courier"/>
              </a:rPr>
              <a:t>=</a:t>
            </a:r>
            <a:r>
              <a:rPr>
                <a:solidFill>
                  <a:srgbClr val="20794D"/>
                </a:solidFill>
                <a:latin typeface="Courier"/>
              </a:rPr>
              <a:t>"stack"</a:t>
            </a:r>
            <a:br/>
            <a:r>
              <a:rPr>
                <a:solidFill>
                  <a:srgbClr val="003B4F"/>
                </a:solidFill>
                <a:latin typeface="Courier"/>
              </a:rPr>
              <a:t>)</a:t>
            </a:r>
            <a:br/>
            <a:br/>
            <a:r>
              <a:rPr>
                <a:solidFill>
                  <a:srgbClr val="003B4F"/>
                </a:solidFill>
                <a:latin typeface="Courier"/>
              </a:rPr>
              <a:t>fig3.write_html(</a:t>
            </a:r>
            <a:r>
              <a:rPr>
                <a:solidFill>
                  <a:srgbClr val="20794D"/>
                </a:solidFill>
                <a:latin typeface="Courier"/>
              </a:rPr>
              <a:t>"plotly_industry_impact_chart.html"</a:t>
            </a:r>
            <a:r>
              <a:rPr>
                <a:solidFill>
                  <a:srgbClr val="003B4F"/>
                </a:solidFill>
                <a:latin typeface="Courier"/>
              </a:rPr>
              <a:t>)</a:t>
            </a:r>
            <a:br/>
            <a:r>
              <a:rPr>
                <a:solidFill>
                  <a:srgbClr val="003B4F"/>
                </a:solidFill>
                <a:latin typeface="Courier"/>
              </a:rPr>
              <a:t>fig3.show()</a:t>
            </a:r>
          </a:p>
          <a:p>
            <a:pPr lvl="0" indent="0">
              <a:buNone/>
            </a:pPr>
            <a:r>
              <a:rPr>
                <a:latin typeface="Courier"/>
              </a:rPr>
              <a:t>VBox(children=(Dropdown(description='Industry:', options=('All', 'Finance', 'Healthcare', 'Information Technol…</a:t>
            </a:r>
          </a:p>
          <a:p>
            <a:pPr lvl="0" indent="0">
              <a:buNone/>
            </a:pPr>
            <a:r>
              <a:rPr>
                <a:latin typeface="Courier"/>
              </a:rPr>
              <a:t>Unable to display output for mime type(s): text/html</a:t>
            </a:r>
          </a:p>
          <a:p>
            <a:pPr lvl="0" indent="0" marL="0">
              <a:buNone/>
            </a:pPr>
            <a:r>
              <a:rPr/>
              <a:t>AI-Driven Job Growth (Purple Section) Industries such as Finance, Healthcare, and Information Technology are seeing strong AI-driven job creation. AI is revolutionizing these sectors by enabling automation, predictive analytics, and intelligent decision-making, leading to an increase in demand for professionals with expertise in machine learning, data science, and AI-enhanced business intelligence.</a:t>
            </a:r>
          </a:p>
          <a:p>
            <a:pPr lvl="0" indent="0" marL="0">
              <a:buNone/>
            </a:pPr>
            <a:r>
              <a:rPr/>
              <a:t>To build a career in these high-growth industries, professionals should first focus on developing foundational skills in Machine Learning, AI, and Data Analytics. Learning Python, SQL, TensorFlow, and Power BI can provide a strong technical base, and obtaining certifications like Google Data Analytics, AWS AI/ML, or Microsoft AI Engineer can further boost career prospects. In the mid-term, gaining hands-on experience through real-world projects, internships, or Kaggle competitions will be essential. Specializing in AI-driven finance, healthcare analytics, or cybersecurity AI can help secure specialized roles.</a:t>
            </a:r>
          </a:p>
          <a:p>
            <a:pPr lvl="0" indent="0" marL="0">
              <a:buNone/>
            </a:pPr>
            <a:r>
              <a:rPr/>
              <a:t>For long-term career growth, professionals should consider transitioning into senior positions such as AI Researcher, Data Scientist, or AI Product Manager. Earning advanced certifications and degrees in AI Strategy, AI for Business, or NLP will be beneficial. Networking with AI professionals, attending industry conferences, and participating in AI-focused forums will further enhance career opportunities.</a:t>
            </a:r>
          </a:p>
          <a:p>
            <a:pPr lvl="0" indent="0" marL="0">
              <a:buNone/>
            </a:pPr>
            <a:r>
              <a:rPr/>
              <a:t>High-demand job roles in AI-driven industries include: Data Scientist AI Engineer Machine Learning Specialist Business Intelligence Analyst AI Consultant</a:t>
            </a:r>
          </a:p>
          <a:p>
            <a:pPr lvl="0" indent="0" marL="0">
              <a:buNone/>
            </a:pPr>
            <a:r>
              <a:rPr/>
              <a:t>AI Job Displacement Risk (Gray Section) Industries like Manufacturing and Retail are facing significant AI-driven job displacement due to the adoption of automation and robotics. Traditional roles that involve repetitive tasks are being replaced by AI-powered process automation and robotic systems. As AI reshapes these industries, professionals must adapt by acquiring new skills that align with AI-enhanced job roles.</a:t>
            </a:r>
          </a:p>
          <a:p>
            <a:pPr lvl="0" indent="0" marL="0">
              <a:buNone/>
            </a:pPr>
            <a:r>
              <a:rPr/>
              <a:t>The first step in mitigating the risk of AI displacement is understanding how AI is affecting one’s industry and identifying AI-driven career opportunities. Professionals should focus on upskilling in automation technologies, digital transformation, and data-driven decision-making. Learning AI-powered tools such as RPA (UiPath), cloud computing, and AI-driven logistics can help professionals remain relevant.</a:t>
            </a:r>
          </a:p>
          <a:p>
            <a:pPr lvl="0" indent="0" marL="0">
              <a:buNone/>
            </a:pPr>
            <a:r>
              <a:rPr/>
              <a:t>In the mid-term, transitioning to AI-integrated roles such as AI-Augmented Supply Chain Management or AI-Enhanced Customer Experience Analyst can provide job security. Developing skills in predictive analytics, demand forecasting, and AI-driven operations will allow professionals to move into AI-supported roles within their existing industries.</a:t>
            </a:r>
          </a:p>
          <a:p>
            <a:pPr lvl="0" indent="0" marL="0">
              <a:buNone/>
            </a:pPr>
            <a:r>
              <a:rPr/>
              <a:t>For long-term career stability, professionals should aim for leadership roles in AI-augmented operations, robotics, or AI-driven business strategy. Obtaining professional credentials in AI Strategy, Digital Leadership, and Intelligent Automation will help in securing high-paying opportunities. If necessary, transitioning to AI-dominant industries like fintech, healthcare, and cybersecurity may provide more stable career options.</a:t>
            </a:r>
          </a:p>
          <a:p>
            <a:pPr lvl="0" indent="0" marL="0">
              <a:buNone/>
            </a:pPr>
            <a:r>
              <a:rPr/>
              <a:t>Recommended AI-enhanced job roles for displaced professionals include: AI-Augmented Operations Manager Robotics Engineer AI-Powered Marketing Analyst Automation Consultant AI-Driven Logistics Specialist</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title: “Career Strategy Plan for Data Science &amp; Analytics” format: html</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Career Planning &amp; Insights</a:t>
            </a:r>
          </a:p>
        </p:txBody>
      </p:sp>
      <p:sp>
        <p:nvSpPr>
          <p:cNvPr id="3" name="Content Placeholder 2"/>
          <p:cNvSpPr>
            <a:spLocks noGrp="1"/>
          </p:cNvSpPr>
          <p:nvPr>
            <p:ph idx="1"/>
          </p:nvPr>
        </p:nvSpPr>
        <p:spPr/>
        <p:txBody>
          <a:bodyPr/>
          <a:lstStyle/>
          <a:p>
            <a:pPr lvl="0" indent="0" marL="0">
              <a:spcBef>
                <a:spcPts val="3000"/>
              </a:spcBef>
              <a:buNone/>
            </a:pPr>
            <a:r>
              <a:rPr b="1"/>
              <a:t>1. High-Demand Job Roles</a:t>
            </a:r>
          </a:p>
          <a:p>
            <a:pPr lvl="0"/>
            <a:r>
              <a:rPr b="1"/>
              <a:t>Data Analyst</a:t>
            </a:r>
          </a:p>
          <a:p>
            <a:pPr lvl="0"/>
            <a:r>
              <a:rPr b="1"/>
              <a:t>Data Scientist</a:t>
            </a:r>
          </a:p>
          <a:p>
            <a:pPr lvl="0"/>
            <a:r>
              <a:rPr b="1"/>
              <a:t>Machine Learning Engineer</a:t>
            </a:r>
          </a:p>
          <a:p>
            <a:pPr lvl="0"/>
            <a:r>
              <a:rPr b="1"/>
              <a:t>Data Engineer</a:t>
            </a:r>
          </a:p>
          <a:p>
            <a:pPr lvl="0" indent="0" marL="0">
              <a:spcBef>
                <a:spcPts val="3000"/>
              </a:spcBef>
              <a:buNone/>
            </a:pPr>
            <a:r>
              <a:rPr b="1"/>
              <a:t>2. In-Demand Skills</a:t>
            </a:r>
          </a:p>
          <a:p>
            <a:pPr lvl="0"/>
            <a:r>
              <a:rPr/>
              <a:t>SQL, Python, Machine Learning, Data Visualization, Cloud Computing</a:t>
            </a:r>
          </a:p>
          <a:p>
            <a:pPr lvl="0" indent="0" marL="0">
              <a:spcBef>
                <a:spcPts val="3000"/>
              </a:spcBef>
              <a:buNone/>
            </a:pPr>
            <a:r>
              <a:rPr b="1"/>
              <a:t>3. Recommended Certifications</a:t>
            </a:r>
          </a:p>
          <a:p>
            <a:pPr lvl="0"/>
            <a:r>
              <a:rPr/>
              <a:t>Google Data Analytics (Beginner)</a:t>
            </a:r>
          </a:p>
          <a:p>
            <a:pPr lvl="0"/>
            <a:r>
              <a:rPr/>
              <a:t>Microsoft Power BI (Visualization)</a:t>
            </a:r>
          </a:p>
          <a:p>
            <a:pPr lvl="0"/>
            <a:r>
              <a:rPr/>
              <a:t>AWS Certified Data Analytics (Cloud)</a:t>
            </a:r>
          </a:p>
          <a:p>
            <a:pPr lvl="0"/>
            <a:r>
              <a:rPr/>
              <a:t>TensorFlow Developer Certificate (AI/ML)</a:t>
            </a:r>
          </a:p>
          <a:p>
            <a:pPr lvl="0" indent="0" marL="0">
              <a:spcBef>
                <a:spcPts val="3000"/>
              </a:spcBef>
              <a:buNone/>
            </a:pPr>
            <a:r>
              <a:rPr b="1"/>
              <a:t>4. Career Roadmap</a:t>
            </a:r>
          </a:p>
          <a:p>
            <a:pPr lvl="0" indent="0" marL="0">
              <a:spcBef>
                <a:spcPts val="3000"/>
              </a:spcBef>
              <a:buNone/>
            </a:pPr>
            <a:r>
              <a:rPr b="1"/>
              <a:t>Step 1: Learn &amp; Upskill</a:t>
            </a:r>
          </a:p>
          <a:p>
            <a:pPr lvl="0"/>
            <a:r>
              <a:rPr/>
              <a:t>Complete online courses in SQL &amp; Python</a:t>
            </a:r>
          </a:p>
          <a:p>
            <a:pPr lvl="0"/>
            <a:r>
              <a:rPr/>
              <a:t>Build visualization skills (Tableau, Power BI)</a:t>
            </a:r>
          </a:p>
          <a:p>
            <a:pPr lvl="0" indent="0" marL="0">
              <a:spcBef>
                <a:spcPts val="3000"/>
              </a:spcBef>
              <a:buNone/>
            </a:pPr>
            <a:r>
              <a:rPr b="1"/>
              <a:t>Step 2: Gain Experience</a:t>
            </a:r>
          </a:p>
          <a:p>
            <a:pPr lvl="0"/>
            <a:r>
              <a:rPr/>
              <a:t>Contribute to GitHub projects</a:t>
            </a:r>
          </a:p>
          <a:p>
            <a:pPr lvl="0"/>
            <a:r>
              <a:rPr/>
              <a:t>Apply for internships or freelance projects</a:t>
            </a:r>
          </a:p>
          <a:p>
            <a:pPr lvl="0" indent="0" marL="0">
              <a:spcBef>
                <a:spcPts val="3000"/>
              </a:spcBef>
              <a:buNone/>
            </a:pPr>
            <a:r>
              <a:rPr b="1"/>
              <a:t>Step 3: Apply for Jobs</a:t>
            </a:r>
          </a:p>
          <a:p>
            <a:pPr lvl="0"/>
            <a:r>
              <a:rPr/>
              <a:t>Optimize resume &amp; LinkedIn</a:t>
            </a:r>
          </a:p>
          <a:p>
            <a:pPr lvl="0"/>
            <a:r>
              <a:rPr/>
              <a:t>Prepare for SQL &amp; Python technical interviews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title: “Skill Gap Analysis” format: html</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Goal: Compare the skills required in IT job postings against the actual skills of our group members to identify knowledge gaps and areas for improvement.</a:t>
            </a:r>
          </a:p>
          <a:p>
            <a:pPr lvl="0" indent="0" marL="0">
              <a:buNone/>
            </a:pPr>
            <a:r>
              <a:rPr/>
              <a:t>1 = Beginner 2 = Basic knowledge 3 = Intermediate 4 = Advanced 5 = Expert</a:t>
            </a:r>
          </a:p>
          <a:p>
            <a:pPr lvl="0" indent="0" marL="0">
              <a:buNone/>
            </a:pPr>
            <a:r>
              <a:rPr/>
              <a:t>team: - name: Jiaxin Wang skills: Python: 2 SQL: 4 Excel: 3 R: 2 Tableau: 4</a:t>
            </a:r>
          </a:p>
          <a:p>
            <a:pPr lvl="0"/>
            <a:r>
              <a:rPr/>
              <a:t>name: Shuyu Pan skills: Python: 5 SQL: 3 Excel: 4 R: 3 Tableau: 4</a:t>
            </a:r>
          </a:p>
          <a:p>
            <a:pPr lvl="0"/>
            <a:r>
              <a:rPr/>
              <a:t>name: Yixuan Chen skills: Python: 3 SQL: 2 Excel: 3 R: 4 Tableau: 3</a:t>
            </a:r>
          </a:p>
          <a:p>
            <a:pPr lvl="0"/>
            <a:r>
              <a:rPr/>
              <a:t>name: Guowei Yan skills: Python: 2 SQL: 2 Excel: 3 R: 1 Tableau: 2</a:t>
            </a:r>
          </a:p>
          <a:p>
            <a:pPr lvl="0" indent="0">
              <a:buNone/>
            </a:pPr>
            <a:r>
              <a:rPr>
                <a:solidFill>
                  <a:srgbClr val="00769E"/>
                </a:solidFill>
                <a:latin typeface="Courier"/>
              </a:rPr>
              <a:t>import</a:t>
            </a:r>
            <a:r>
              <a:rPr>
                <a:solidFill>
                  <a:srgbClr val="003B4F"/>
                </a:solidFill>
                <a:latin typeface="Courier"/>
              </a:rPr>
              <a:t> pandas </a:t>
            </a:r>
            <a:r>
              <a:rPr>
                <a:solidFill>
                  <a:srgbClr val="00769E"/>
                </a:solidFill>
                <a:latin typeface="Courier"/>
              </a:rPr>
              <a:t>as</a:t>
            </a:r>
            <a:r>
              <a:rPr>
                <a:solidFill>
                  <a:srgbClr val="003B4F"/>
                </a:solidFill>
                <a:latin typeface="Courier"/>
              </a:rPr>
              <a:t> pd</a:t>
            </a:r>
            <a:br/>
            <a:r>
              <a:rPr>
                <a:solidFill>
                  <a:srgbClr val="00769E"/>
                </a:solidFill>
                <a:latin typeface="Courier"/>
              </a:rPr>
              <a:t>import</a:t>
            </a:r>
            <a:r>
              <a:rPr>
                <a:solidFill>
                  <a:srgbClr val="003B4F"/>
                </a:solidFill>
                <a:latin typeface="Courier"/>
              </a:rPr>
              <a:t> seaborn </a:t>
            </a:r>
            <a:r>
              <a:rPr>
                <a:solidFill>
                  <a:srgbClr val="00769E"/>
                </a:solidFill>
                <a:latin typeface="Courier"/>
              </a:rPr>
              <a:t>as</a:t>
            </a:r>
            <a:r>
              <a:rPr>
                <a:solidFill>
                  <a:srgbClr val="003B4F"/>
                </a:solidFill>
                <a:latin typeface="Courier"/>
              </a:rPr>
              <a:t> sns</a:t>
            </a:r>
            <a:br/>
            <a:r>
              <a:rPr>
                <a:solidFill>
                  <a:srgbClr val="00769E"/>
                </a:solidFill>
                <a:latin typeface="Courier"/>
              </a:rPr>
              <a:t>import</a:t>
            </a:r>
            <a:r>
              <a:rPr>
                <a:solidFill>
                  <a:srgbClr val="003B4F"/>
                </a:solidFill>
                <a:latin typeface="Courier"/>
              </a:rPr>
              <a:t> matplotlib.pyplot </a:t>
            </a:r>
            <a:r>
              <a:rPr>
                <a:solidFill>
                  <a:srgbClr val="00769E"/>
                </a:solidFill>
                <a:latin typeface="Courier"/>
              </a:rPr>
              <a:t>as</a:t>
            </a:r>
            <a:r>
              <a:rPr>
                <a:solidFill>
                  <a:srgbClr val="003B4F"/>
                </a:solidFill>
                <a:latin typeface="Courier"/>
              </a:rPr>
              <a:t> plt</a:t>
            </a:r>
            <a:br/>
            <a:r>
              <a:rPr>
                <a:solidFill>
                  <a:srgbClr val="00769E"/>
                </a:solidFill>
                <a:latin typeface="Courier"/>
              </a:rPr>
              <a:t>from</a:t>
            </a:r>
            <a:r>
              <a:rPr>
                <a:solidFill>
                  <a:srgbClr val="003B4F"/>
                </a:solidFill>
                <a:latin typeface="Courier"/>
              </a:rPr>
              <a:t> collections </a:t>
            </a:r>
            <a:r>
              <a:rPr>
                <a:solidFill>
                  <a:srgbClr val="00769E"/>
                </a:solidFill>
                <a:latin typeface="Courier"/>
              </a:rPr>
              <a:t>import</a:t>
            </a:r>
            <a:r>
              <a:rPr>
                <a:solidFill>
                  <a:srgbClr val="003B4F"/>
                </a:solidFill>
                <a:latin typeface="Courier"/>
              </a:rPr>
              <a:t> Counter</a:t>
            </a:r>
            <a:br/>
            <a:br/>
            <a:r>
              <a:rPr>
                <a:solidFill>
                  <a:srgbClr val="003B4F"/>
                </a:solidFill>
                <a:latin typeface="Courier"/>
              </a:rPr>
              <a:t>skills_data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20794D"/>
                </a:solidFill>
                <a:latin typeface="Courier"/>
              </a:rPr>
              <a:t>"Name"</a:t>
            </a:r>
            <a:r>
              <a:rPr>
                <a:solidFill>
                  <a:srgbClr val="003B4F"/>
                </a:solidFill>
                <a:latin typeface="Courier"/>
              </a:rPr>
              <a:t>: [</a:t>
            </a:r>
            <a:r>
              <a:rPr>
                <a:solidFill>
                  <a:srgbClr val="20794D"/>
                </a:solidFill>
                <a:latin typeface="Courier"/>
              </a:rPr>
              <a:t>"Jiaxin Wang"</a:t>
            </a:r>
            <a:r>
              <a:rPr>
                <a:solidFill>
                  <a:srgbClr val="003B4F"/>
                </a:solidFill>
                <a:latin typeface="Courier"/>
              </a:rPr>
              <a:t>, </a:t>
            </a:r>
            <a:r>
              <a:rPr>
                <a:solidFill>
                  <a:srgbClr val="20794D"/>
                </a:solidFill>
                <a:latin typeface="Courier"/>
              </a:rPr>
              <a:t>"Shuyu Pan"</a:t>
            </a:r>
            <a:r>
              <a:rPr>
                <a:solidFill>
                  <a:srgbClr val="003B4F"/>
                </a:solidFill>
                <a:latin typeface="Courier"/>
              </a:rPr>
              <a:t>, </a:t>
            </a:r>
            <a:r>
              <a:rPr>
                <a:solidFill>
                  <a:srgbClr val="20794D"/>
                </a:solidFill>
                <a:latin typeface="Courier"/>
              </a:rPr>
              <a:t>"Yixuan Chen"</a:t>
            </a:r>
            <a:r>
              <a:rPr>
                <a:solidFill>
                  <a:srgbClr val="003B4F"/>
                </a:solidFill>
                <a:latin typeface="Courier"/>
              </a:rPr>
              <a:t>, </a:t>
            </a:r>
            <a:r>
              <a:rPr>
                <a:solidFill>
                  <a:srgbClr val="20794D"/>
                </a:solidFill>
                <a:latin typeface="Courier"/>
              </a:rPr>
              <a:t>"Guowei Yan"</a:t>
            </a:r>
            <a:r>
              <a:rPr>
                <a:solidFill>
                  <a:srgbClr val="003B4F"/>
                </a:solidFill>
                <a:latin typeface="Courier"/>
              </a:rPr>
              <a:t>],</a:t>
            </a:r>
            <a:br/>
            <a:r>
              <a:rPr>
                <a:solidFill>
                  <a:srgbClr val="003B4F"/>
                </a:solidFill>
                <a:latin typeface="Courier"/>
              </a:rPr>
              <a:t>    </a:t>
            </a:r>
            <a:r>
              <a:rPr>
                <a:solidFill>
                  <a:srgbClr val="20794D"/>
                </a:solidFill>
                <a:latin typeface="Courier"/>
              </a:rPr>
              <a:t>"Python"</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AD0000"/>
                </a:solidFill>
                <a:latin typeface="Courier"/>
              </a:rPr>
              <a:t>5</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AD0000"/>
                </a:solidFill>
                <a:latin typeface="Courier"/>
              </a:rPr>
              <a:t>2</a:t>
            </a:r>
            <a:r>
              <a:rPr>
                <a:solidFill>
                  <a:srgbClr val="003B4F"/>
                </a:solidFill>
                <a:latin typeface="Courier"/>
              </a:rPr>
              <a:t>],</a:t>
            </a:r>
            <a:br/>
            <a:r>
              <a:rPr>
                <a:solidFill>
                  <a:srgbClr val="003B4F"/>
                </a:solidFill>
                <a:latin typeface="Courier"/>
              </a:rPr>
              <a:t>    </a:t>
            </a:r>
            <a:r>
              <a:rPr>
                <a:solidFill>
                  <a:srgbClr val="20794D"/>
                </a:solidFill>
                <a:latin typeface="Courier"/>
              </a:rPr>
              <a:t>"Sql"</a:t>
            </a:r>
            <a:r>
              <a:rPr>
                <a:solidFill>
                  <a:srgbClr val="003B4F"/>
                </a:solidFill>
                <a:latin typeface="Courier"/>
              </a:rPr>
              <a:t>: [</a:t>
            </a:r>
            <a:r>
              <a:rPr>
                <a:solidFill>
                  <a:srgbClr val="AD0000"/>
                </a:solidFill>
                <a:latin typeface="Courier"/>
              </a:rPr>
              <a:t>4</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AD0000"/>
                </a:solidFill>
                <a:latin typeface="Courier"/>
              </a:rPr>
              <a:t>2</a:t>
            </a:r>
            <a:r>
              <a:rPr>
                <a:solidFill>
                  <a:srgbClr val="003B4F"/>
                </a:solidFill>
                <a:latin typeface="Courier"/>
              </a:rPr>
              <a:t>],</a:t>
            </a:r>
            <a:br/>
            <a:r>
              <a:rPr>
                <a:solidFill>
                  <a:srgbClr val="003B4F"/>
                </a:solidFill>
                <a:latin typeface="Courier"/>
              </a:rPr>
              <a:t>    </a:t>
            </a:r>
            <a:r>
              <a:rPr>
                <a:solidFill>
                  <a:srgbClr val="20794D"/>
                </a:solidFill>
                <a:latin typeface="Courier"/>
              </a:rPr>
              <a:t>"Excel"</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AD0000"/>
                </a:solidFill>
                <a:latin typeface="Courier"/>
              </a:rPr>
              <a:t>4</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AD0000"/>
                </a:solidFill>
                <a:latin typeface="Courier"/>
              </a:rPr>
              <a:t>3</a:t>
            </a:r>
            <a:r>
              <a:rPr>
                <a:solidFill>
                  <a:srgbClr val="003B4F"/>
                </a:solidFill>
                <a:latin typeface="Courier"/>
              </a:rPr>
              <a:t>],</a:t>
            </a:r>
            <a:br/>
            <a:r>
              <a:rPr>
                <a:solidFill>
                  <a:srgbClr val="003B4F"/>
                </a:solidFill>
                <a:latin typeface="Courier"/>
              </a:rPr>
              <a:t>    </a:t>
            </a:r>
            <a:r>
              <a:rPr>
                <a:solidFill>
                  <a:srgbClr val="20794D"/>
                </a:solidFill>
                <a:latin typeface="Courier"/>
              </a:rPr>
              <a:t>"R"</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AD0000"/>
                </a:solidFill>
                <a:latin typeface="Courier"/>
              </a:rPr>
              <a:t>4</a:t>
            </a:r>
            <a:r>
              <a:rPr>
                <a:solidFill>
                  <a:srgbClr val="003B4F"/>
                </a:solidFill>
                <a:latin typeface="Courier"/>
              </a:rPr>
              <a:t>, </a:t>
            </a:r>
            <a:r>
              <a:rPr>
                <a:solidFill>
                  <a:srgbClr val="AD0000"/>
                </a:solidFill>
                <a:latin typeface="Courier"/>
              </a:rPr>
              <a:t>1</a:t>
            </a:r>
            <a:r>
              <a:rPr>
                <a:solidFill>
                  <a:srgbClr val="003B4F"/>
                </a:solidFill>
                <a:latin typeface="Courier"/>
              </a:rPr>
              <a:t>],</a:t>
            </a:r>
            <a:br/>
            <a:r>
              <a:rPr>
                <a:solidFill>
                  <a:srgbClr val="003B4F"/>
                </a:solidFill>
                <a:latin typeface="Courier"/>
              </a:rPr>
              <a:t>    </a:t>
            </a:r>
            <a:r>
              <a:rPr>
                <a:solidFill>
                  <a:srgbClr val="20794D"/>
                </a:solidFill>
                <a:latin typeface="Courier"/>
              </a:rPr>
              <a:t>"Tableau"</a:t>
            </a:r>
            <a:r>
              <a:rPr>
                <a:solidFill>
                  <a:srgbClr val="003B4F"/>
                </a:solidFill>
                <a:latin typeface="Courier"/>
              </a:rPr>
              <a:t>: [</a:t>
            </a:r>
            <a:r>
              <a:rPr>
                <a:solidFill>
                  <a:srgbClr val="AD0000"/>
                </a:solidFill>
                <a:latin typeface="Courier"/>
              </a:rPr>
              <a:t>4</a:t>
            </a:r>
            <a:r>
              <a:rPr>
                <a:solidFill>
                  <a:srgbClr val="003B4F"/>
                </a:solidFill>
                <a:latin typeface="Courier"/>
              </a:rPr>
              <a:t>, </a:t>
            </a:r>
            <a:r>
              <a:rPr>
                <a:solidFill>
                  <a:srgbClr val="AD0000"/>
                </a:solidFill>
                <a:latin typeface="Courier"/>
              </a:rPr>
              <a:t>4</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AD0000"/>
                </a:solidFill>
                <a:latin typeface="Courier"/>
              </a:rPr>
              <a:t>2</a:t>
            </a:r>
            <a:r>
              <a:rPr>
                <a:solidFill>
                  <a:srgbClr val="003B4F"/>
                </a:solidFill>
                <a:latin typeface="Courier"/>
              </a:rPr>
              <a:t>]</a:t>
            </a:r>
            <a:br/>
            <a:r>
              <a:rPr>
                <a:solidFill>
                  <a:srgbClr val="003B4F"/>
                </a:solidFill>
                <a:latin typeface="Courier"/>
              </a:rPr>
              <a:t>}</a:t>
            </a:r>
            <a:br/>
            <a:br/>
            <a:r>
              <a:rPr>
                <a:solidFill>
                  <a:srgbClr val="003B4F"/>
                </a:solidFill>
                <a:latin typeface="Courier"/>
              </a:rPr>
              <a:t>df_skills </a:t>
            </a:r>
            <a:r>
              <a:rPr>
                <a:solidFill>
                  <a:srgbClr val="5E5E5E"/>
                </a:solidFill>
                <a:latin typeface="Courier"/>
              </a:rPr>
              <a:t>=</a:t>
            </a:r>
            <a:r>
              <a:rPr>
                <a:solidFill>
                  <a:srgbClr val="003B4F"/>
                </a:solidFill>
                <a:latin typeface="Courier"/>
              </a:rPr>
              <a:t> pd.DataFrame(skills_data)</a:t>
            </a:r>
            <a:br/>
            <a:r>
              <a:rPr>
                <a:solidFill>
                  <a:srgbClr val="003B4F"/>
                </a:solidFill>
                <a:latin typeface="Courier"/>
              </a:rPr>
              <a:t>df_skills.set_index(</a:t>
            </a:r>
            <a:r>
              <a:rPr>
                <a:solidFill>
                  <a:srgbClr val="20794D"/>
                </a:solidFill>
                <a:latin typeface="Courier"/>
              </a:rPr>
              <a:t>"Name"</a:t>
            </a:r>
            <a:r>
              <a:rPr>
                <a:solidFill>
                  <a:srgbClr val="003B4F"/>
                </a:solidFill>
                <a:latin typeface="Courier"/>
              </a:rPr>
              <a:t>, inplace</a:t>
            </a:r>
            <a:r>
              <a:rPr>
                <a:solidFill>
                  <a:srgbClr val="5E5E5E"/>
                </a:solidFill>
                <a:latin typeface="Courier"/>
              </a:rPr>
              <a:t>=</a:t>
            </a:r>
            <a:r>
              <a:rPr>
                <a:solidFill>
                  <a:srgbClr val="111111"/>
                </a:solidFill>
                <a:latin typeface="Courier"/>
              </a:rPr>
              <a:t>True</a:t>
            </a:r>
            <a:r>
              <a:rPr>
                <a:solidFill>
                  <a:srgbClr val="003B4F"/>
                </a:solidFill>
                <a:latin typeface="Courier"/>
              </a:rPr>
              <a:t>)</a:t>
            </a:r>
            <a:br/>
            <a:r>
              <a:rPr>
                <a:solidFill>
                  <a:srgbClr val="003B4F"/>
                </a:solidFill>
                <a:latin typeface="Courier"/>
              </a:rPr>
              <a:t>df_skills</a:t>
            </a:r>
            <a:br/>
            <a:br/>
            <a:r>
              <a:rPr>
                <a:solidFill>
                  <a:srgbClr val="003B4F"/>
                </a:solidFill>
                <a:latin typeface="Courier"/>
              </a:rPr>
              <a:t>plt.figure(figsize</a:t>
            </a:r>
            <a:r>
              <a:rPr>
                <a:solidFill>
                  <a:srgbClr val="5E5E5E"/>
                </a:solidFill>
                <a:latin typeface="Courier"/>
              </a:rPr>
              <a:t>=</a:t>
            </a:r>
            <a:r>
              <a:rPr>
                <a:solidFill>
                  <a:srgbClr val="003B4F"/>
                </a:solidFill>
                <a:latin typeface="Courier"/>
              </a:rPr>
              <a:t>(</a:t>
            </a:r>
            <a:r>
              <a:rPr>
                <a:solidFill>
                  <a:srgbClr val="AD0000"/>
                </a:solidFill>
                <a:latin typeface="Courier"/>
              </a:rPr>
              <a:t>10</a:t>
            </a:r>
            <a:r>
              <a:rPr>
                <a:solidFill>
                  <a:srgbClr val="003B4F"/>
                </a:solidFill>
                <a:latin typeface="Courier"/>
              </a:rPr>
              <a:t>, </a:t>
            </a:r>
            <a:r>
              <a:rPr>
                <a:solidFill>
                  <a:srgbClr val="AD0000"/>
                </a:solidFill>
                <a:latin typeface="Courier"/>
              </a:rPr>
              <a:t>6</a:t>
            </a:r>
            <a:r>
              <a:rPr>
                <a:solidFill>
                  <a:srgbClr val="003B4F"/>
                </a:solidFill>
                <a:latin typeface="Courier"/>
              </a:rPr>
              <a:t>))</a:t>
            </a:r>
            <a:br/>
            <a:r>
              <a:rPr>
                <a:solidFill>
                  <a:srgbClr val="003B4F"/>
                </a:solidFill>
                <a:latin typeface="Courier"/>
              </a:rPr>
              <a:t>sns.heatmap(</a:t>
            </a:r>
            <a:br/>
            <a:r>
              <a:rPr>
                <a:solidFill>
                  <a:srgbClr val="003B4F"/>
                </a:solidFill>
                <a:latin typeface="Courier"/>
              </a:rPr>
              <a:t>    df_skills,</a:t>
            </a:r>
            <a:br/>
            <a:r>
              <a:rPr>
                <a:solidFill>
                  <a:srgbClr val="003B4F"/>
                </a:solidFill>
                <a:latin typeface="Courier"/>
              </a:rPr>
              <a:t>    annot</a:t>
            </a:r>
            <a:r>
              <a:rPr>
                <a:solidFill>
                  <a:srgbClr val="5E5E5E"/>
                </a:solidFill>
                <a:latin typeface="Courier"/>
              </a:rPr>
              <a:t>=</a:t>
            </a:r>
            <a:r>
              <a:rPr>
                <a:solidFill>
                  <a:srgbClr val="111111"/>
                </a:solidFill>
                <a:latin typeface="Courier"/>
              </a:rPr>
              <a:t>True</a:t>
            </a:r>
            <a:r>
              <a:rPr>
                <a:solidFill>
                  <a:srgbClr val="003B4F"/>
                </a:solidFill>
                <a:latin typeface="Courier"/>
              </a:rPr>
              <a:t>,</a:t>
            </a:r>
            <a:br/>
            <a:r>
              <a:rPr>
                <a:solidFill>
                  <a:srgbClr val="003B4F"/>
                </a:solidFill>
                <a:latin typeface="Courier"/>
              </a:rPr>
              <a:t>    cmap</a:t>
            </a:r>
            <a:r>
              <a:rPr>
                <a:solidFill>
                  <a:srgbClr val="5E5E5E"/>
                </a:solidFill>
                <a:latin typeface="Courier"/>
              </a:rPr>
              <a:t>=</a:t>
            </a:r>
            <a:r>
              <a:rPr>
                <a:solidFill>
                  <a:srgbClr val="20794D"/>
                </a:solidFill>
                <a:latin typeface="Courier"/>
              </a:rPr>
              <a:t>"YlGnBu"</a:t>
            </a:r>
            <a:r>
              <a:rPr>
                <a:solidFill>
                  <a:srgbClr val="003B4F"/>
                </a:solidFill>
                <a:latin typeface="Courier"/>
              </a:rPr>
              <a:t>,             </a:t>
            </a:r>
            <a:r>
              <a:rPr>
                <a:solidFill>
                  <a:srgbClr val="5E5E5E"/>
                </a:solidFill>
                <a:latin typeface="Courier"/>
              </a:rPr>
              <a:t># More polished blue-green gradient</a:t>
            </a:r>
            <a:br/>
            <a:r>
              <a:rPr>
                <a:solidFill>
                  <a:srgbClr val="003B4F"/>
                </a:solidFill>
                <a:latin typeface="Courier"/>
              </a:rPr>
              <a:t>    linewidths</a:t>
            </a:r>
            <a:r>
              <a:rPr>
                <a:solidFill>
                  <a:srgbClr val="5E5E5E"/>
                </a:solidFill>
                <a:latin typeface="Courier"/>
              </a:rPr>
              <a:t>=</a:t>
            </a:r>
            <a:r>
              <a:rPr>
                <a:solidFill>
                  <a:srgbClr val="AD0000"/>
                </a:solidFill>
                <a:latin typeface="Courier"/>
              </a:rPr>
              <a:t>1</a:t>
            </a:r>
            <a:r>
              <a:rPr>
                <a:solidFill>
                  <a:srgbClr val="003B4F"/>
                </a:solidFill>
                <a:latin typeface="Courier"/>
              </a:rPr>
              <a:t>,              </a:t>
            </a:r>
            <a:r>
              <a:rPr>
                <a:solidFill>
                  <a:srgbClr val="5E5E5E"/>
                </a:solidFill>
                <a:latin typeface="Courier"/>
              </a:rPr>
              <a:t># Stronger separation</a:t>
            </a:r>
            <a:br/>
            <a:r>
              <a:rPr>
                <a:solidFill>
                  <a:srgbClr val="003B4F"/>
                </a:solidFill>
                <a:latin typeface="Courier"/>
              </a:rPr>
              <a:t>    linecolor</a:t>
            </a:r>
            <a:r>
              <a:rPr>
                <a:solidFill>
                  <a:srgbClr val="5E5E5E"/>
                </a:solidFill>
                <a:latin typeface="Courier"/>
              </a:rPr>
              <a:t>=</a:t>
            </a:r>
            <a:r>
              <a:rPr>
                <a:solidFill>
                  <a:srgbClr val="20794D"/>
                </a:solidFill>
                <a:latin typeface="Courier"/>
              </a:rPr>
              <a:t>'white'</a:t>
            </a:r>
            <a:r>
              <a:rPr>
                <a:solidFill>
                  <a:srgbClr val="003B4F"/>
                </a:solidFill>
                <a:latin typeface="Courier"/>
              </a:rPr>
              <a:t>,         </a:t>
            </a:r>
            <a:r>
              <a:rPr>
                <a:solidFill>
                  <a:srgbClr val="5E5E5E"/>
                </a:solidFill>
                <a:latin typeface="Courier"/>
              </a:rPr>
              <a:t># Clean gridlines</a:t>
            </a:r>
            <a:br/>
            <a:r>
              <a:rPr>
                <a:solidFill>
                  <a:srgbClr val="003B4F"/>
                </a:solidFill>
                <a:latin typeface="Courier"/>
              </a:rPr>
              <a:t>    fmt</a:t>
            </a:r>
            <a:r>
              <a:rPr>
                <a:solidFill>
                  <a:srgbClr val="5E5E5E"/>
                </a:solidFill>
                <a:latin typeface="Courier"/>
              </a:rPr>
              <a:t>=</a:t>
            </a:r>
            <a:r>
              <a:rPr>
                <a:solidFill>
                  <a:srgbClr val="20794D"/>
                </a:solidFill>
                <a:latin typeface="Courier"/>
              </a:rPr>
              <a:t>'d'</a:t>
            </a:r>
            <a:r>
              <a:rPr>
                <a:solidFill>
                  <a:srgbClr val="003B4F"/>
                </a:solidFill>
                <a:latin typeface="Courier"/>
              </a:rPr>
              <a:t>,                   </a:t>
            </a:r>
            <a:r>
              <a:rPr>
                <a:solidFill>
                  <a:srgbClr val="5E5E5E"/>
                </a:solidFill>
                <a:latin typeface="Courier"/>
              </a:rPr>
              <a:t># Integer formatting</a:t>
            </a:r>
            <a:br/>
            <a:r>
              <a:rPr>
                <a:solidFill>
                  <a:srgbClr val="003B4F"/>
                </a:solidFill>
                <a:latin typeface="Courier"/>
              </a:rPr>
              <a:t>    cbar_kws</a:t>
            </a:r>
            <a:r>
              <a:rPr>
                <a:solidFill>
                  <a:srgbClr val="5E5E5E"/>
                </a:solidFill>
                <a:latin typeface="Courier"/>
              </a:rPr>
              <a:t>=</a:t>
            </a:r>
            <a:r>
              <a:rPr>
                <a:solidFill>
                  <a:srgbClr val="003B4F"/>
                </a:solidFill>
                <a:latin typeface="Courier"/>
              </a:rPr>
              <a:t>{</a:t>
            </a:r>
            <a:r>
              <a:rPr>
                <a:solidFill>
                  <a:srgbClr val="20794D"/>
                </a:solidFill>
                <a:latin typeface="Courier"/>
              </a:rPr>
              <a:t>'label'</a:t>
            </a:r>
            <a:r>
              <a:rPr>
                <a:solidFill>
                  <a:srgbClr val="003B4F"/>
                </a:solidFill>
                <a:latin typeface="Courier"/>
              </a:rPr>
              <a:t>: </a:t>
            </a:r>
            <a:r>
              <a:rPr>
                <a:solidFill>
                  <a:srgbClr val="20794D"/>
                </a:solidFill>
                <a:latin typeface="Courier"/>
              </a:rPr>
              <a:t>'Skill Level'</a:t>
            </a:r>
            <a:r>
              <a:rPr>
                <a:solidFill>
                  <a:srgbClr val="003B4F"/>
                </a:solidFill>
                <a:latin typeface="Courier"/>
              </a:rPr>
              <a:t>}  </a:t>
            </a:r>
            <a:r>
              <a:rPr>
                <a:solidFill>
                  <a:srgbClr val="5E5E5E"/>
                </a:solidFill>
                <a:latin typeface="Courier"/>
              </a:rPr>
              <a:t># Add color bar label</a:t>
            </a:r>
            <a:br/>
            <a:r>
              <a:rPr>
                <a:solidFill>
                  <a:srgbClr val="003B4F"/>
                </a:solidFill>
                <a:latin typeface="Courier"/>
              </a:rPr>
              <a:t>)</a:t>
            </a:r>
            <a:br/>
            <a:br/>
            <a:r>
              <a:rPr>
                <a:solidFill>
                  <a:srgbClr val="003B4F"/>
                </a:solidFill>
                <a:latin typeface="Courier"/>
              </a:rPr>
              <a:t>plt.title(</a:t>
            </a:r>
            <a:r>
              <a:rPr>
                <a:solidFill>
                  <a:srgbClr val="20794D"/>
                </a:solidFill>
                <a:latin typeface="Courier"/>
              </a:rPr>
              <a:t>"💼 Team Skill Levels by Tool"</a:t>
            </a:r>
            <a:r>
              <a:rPr>
                <a:solidFill>
                  <a:srgbClr val="003B4F"/>
                </a:solidFill>
                <a:latin typeface="Courier"/>
              </a:rPr>
              <a:t>, fontsize</a:t>
            </a:r>
            <a:r>
              <a:rPr>
                <a:solidFill>
                  <a:srgbClr val="5E5E5E"/>
                </a:solidFill>
                <a:latin typeface="Courier"/>
              </a:rPr>
              <a:t>=</a:t>
            </a:r>
            <a:r>
              <a:rPr>
                <a:solidFill>
                  <a:srgbClr val="AD0000"/>
                </a:solidFill>
                <a:latin typeface="Courier"/>
              </a:rPr>
              <a:t>16</a:t>
            </a:r>
            <a:r>
              <a:rPr>
                <a:solidFill>
                  <a:srgbClr val="003B4F"/>
                </a:solidFill>
                <a:latin typeface="Courier"/>
              </a:rPr>
              <a:t>, fontweight</a:t>
            </a:r>
            <a:r>
              <a:rPr>
                <a:solidFill>
                  <a:srgbClr val="5E5E5E"/>
                </a:solidFill>
                <a:latin typeface="Courier"/>
              </a:rPr>
              <a:t>=</a:t>
            </a:r>
            <a:r>
              <a:rPr>
                <a:solidFill>
                  <a:srgbClr val="20794D"/>
                </a:solidFill>
                <a:latin typeface="Courier"/>
              </a:rPr>
              <a:t>'bold'</a:t>
            </a:r>
            <a:r>
              <a:rPr>
                <a:solidFill>
                  <a:srgbClr val="003B4F"/>
                </a:solidFill>
                <a:latin typeface="Courier"/>
              </a:rPr>
              <a:t>)</a:t>
            </a:r>
            <a:br/>
            <a:r>
              <a:rPr>
                <a:solidFill>
                  <a:srgbClr val="003B4F"/>
                </a:solidFill>
                <a:latin typeface="Courier"/>
              </a:rPr>
              <a:t>plt.xlabel(</a:t>
            </a:r>
            <a:r>
              <a:rPr>
                <a:solidFill>
                  <a:srgbClr val="20794D"/>
                </a:solidFill>
                <a:latin typeface="Courier"/>
              </a:rPr>
              <a:t>"Technical Skill"</a:t>
            </a:r>
            <a:r>
              <a:rPr>
                <a:solidFill>
                  <a:srgbClr val="003B4F"/>
                </a:solidFill>
                <a:latin typeface="Courier"/>
              </a:rPr>
              <a:t>, fontsize</a:t>
            </a:r>
            <a:r>
              <a:rPr>
                <a:solidFill>
                  <a:srgbClr val="5E5E5E"/>
                </a:solidFill>
                <a:latin typeface="Courier"/>
              </a:rPr>
              <a:t>=</a:t>
            </a:r>
            <a:r>
              <a:rPr>
                <a:solidFill>
                  <a:srgbClr val="AD0000"/>
                </a:solidFill>
                <a:latin typeface="Courier"/>
              </a:rPr>
              <a:t>12</a:t>
            </a:r>
            <a:r>
              <a:rPr>
                <a:solidFill>
                  <a:srgbClr val="003B4F"/>
                </a:solidFill>
                <a:latin typeface="Courier"/>
              </a:rPr>
              <a:t>)</a:t>
            </a:r>
            <a:br/>
            <a:r>
              <a:rPr>
                <a:solidFill>
                  <a:srgbClr val="003B4F"/>
                </a:solidFill>
                <a:latin typeface="Courier"/>
              </a:rPr>
              <a:t>plt.ylabel(</a:t>
            </a:r>
            <a:r>
              <a:rPr>
                <a:solidFill>
                  <a:srgbClr val="20794D"/>
                </a:solidFill>
                <a:latin typeface="Courier"/>
              </a:rPr>
              <a:t>"Team Member"</a:t>
            </a:r>
            <a:r>
              <a:rPr>
                <a:solidFill>
                  <a:srgbClr val="003B4F"/>
                </a:solidFill>
                <a:latin typeface="Courier"/>
              </a:rPr>
              <a:t>, fontsize</a:t>
            </a:r>
            <a:r>
              <a:rPr>
                <a:solidFill>
                  <a:srgbClr val="5E5E5E"/>
                </a:solidFill>
                <a:latin typeface="Courier"/>
              </a:rPr>
              <a:t>=</a:t>
            </a:r>
            <a:r>
              <a:rPr>
                <a:solidFill>
                  <a:srgbClr val="AD0000"/>
                </a:solidFill>
                <a:latin typeface="Courier"/>
              </a:rPr>
              <a:t>12</a:t>
            </a:r>
            <a:r>
              <a:rPr>
                <a:solidFill>
                  <a:srgbClr val="003B4F"/>
                </a:solidFill>
                <a:latin typeface="Courier"/>
              </a:rPr>
              <a:t>)</a:t>
            </a:r>
            <a:br/>
            <a:r>
              <a:rPr>
                <a:solidFill>
                  <a:srgbClr val="003B4F"/>
                </a:solidFill>
                <a:latin typeface="Courier"/>
              </a:rPr>
              <a:t>plt.yticks(rotation</a:t>
            </a:r>
            <a:r>
              <a:rPr>
                <a:solidFill>
                  <a:srgbClr val="5E5E5E"/>
                </a:solidFill>
                <a:latin typeface="Courier"/>
              </a:rPr>
              <a:t>=</a:t>
            </a:r>
            <a:r>
              <a:rPr>
                <a:solidFill>
                  <a:srgbClr val="AD0000"/>
                </a:solidFill>
                <a:latin typeface="Courier"/>
              </a:rPr>
              <a:t>0</a:t>
            </a:r>
            <a:r>
              <a:rPr>
                <a:solidFill>
                  <a:srgbClr val="003B4F"/>
                </a:solidFill>
                <a:latin typeface="Courier"/>
              </a:rPr>
              <a:t>)</a:t>
            </a:r>
            <a:br/>
            <a:r>
              <a:rPr>
                <a:solidFill>
                  <a:srgbClr val="003B4F"/>
                </a:solidFill>
                <a:latin typeface="Courier"/>
              </a:rPr>
              <a:t>plt.tight_layout()</a:t>
            </a:r>
            <a:br/>
            <a:r>
              <a:rPr>
                <a:solidFill>
                  <a:srgbClr val="003B4F"/>
                </a:solidFill>
                <a:latin typeface="Courier"/>
              </a:rPr>
              <a:t>plt.show()</a:t>
            </a:r>
          </a:p>
        </p:txBody>
      </p:sp>
      <p:pic>
        <p:nvPicPr>
          <p:cNvPr descr="final_report_files/figure-pptx/cell-13-output-1.png" id="0" name="Picture 1"/>
          <p:cNvPicPr>
            <a:picLocks noGrp="1" noChangeAspect="1"/>
          </p:cNvPicPr>
          <p:nvPr/>
        </p:nvPicPr>
        <p:blipFill>
          <a:blip r:embed="rId2"/>
          <a:stretch>
            <a:fillRect/>
          </a:stretch>
        </p:blipFill>
        <p:spPr bwMode="auto">
          <a:xfrm>
            <a:off x="3568700" y="787400"/>
            <a:ext cx="5105400" cy="32131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The heatmap reveals that while the team is relatively strong in Python and SQL, proficiency in Excel and R is more limited. This suggests an opportunity to focus on upskilling in those areas for better alignment with industry demands.</a:t>
            </a:r>
          </a:p>
          <a:p>
            <a:pPr lvl="0" indent="0">
              <a:buNone/>
            </a:pPr>
            <a:r>
              <a:rPr>
                <a:solidFill>
                  <a:srgbClr val="003B4F"/>
                </a:solidFill>
                <a:latin typeface="Courier"/>
              </a:rPr>
              <a:t>market_df </a:t>
            </a:r>
            <a:r>
              <a:rPr>
                <a:solidFill>
                  <a:srgbClr val="5E5E5E"/>
                </a:solidFill>
                <a:latin typeface="Courier"/>
              </a:rPr>
              <a:t>=</a:t>
            </a:r>
            <a:r>
              <a:rPr>
                <a:solidFill>
                  <a:srgbClr val="003B4F"/>
                </a:solidFill>
                <a:latin typeface="Courier"/>
              </a:rPr>
              <a:t> pd.read_csv(</a:t>
            </a:r>
            <a:r>
              <a:rPr>
                <a:solidFill>
                  <a:srgbClr val="20794D"/>
                </a:solidFill>
                <a:latin typeface="Courier"/>
              </a:rPr>
              <a:t>"skill_counts_from_job_postings.csv"</a:t>
            </a:r>
            <a:r>
              <a:rPr>
                <a:solidFill>
                  <a:srgbClr val="003B4F"/>
                </a:solidFill>
                <a:latin typeface="Courier"/>
              </a:rPr>
              <a:t>)</a:t>
            </a:r>
            <a:br/>
            <a:r>
              <a:rPr>
                <a:solidFill>
                  <a:srgbClr val="003B4F"/>
                </a:solidFill>
                <a:latin typeface="Courier"/>
              </a:rPr>
              <a:t>top_market_skills </a:t>
            </a:r>
            <a:r>
              <a:rPr>
                <a:solidFill>
                  <a:srgbClr val="5E5E5E"/>
                </a:solidFill>
                <a:latin typeface="Courier"/>
              </a:rPr>
              <a:t>=</a:t>
            </a:r>
            <a:r>
              <a:rPr>
                <a:solidFill>
                  <a:srgbClr val="003B4F"/>
                </a:solidFill>
                <a:latin typeface="Courier"/>
              </a:rPr>
              <a:t> market_df.sort_values(by</a:t>
            </a:r>
            <a:r>
              <a:rPr>
                <a:solidFill>
                  <a:srgbClr val="5E5E5E"/>
                </a:solidFill>
                <a:latin typeface="Courier"/>
              </a:rPr>
              <a:t>=</a:t>
            </a:r>
            <a:r>
              <a:rPr>
                <a:solidFill>
                  <a:srgbClr val="20794D"/>
                </a:solidFill>
                <a:latin typeface="Courier"/>
              </a:rPr>
              <a:t>"Count"</a:t>
            </a:r>
            <a:r>
              <a:rPr>
                <a:solidFill>
                  <a:srgbClr val="003B4F"/>
                </a:solidFill>
                <a:latin typeface="Courier"/>
              </a:rPr>
              <a:t>, ascending</a:t>
            </a:r>
            <a:r>
              <a:rPr>
                <a:solidFill>
                  <a:srgbClr val="5E5E5E"/>
                </a:solidFill>
                <a:latin typeface="Courier"/>
              </a:rPr>
              <a:t>=</a:t>
            </a:r>
            <a:r>
              <a:rPr>
                <a:solidFill>
                  <a:srgbClr val="111111"/>
                </a:solidFill>
                <a:latin typeface="Courier"/>
              </a:rPr>
              <a:t>False</a:t>
            </a:r>
            <a:r>
              <a:rPr>
                <a:solidFill>
                  <a:srgbClr val="003B4F"/>
                </a:solidFill>
                <a:latin typeface="Courier"/>
              </a:rPr>
              <a:t>).head(</a:t>
            </a:r>
            <a:r>
              <a:rPr>
                <a:solidFill>
                  <a:srgbClr val="AD0000"/>
                </a:solidFill>
                <a:latin typeface="Courier"/>
              </a:rPr>
              <a:t>10</a:t>
            </a:r>
            <a:r>
              <a:rPr>
                <a:solidFill>
                  <a:srgbClr val="003B4F"/>
                </a:solidFill>
                <a:latin typeface="Courier"/>
              </a:rPr>
              <a:t>)[</a:t>
            </a:r>
            <a:r>
              <a:rPr>
                <a:solidFill>
                  <a:srgbClr val="20794D"/>
                </a:solidFill>
                <a:latin typeface="Courier"/>
              </a:rPr>
              <a:t>"Skill"</a:t>
            </a:r>
            <a:r>
              <a:rPr>
                <a:solidFill>
                  <a:srgbClr val="003B4F"/>
                </a:solidFill>
                <a:latin typeface="Courier"/>
              </a:rPr>
              <a:t>].str.title().tolist()</a:t>
            </a:r>
            <a:br/>
            <a:br/>
            <a:r>
              <a:rPr b="1">
                <a:solidFill>
                  <a:srgbClr val="003B4F"/>
                </a:solidFill>
                <a:latin typeface="Courier"/>
              </a:rPr>
              <a:t>for</a:t>
            </a:r>
            <a:r>
              <a:rPr>
                <a:solidFill>
                  <a:srgbClr val="003B4F"/>
                </a:solidFill>
                <a:latin typeface="Courier"/>
              </a:rPr>
              <a:t> skill </a:t>
            </a:r>
            <a:r>
              <a:rPr b="1">
                <a:solidFill>
                  <a:srgbClr val="003B4F"/>
                </a:solidFill>
                <a:latin typeface="Courier"/>
              </a:rPr>
              <a:t>in</a:t>
            </a:r>
            <a:r>
              <a:rPr>
                <a:solidFill>
                  <a:srgbClr val="003B4F"/>
                </a:solidFill>
                <a:latin typeface="Courier"/>
              </a:rPr>
              <a:t> top_market_skills:</a:t>
            </a:r>
            <a:br/>
            <a:r>
              <a:rPr>
                <a:solidFill>
                  <a:srgbClr val="003B4F"/>
                </a:solidFill>
                <a:latin typeface="Courier"/>
              </a:rPr>
              <a:t>    </a:t>
            </a:r>
            <a:r>
              <a:rPr b="1">
                <a:solidFill>
                  <a:srgbClr val="003B4F"/>
                </a:solidFill>
                <a:latin typeface="Courier"/>
              </a:rPr>
              <a:t>if</a:t>
            </a:r>
            <a:r>
              <a:rPr>
                <a:solidFill>
                  <a:srgbClr val="003B4F"/>
                </a:solidFill>
                <a:latin typeface="Courier"/>
              </a:rPr>
              <a:t> skill </a:t>
            </a:r>
            <a:r>
              <a:rPr b="1">
                <a:solidFill>
                  <a:srgbClr val="003B4F"/>
                </a:solidFill>
                <a:latin typeface="Courier"/>
              </a:rPr>
              <a:t>not</a:t>
            </a:r>
            <a:r>
              <a:rPr>
                <a:solidFill>
                  <a:srgbClr val="003B4F"/>
                </a:solidFill>
                <a:latin typeface="Courier"/>
              </a:rPr>
              <a:t> </a:t>
            </a:r>
            <a:r>
              <a:rPr b="1">
                <a:solidFill>
                  <a:srgbClr val="003B4F"/>
                </a:solidFill>
                <a:latin typeface="Courier"/>
              </a:rPr>
              <a:t>in</a:t>
            </a:r>
            <a:r>
              <a:rPr>
                <a:solidFill>
                  <a:srgbClr val="003B4F"/>
                </a:solidFill>
                <a:latin typeface="Courier"/>
              </a:rPr>
              <a:t> df_skills.columns:</a:t>
            </a:r>
            <a:br/>
            <a:r>
              <a:rPr>
                <a:solidFill>
                  <a:srgbClr val="003B4F"/>
                </a:solidFill>
                <a:latin typeface="Courier"/>
              </a:rPr>
              <a:t>        df_skills[skill] </a:t>
            </a:r>
            <a:r>
              <a:rPr>
                <a:solidFill>
                  <a:srgbClr val="5E5E5E"/>
                </a:solidFill>
                <a:latin typeface="Courier"/>
              </a:rPr>
              <a:t>=</a:t>
            </a:r>
            <a:r>
              <a:rPr>
                <a:solidFill>
                  <a:srgbClr val="003B4F"/>
                </a:solidFill>
                <a:latin typeface="Courier"/>
              </a:rPr>
              <a:t> </a:t>
            </a:r>
            <a:r>
              <a:rPr>
                <a:solidFill>
                  <a:srgbClr val="AD0000"/>
                </a:solidFill>
                <a:latin typeface="Courier"/>
              </a:rPr>
              <a:t>0</a:t>
            </a:r>
            <a:br/>
            <a:br/>
            <a:r>
              <a:rPr>
                <a:solidFill>
                  <a:srgbClr val="003B4F"/>
                </a:solidFill>
                <a:latin typeface="Courier"/>
              </a:rPr>
              <a:t>df_compare </a:t>
            </a:r>
            <a:r>
              <a:rPr>
                <a:solidFill>
                  <a:srgbClr val="5E5E5E"/>
                </a:solidFill>
                <a:latin typeface="Courier"/>
              </a:rPr>
              <a:t>=</a:t>
            </a:r>
            <a:r>
              <a:rPr>
                <a:solidFill>
                  <a:srgbClr val="003B4F"/>
                </a:solidFill>
                <a:latin typeface="Courier"/>
              </a:rPr>
              <a:t> df_skills[top_market_skills]</a:t>
            </a:r>
            <a:br/>
            <a:br/>
            <a:r>
              <a:rPr>
                <a:solidFill>
                  <a:srgbClr val="003B4F"/>
                </a:solidFill>
                <a:latin typeface="Courier"/>
              </a:rPr>
              <a:t>plt.figure(figsize</a:t>
            </a:r>
            <a:r>
              <a:rPr>
                <a:solidFill>
                  <a:srgbClr val="5E5E5E"/>
                </a:solidFill>
                <a:latin typeface="Courier"/>
              </a:rPr>
              <a:t>=</a:t>
            </a:r>
            <a:r>
              <a:rPr>
                <a:solidFill>
                  <a:srgbClr val="003B4F"/>
                </a:solidFill>
                <a:latin typeface="Courier"/>
              </a:rPr>
              <a:t>(</a:t>
            </a:r>
            <a:r>
              <a:rPr>
                <a:solidFill>
                  <a:srgbClr val="AD0000"/>
                </a:solidFill>
                <a:latin typeface="Courier"/>
              </a:rPr>
              <a:t>12</a:t>
            </a:r>
            <a:r>
              <a:rPr>
                <a:solidFill>
                  <a:srgbClr val="003B4F"/>
                </a:solidFill>
                <a:latin typeface="Courier"/>
              </a:rPr>
              <a:t>, </a:t>
            </a:r>
            <a:r>
              <a:rPr>
                <a:solidFill>
                  <a:srgbClr val="AD0000"/>
                </a:solidFill>
                <a:latin typeface="Courier"/>
              </a:rPr>
              <a:t>6</a:t>
            </a:r>
            <a:r>
              <a:rPr>
                <a:solidFill>
                  <a:srgbClr val="003B4F"/>
                </a:solidFill>
                <a:latin typeface="Courier"/>
              </a:rPr>
              <a:t>))</a:t>
            </a:r>
            <a:br/>
            <a:r>
              <a:rPr>
                <a:solidFill>
                  <a:srgbClr val="003B4F"/>
                </a:solidFill>
                <a:latin typeface="Courier"/>
              </a:rPr>
              <a:t>sns.heatmap(df_compare, annot</a:t>
            </a:r>
            <a:r>
              <a:rPr>
                <a:solidFill>
                  <a:srgbClr val="5E5E5E"/>
                </a:solidFill>
                <a:latin typeface="Courier"/>
              </a:rPr>
              <a:t>=</a:t>
            </a:r>
            <a:r>
              <a:rPr>
                <a:solidFill>
                  <a:srgbClr val="111111"/>
                </a:solidFill>
                <a:latin typeface="Courier"/>
              </a:rPr>
              <a:t>True</a:t>
            </a:r>
            <a:r>
              <a:rPr>
                <a:solidFill>
                  <a:srgbClr val="003B4F"/>
                </a:solidFill>
                <a:latin typeface="Courier"/>
              </a:rPr>
              <a:t>, cmap</a:t>
            </a:r>
            <a:r>
              <a:rPr>
                <a:solidFill>
                  <a:srgbClr val="5E5E5E"/>
                </a:solidFill>
                <a:latin typeface="Courier"/>
              </a:rPr>
              <a:t>=</a:t>
            </a:r>
            <a:r>
              <a:rPr>
                <a:solidFill>
                  <a:srgbClr val="20794D"/>
                </a:solidFill>
                <a:latin typeface="Courier"/>
              </a:rPr>
              <a:t>"coolwarm"</a:t>
            </a:r>
            <a:r>
              <a:rPr>
                <a:solidFill>
                  <a:srgbClr val="003B4F"/>
                </a:solidFill>
                <a:latin typeface="Courier"/>
              </a:rPr>
              <a:t>, linewidths</a:t>
            </a:r>
            <a:r>
              <a:rPr>
                <a:solidFill>
                  <a:srgbClr val="5E5E5E"/>
                </a:solidFill>
                <a:latin typeface="Courier"/>
              </a:rPr>
              <a:t>=</a:t>
            </a:r>
            <a:r>
              <a:rPr>
                <a:solidFill>
                  <a:srgbClr val="AD0000"/>
                </a:solidFill>
                <a:latin typeface="Courier"/>
              </a:rPr>
              <a:t>0.5</a:t>
            </a:r>
            <a:r>
              <a:rPr>
                <a:solidFill>
                  <a:srgbClr val="003B4F"/>
                </a:solidFill>
                <a:latin typeface="Courier"/>
              </a:rPr>
              <a:t>, fmt</a:t>
            </a:r>
            <a:r>
              <a:rPr>
                <a:solidFill>
                  <a:srgbClr val="5E5E5E"/>
                </a:solidFill>
                <a:latin typeface="Courier"/>
              </a:rPr>
              <a:t>=</a:t>
            </a:r>
            <a:r>
              <a:rPr>
                <a:solidFill>
                  <a:srgbClr val="20794D"/>
                </a:solidFill>
                <a:latin typeface="Courier"/>
              </a:rPr>
              <a:t>'d'</a:t>
            </a:r>
            <a:r>
              <a:rPr>
                <a:solidFill>
                  <a:srgbClr val="003B4F"/>
                </a:solidFill>
                <a:latin typeface="Courier"/>
              </a:rPr>
              <a:t>)</a:t>
            </a:r>
            <a:br/>
            <a:r>
              <a:rPr>
                <a:solidFill>
                  <a:srgbClr val="003B4F"/>
                </a:solidFill>
                <a:latin typeface="Courier"/>
              </a:rPr>
              <a:t>plt.title(</a:t>
            </a:r>
            <a:r>
              <a:rPr>
                <a:solidFill>
                  <a:srgbClr val="20794D"/>
                </a:solidFill>
                <a:latin typeface="Courier"/>
              </a:rPr>
              <a:t>"Team Skills vs. Top In-Demand Skills from Job Postings"</a:t>
            </a:r>
            <a:r>
              <a:rPr>
                <a:solidFill>
                  <a:srgbClr val="003B4F"/>
                </a:solidFill>
                <a:latin typeface="Courier"/>
              </a:rPr>
              <a:t>)</a:t>
            </a:r>
            <a:br/>
            <a:r>
              <a:rPr>
                <a:solidFill>
                  <a:srgbClr val="003B4F"/>
                </a:solidFill>
                <a:latin typeface="Courier"/>
              </a:rPr>
              <a:t>plt.tight_layout()</a:t>
            </a:r>
            <a:br/>
            <a:r>
              <a:rPr>
                <a:solidFill>
                  <a:srgbClr val="003B4F"/>
                </a:solidFill>
                <a:latin typeface="Courier"/>
              </a:rPr>
              <a:t>plt.show()</a:t>
            </a:r>
          </a:p>
        </p:txBody>
      </p:sp>
      <p:pic>
        <p:nvPicPr>
          <p:cNvPr descr="final_report_files/figure-pptx/cell-14-output-1.png" id="0" name="Picture 1"/>
          <p:cNvPicPr>
            <a:picLocks noGrp="1" noChangeAspect="1"/>
          </p:cNvPicPr>
          <p:nvPr/>
        </p:nvPicPr>
        <p:blipFill>
          <a:blip r:embed="rId2"/>
          <a:stretch>
            <a:fillRect/>
          </a:stretch>
        </p:blipFill>
        <p:spPr bwMode="auto">
          <a:xfrm>
            <a:off x="3568700" y="977900"/>
            <a:ext cx="5105400" cy="28194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We compared our team’s skills with the top in-demand skills from job postings, including Python, SQL, Excel, Tableau, R, and advanced topics like Java, NLP, Hadoop, and TensorFlow. While the team shows strong proficiency in core tools like Python, SQL, and Excel, we lack exposure to newer or more specialized technologies. Most members have no experience in AI, NLP, Java, or TensorFlow—highlighting clear opportunities for targeted upskilling to better align with market needs.</a:t>
            </a:r>
          </a:p>
          <a:p>
            <a:pPr lvl="0" indent="0" marL="0">
              <a:spcBef>
                <a:spcPts val="3000"/>
              </a:spcBef>
              <a:buNone/>
            </a:pPr>
            <a:r>
              <a:rPr b="1"/>
              <a:t>Propose an improvement plan</a:t>
            </a:r>
          </a:p>
          <a:p>
            <a:pPr lvl="0" indent="0" marL="0">
              <a:spcBef>
                <a:spcPts val="3000"/>
              </a:spcBef>
              <a:buNone/>
            </a:pPr>
            <a:r>
              <a:rPr b="1"/>
              <a:t>Which skills should each member prioritize learning?</a:t>
            </a:r>
          </a:p>
          <a:p>
            <a:pPr lvl="0" indent="0" marL="0">
              <a:buNone/>
            </a:pPr>
            <a:r>
              <a:rPr/>
              <a:t>Jiaxin Wang should focus on AI, NLP, and TensorFlow, as they currently lack exposure to these emerging areas. Enhancing proficiency in R will also boost analytical versatility.</a:t>
            </a:r>
          </a:p>
          <a:p>
            <a:pPr lvl="0" indent="0" marL="0">
              <a:buNone/>
            </a:pPr>
            <a:r>
              <a:rPr/>
              <a:t>Shuyu Pan demonstrates strong skills across the board but could benefit from foundational knowledge in AI and NLP to support more advanced ML tasks.</a:t>
            </a:r>
          </a:p>
          <a:p>
            <a:pPr lvl="0" indent="0" marL="0">
              <a:buNone/>
            </a:pPr>
            <a:r>
              <a:rPr/>
              <a:t>Yixuan Chen should continue building on Python and Tableau skills while expanding into Java and cloud tools like Hadoop.</a:t>
            </a:r>
          </a:p>
          <a:p>
            <a:pPr lvl="0" indent="0" marL="0">
              <a:buNone/>
            </a:pPr>
            <a:r>
              <a:rPr/>
              <a:t>Guowei Yan should strengthen fundamentals in Python, R, and data frameworks like Hadoop and TensorFlow, while reinforcing communication by collaborating on technical presentations.</a:t>
            </a:r>
          </a:p>
          <a:p>
            <a:pPr lvl="0" indent="0" marL="0">
              <a:spcBef>
                <a:spcPts val="3000"/>
              </a:spcBef>
              <a:buNone/>
            </a:pPr>
            <a:r>
              <a:rPr b="1"/>
              <a:t>What courses or resources can help?</a:t>
            </a:r>
          </a:p>
          <a:p>
            <a:pPr lvl="0" indent="0" marL="0">
              <a:buNone/>
            </a:pPr>
            <a:r>
              <a:rPr/>
              <a:t>To support skill development, we recommend the IBM Data Science Certificate on Coursera for building strong foundations in Python, SQL, and data analysis. For AI and deep learning, the fast.ai course is practical and beginner-friendly. Those interested in cloud tools and TensorFlow can benefit from Google Cloud Skills Boost. Additionally, Kaggle Learn offers short, hands-on modules in NLP, visualization, and machine learning, ideal for flexible, self-paced learning.</a:t>
            </a:r>
          </a:p>
          <a:p>
            <a:pPr lvl="0" indent="0" marL="0">
              <a:spcBef>
                <a:spcPts val="3000"/>
              </a:spcBef>
              <a:buNone/>
            </a:pPr>
            <a:r>
              <a:rPr b="1"/>
              <a:t>How can the team collaborate to bridge skill gaps?</a:t>
            </a:r>
          </a:p>
          <a:p>
            <a:pPr lvl="0" indent="0" marL="0">
              <a:buNone/>
            </a:pPr>
            <a:r>
              <a:rPr/>
              <a:t>To close skill gaps effectively, the team can organize weekly peer learning sessions where members with stronger skills mentor others through mini-projects or coding exercises. Collaborative work on shared datasets—such as building dashboards, running models, or exploring NLP—can reinforce learning through practice. Additionally, rotating “skill spotlight” sessions where one member presents a new tool or concept will help foster continuous knowledge sharing and keep everyone engaged.</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title: “ML Methods” format: html</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Goal: Use unsupervised machine learning (clustering) to identify patterns or groupings in the job postings dataset, based on variables such as required skills,job tittle, and salary.</a:t>
            </a:r>
          </a:p>
          <a:p>
            <a:pPr lvl="0" indent="0">
              <a:buNone/>
            </a:pPr>
            <a:r>
              <a:rPr>
                <a:solidFill>
                  <a:srgbClr val="00769E"/>
                </a:solidFill>
                <a:latin typeface="Courier"/>
              </a:rPr>
              <a:t>import</a:t>
            </a:r>
            <a:r>
              <a:rPr>
                <a:solidFill>
                  <a:srgbClr val="003B4F"/>
                </a:solidFill>
                <a:latin typeface="Courier"/>
              </a:rPr>
              <a:t> plotly.express </a:t>
            </a:r>
            <a:r>
              <a:rPr>
                <a:solidFill>
                  <a:srgbClr val="00769E"/>
                </a:solidFill>
                <a:latin typeface="Courier"/>
              </a:rPr>
              <a:t>as</a:t>
            </a:r>
            <a:r>
              <a:rPr>
                <a:solidFill>
                  <a:srgbClr val="003B4F"/>
                </a:solidFill>
                <a:latin typeface="Courier"/>
              </a:rPr>
              <a:t> px</a:t>
            </a:r>
            <a:br/>
            <a:r>
              <a:rPr>
                <a:solidFill>
                  <a:srgbClr val="00769E"/>
                </a:solidFill>
                <a:latin typeface="Courier"/>
              </a:rPr>
              <a:t>from</a:t>
            </a:r>
            <a:r>
              <a:rPr>
                <a:solidFill>
                  <a:srgbClr val="003B4F"/>
                </a:solidFill>
                <a:latin typeface="Courier"/>
              </a:rPr>
              <a:t> pyspark.ml.clustering </a:t>
            </a:r>
            <a:r>
              <a:rPr>
                <a:solidFill>
                  <a:srgbClr val="00769E"/>
                </a:solidFill>
                <a:latin typeface="Courier"/>
              </a:rPr>
              <a:t>import</a:t>
            </a:r>
            <a:r>
              <a:rPr>
                <a:solidFill>
                  <a:srgbClr val="003B4F"/>
                </a:solidFill>
                <a:latin typeface="Courier"/>
              </a:rPr>
              <a:t> KMeans</a:t>
            </a:r>
            <a:br/>
            <a:r>
              <a:rPr>
                <a:solidFill>
                  <a:srgbClr val="00769E"/>
                </a:solidFill>
                <a:latin typeface="Courier"/>
              </a:rPr>
              <a:t>from</a:t>
            </a:r>
            <a:r>
              <a:rPr>
                <a:solidFill>
                  <a:srgbClr val="003B4F"/>
                </a:solidFill>
                <a:latin typeface="Courier"/>
              </a:rPr>
              <a:t> pyspark.ml.feature </a:t>
            </a:r>
            <a:r>
              <a:rPr>
                <a:solidFill>
                  <a:srgbClr val="00769E"/>
                </a:solidFill>
                <a:latin typeface="Courier"/>
              </a:rPr>
              <a:t>import</a:t>
            </a:r>
            <a:r>
              <a:rPr>
                <a:solidFill>
                  <a:srgbClr val="003B4F"/>
                </a:solidFill>
                <a:latin typeface="Courier"/>
              </a:rPr>
              <a:t> VectorAssembler, StandardScaler</a:t>
            </a:r>
            <a:br/>
            <a:r>
              <a:rPr>
                <a:solidFill>
                  <a:srgbClr val="00769E"/>
                </a:solidFill>
                <a:latin typeface="Courier"/>
              </a:rPr>
              <a:t>from</a:t>
            </a:r>
            <a:r>
              <a:rPr>
                <a:solidFill>
                  <a:srgbClr val="003B4F"/>
                </a:solidFill>
                <a:latin typeface="Courier"/>
              </a:rPr>
              <a:t> pyspark.ml </a:t>
            </a:r>
            <a:r>
              <a:rPr>
                <a:solidFill>
                  <a:srgbClr val="00769E"/>
                </a:solidFill>
                <a:latin typeface="Courier"/>
              </a:rPr>
              <a:t>import</a:t>
            </a:r>
            <a:r>
              <a:rPr>
                <a:solidFill>
                  <a:srgbClr val="003B4F"/>
                </a:solidFill>
                <a:latin typeface="Courier"/>
              </a:rPr>
              <a:t> Pipeline</a:t>
            </a:r>
            <a:br/>
            <a:r>
              <a:rPr>
                <a:solidFill>
                  <a:srgbClr val="00769E"/>
                </a:solidFill>
                <a:latin typeface="Courier"/>
              </a:rPr>
              <a:t>from</a:t>
            </a:r>
            <a:r>
              <a:rPr>
                <a:solidFill>
                  <a:srgbClr val="003B4F"/>
                </a:solidFill>
                <a:latin typeface="Courier"/>
              </a:rPr>
              <a:t> pyspark.sql </a:t>
            </a:r>
            <a:r>
              <a:rPr>
                <a:solidFill>
                  <a:srgbClr val="00769E"/>
                </a:solidFill>
                <a:latin typeface="Courier"/>
              </a:rPr>
              <a:t>import</a:t>
            </a:r>
            <a:r>
              <a:rPr>
                <a:solidFill>
                  <a:srgbClr val="003B4F"/>
                </a:solidFill>
                <a:latin typeface="Courier"/>
              </a:rPr>
              <a:t> SparkSession</a:t>
            </a:r>
            <a:br/>
            <a:r>
              <a:rPr>
                <a:solidFill>
                  <a:srgbClr val="00769E"/>
                </a:solidFill>
                <a:latin typeface="Courier"/>
              </a:rPr>
              <a:t>import</a:t>
            </a:r>
            <a:r>
              <a:rPr>
                <a:solidFill>
                  <a:srgbClr val="003B4F"/>
                </a:solidFill>
                <a:latin typeface="Courier"/>
              </a:rPr>
              <a:t> pandas </a:t>
            </a:r>
            <a:r>
              <a:rPr>
                <a:solidFill>
                  <a:srgbClr val="00769E"/>
                </a:solidFill>
                <a:latin typeface="Courier"/>
              </a:rPr>
              <a:t>as</a:t>
            </a:r>
            <a:r>
              <a:rPr>
                <a:solidFill>
                  <a:srgbClr val="003B4F"/>
                </a:solidFill>
                <a:latin typeface="Courier"/>
              </a:rPr>
              <a:t> pd</a:t>
            </a:r>
            <a:br/>
            <a:r>
              <a:rPr>
                <a:solidFill>
                  <a:srgbClr val="00769E"/>
                </a:solidFill>
                <a:latin typeface="Courier"/>
              </a:rPr>
              <a:t>import</a:t>
            </a:r>
            <a:r>
              <a:rPr>
                <a:solidFill>
                  <a:srgbClr val="003B4F"/>
                </a:solidFill>
                <a:latin typeface="Courier"/>
              </a:rPr>
              <a:t> plotly.express </a:t>
            </a:r>
            <a:r>
              <a:rPr>
                <a:solidFill>
                  <a:srgbClr val="00769E"/>
                </a:solidFill>
                <a:latin typeface="Courier"/>
              </a:rPr>
              <a:t>as</a:t>
            </a:r>
            <a:r>
              <a:rPr>
                <a:solidFill>
                  <a:srgbClr val="003B4F"/>
                </a:solidFill>
                <a:latin typeface="Courier"/>
              </a:rPr>
              <a:t> px</a:t>
            </a:r>
            <a:br/>
            <a:r>
              <a:rPr>
                <a:solidFill>
                  <a:srgbClr val="00769E"/>
                </a:solidFill>
                <a:latin typeface="Courier"/>
              </a:rPr>
              <a:t>import</a:t>
            </a:r>
            <a:r>
              <a:rPr>
                <a:solidFill>
                  <a:srgbClr val="003B4F"/>
                </a:solidFill>
                <a:latin typeface="Courier"/>
              </a:rPr>
              <a:t> plotly.io </a:t>
            </a:r>
            <a:r>
              <a:rPr>
                <a:solidFill>
                  <a:srgbClr val="00769E"/>
                </a:solidFill>
                <a:latin typeface="Courier"/>
              </a:rPr>
              <a:t>as</a:t>
            </a:r>
            <a:r>
              <a:rPr>
                <a:solidFill>
                  <a:srgbClr val="003B4F"/>
                </a:solidFill>
                <a:latin typeface="Courier"/>
              </a:rPr>
              <a:t> pio</a:t>
            </a:r>
          </a:p>
          <a:p>
            <a:pPr lvl="0" indent="0" marL="0">
              <a:buNone/>
            </a:pPr>
            <a:r>
              <a:rPr/>
              <a:t>##Step 1: Load Data and Select Features</a:t>
            </a:r>
          </a:p>
          <a:p>
            <a:pPr lvl="0" indent="0">
              <a:buNone/>
            </a:pPr>
            <a:r>
              <a:rPr>
                <a:solidFill>
                  <a:srgbClr val="5E5E5E"/>
                </a:solidFill>
                <a:latin typeface="Courier"/>
              </a:rPr>
              <a:t># Initialize Spark Session</a:t>
            </a:r>
            <a:br/>
            <a:r>
              <a:rPr>
                <a:solidFill>
                  <a:srgbClr val="003B4F"/>
                </a:solidFill>
                <a:latin typeface="Courier"/>
              </a:rPr>
              <a:t>spark </a:t>
            </a:r>
            <a:r>
              <a:rPr>
                <a:solidFill>
                  <a:srgbClr val="5E5E5E"/>
                </a:solidFill>
                <a:latin typeface="Courier"/>
              </a:rPr>
              <a:t>=</a:t>
            </a:r>
            <a:r>
              <a:rPr>
                <a:solidFill>
                  <a:srgbClr val="003B4F"/>
                </a:solidFill>
                <a:latin typeface="Courier"/>
              </a:rPr>
              <a:t> SparkSession.builder.appName(</a:t>
            </a:r>
            <a:r>
              <a:rPr>
                <a:solidFill>
                  <a:srgbClr val="20794D"/>
                </a:solidFill>
                <a:latin typeface="Courier"/>
              </a:rPr>
              <a:t>"LightcastData"</a:t>
            </a:r>
            <a:r>
              <a:rPr>
                <a:solidFill>
                  <a:srgbClr val="003B4F"/>
                </a:solidFill>
                <a:latin typeface="Courier"/>
              </a:rPr>
              <a:t>).getOrCreate()</a:t>
            </a:r>
            <a:br/>
            <a:r>
              <a:rPr>
                <a:solidFill>
                  <a:srgbClr val="003B4F"/>
                </a:solidFill>
                <a:latin typeface="Courier"/>
              </a:rPr>
              <a:t>spark.sparkContext.setLogLevel(</a:t>
            </a:r>
            <a:r>
              <a:rPr>
                <a:solidFill>
                  <a:srgbClr val="20794D"/>
                </a:solidFill>
                <a:latin typeface="Courier"/>
              </a:rPr>
              <a:t>"ERROR"</a:t>
            </a:r>
            <a:r>
              <a:rPr>
                <a:solidFill>
                  <a:srgbClr val="003B4F"/>
                </a:solidFill>
                <a:latin typeface="Courier"/>
              </a:rPr>
              <a:t>)</a:t>
            </a:r>
            <a:br/>
            <a:r>
              <a:rPr>
                <a:solidFill>
                  <a:srgbClr val="5E5E5E"/>
                </a:solidFill>
                <a:latin typeface="Courier"/>
              </a:rPr>
              <a:t># Load Data</a:t>
            </a:r>
            <a:br/>
            <a:r>
              <a:rPr>
                <a:solidFill>
                  <a:srgbClr val="003B4F"/>
                </a:solidFill>
                <a:latin typeface="Courier"/>
              </a:rPr>
              <a:t>df </a:t>
            </a:r>
            <a:r>
              <a:rPr>
                <a:solidFill>
                  <a:srgbClr val="5E5E5E"/>
                </a:solidFill>
                <a:latin typeface="Courier"/>
              </a:rPr>
              <a:t>=</a:t>
            </a:r>
            <a:r>
              <a:rPr>
                <a:solidFill>
                  <a:srgbClr val="003B4F"/>
                </a:solidFill>
                <a:latin typeface="Courier"/>
              </a:rPr>
              <a:t> spark.read.option(</a:t>
            </a:r>
            <a:r>
              <a:rPr>
                <a:solidFill>
                  <a:srgbClr val="20794D"/>
                </a:solidFill>
                <a:latin typeface="Courier"/>
              </a:rPr>
              <a:t>"header"</a:t>
            </a:r>
            <a:r>
              <a:rPr>
                <a:solidFill>
                  <a:srgbClr val="003B4F"/>
                </a:solidFill>
                <a:latin typeface="Courier"/>
              </a:rPr>
              <a:t>, </a:t>
            </a:r>
            <a:r>
              <a:rPr>
                <a:solidFill>
                  <a:srgbClr val="20794D"/>
                </a:solidFill>
                <a:latin typeface="Courier"/>
              </a:rPr>
              <a:t>"true"</a:t>
            </a:r>
            <a:r>
              <a:rPr>
                <a:solidFill>
                  <a:srgbClr val="003B4F"/>
                </a:solidFill>
                <a:latin typeface="Courier"/>
              </a:rPr>
              <a:t>).option(</a:t>
            </a:r>
            <a:r>
              <a:rPr>
                <a:solidFill>
                  <a:srgbClr val="20794D"/>
                </a:solidFill>
                <a:latin typeface="Courier"/>
              </a:rPr>
              <a:t>"inferSchema"</a:t>
            </a:r>
            <a:r>
              <a:rPr>
                <a:solidFill>
                  <a:srgbClr val="003B4F"/>
                </a:solidFill>
                <a:latin typeface="Courier"/>
              </a:rPr>
              <a:t>, </a:t>
            </a:r>
            <a:r>
              <a:rPr>
                <a:solidFill>
                  <a:srgbClr val="20794D"/>
                </a:solidFill>
                <a:latin typeface="Courier"/>
              </a:rPr>
              <a:t>"true"</a:t>
            </a:r>
            <a:r>
              <a:rPr>
                <a:solidFill>
                  <a:srgbClr val="003B4F"/>
                </a:solidFill>
                <a:latin typeface="Courier"/>
              </a:rPr>
              <a:t>).option(</a:t>
            </a:r>
            <a:r>
              <a:rPr>
                <a:solidFill>
                  <a:srgbClr val="20794D"/>
                </a:solidFill>
                <a:latin typeface="Courier"/>
              </a:rPr>
              <a:t>"multiLine"</a:t>
            </a:r>
            <a:r>
              <a:rPr>
                <a:solidFill>
                  <a:srgbClr val="003B4F"/>
                </a:solidFill>
                <a:latin typeface="Courier"/>
              </a:rPr>
              <a:t>,</a:t>
            </a:r>
            <a:r>
              <a:rPr>
                <a:solidFill>
                  <a:srgbClr val="20794D"/>
                </a:solidFill>
                <a:latin typeface="Courier"/>
              </a:rPr>
              <a:t>"true"</a:t>
            </a:r>
            <a:r>
              <a:rPr>
                <a:solidFill>
                  <a:srgbClr val="003B4F"/>
                </a:solidFill>
                <a:latin typeface="Courier"/>
              </a:rPr>
              <a:t>).option(</a:t>
            </a:r>
            <a:r>
              <a:rPr>
                <a:solidFill>
                  <a:srgbClr val="20794D"/>
                </a:solidFill>
                <a:latin typeface="Courier"/>
              </a:rPr>
              <a:t>"escape"</a:t>
            </a:r>
            <a:r>
              <a:rPr>
                <a:solidFill>
                  <a:srgbClr val="003B4F"/>
                </a:solidFill>
                <a:latin typeface="Courier"/>
              </a:rPr>
              <a:t>, </a:t>
            </a:r>
            <a:r>
              <a:rPr>
                <a:solidFill>
                  <a:srgbClr val="20794D"/>
                </a:solidFill>
                <a:latin typeface="Courier"/>
              </a:rPr>
              <a:t>"\""</a:t>
            </a:r>
            <a:r>
              <a:rPr>
                <a:solidFill>
                  <a:srgbClr val="003B4F"/>
                </a:solidFill>
                <a:latin typeface="Courier"/>
              </a:rPr>
              <a:t>).csv(</a:t>
            </a:r>
            <a:r>
              <a:rPr>
                <a:solidFill>
                  <a:srgbClr val="20794D"/>
                </a:solidFill>
                <a:latin typeface="Courier"/>
              </a:rPr>
              <a:t>"lightcast_job_postings.csv"</a:t>
            </a:r>
            <a:r>
              <a:rPr>
                <a:solidFill>
                  <a:srgbClr val="003B4F"/>
                </a:solidFill>
                <a:latin typeface="Courier"/>
              </a:rPr>
              <a:t>)</a:t>
            </a:r>
          </a:p>
          <a:p>
            <a:pPr lvl="0" indent="0" marL="0">
              <a:buNone/>
            </a:pPr>
            <a:r>
              <a:rPr/>
              <a:t>Step 3: Clean Dataload data</a:t>
            </a:r>
          </a:p>
          <a:p>
            <a:pPr lvl="0" indent="0">
              <a:buNone/>
            </a:pPr>
            <a:r>
              <a:rPr>
                <a:solidFill>
                  <a:srgbClr val="00769E"/>
                </a:solidFill>
                <a:latin typeface="Courier"/>
              </a:rPr>
              <a:t>from</a:t>
            </a:r>
            <a:r>
              <a:rPr>
                <a:solidFill>
                  <a:srgbClr val="003B4F"/>
                </a:solidFill>
                <a:latin typeface="Courier"/>
              </a:rPr>
              <a:t> pyspark.sql.functions </a:t>
            </a:r>
            <a:r>
              <a:rPr>
                <a:solidFill>
                  <a:srgbClr val="00769E"/>
                </a:solidFill>
                <a:latin typeface="Courier"/>
              </a:rPr>
              <a:t>import</a:t>
            </a:r>
            <a:r>
              <a:rPr>
                <a:solidFill>
                  <a:srgbClr val="003B4F"/>
                </a:solidFill>
                <a:latin typeface="Courier"/>
              </a:rPr>
              <a:t> trim,col</a:t>
            </a:r>
            <a:br/>
            <a:r>
              <a:rPr>
                <a:solidFill>
                  <a:srgbClr val="003B4F"/>
                </a:solidFill>
                <a:latin typeface="Courier"/>
              </a:rPr>
              <a:t>df </a:t>
            </a:r>
            <a:r>
              <a:rPr>
                <a:solidFill>
                  <a:srgbClr val="5E5E5E"/>
                </a:solidFill>
                <a:latin typeface="Courier"/>
              </a:rPr>
              <a:t>=</a:t>
            </a:r>
            <a:r>
              <a:rPr>
                <a:solidFill>
                  <a:srgbClr val="003B4F"/>
                </a:solidFill>
                <a:latin typeface="Courier"/>
              </a:rPr>
              <a:t> df.dropna(subset</a:t>
            </a:r>
            <a:r>
              <a:rPr>
                <a:solidFill>
                  <a:srgbClr val="5E5E5E"/>
                </a:solidFill>
                <a:latin typeface="Courier"/>
              </a:rPr>
              <a:t>=</a:t>
            </a:r>
            <a:r>
              <a:rPr>
                <a:solidFill>
                  <a:srgbClr val="003B4F"/>
                </a:solidFill>
                <a:latin typeface="Courier"/>
              </a:rPr>
              <a:t>[</a:t>
            </a:r>
            <a:r>
              <a:rPr>
                <a:solidFill>
                  <a:srgbClr val="20794D"/>
                </a:solidFill>
                <a:latin typeface="Courier"/>
              </a:rPr>
              <a:t>"TITLE_RAW"</a:t>
            </a:r>
            <a:r>
              <a:rPr>
                <a:solidFill>
                  <a:srgbClr val="003B4F"/>
                </a:solidFill>
                <a:latin typeface="Courier"/>
              </a:rPr>
              <a:t>, </a:t>
            </a:r>
            <a:r>
              <a:rPr>
                <a:solidFill>
                  <a:srgbClr val="20794D"/>
                </a:solidFill>
                <a:latin typeface="Courier"/>
              </a:rPr>
              <a:t>"SKILLS_NAME"</a:t>
            </a:r>
            <a:r>
              <a:rPr>
                <a:solidFill>
                  <a:srgbClr val="003B4F"/>
                </a:solidFill>
                <a:latin typeface="Courier"/>
              </a:rPr>
              <a:t>, </a:t>
            </a:r>
            <a:r>
              <a:rPr>
                <a:solidFill>
                  <a:srgbClr val="20794D"/>
                </a:solidFill>
                <a:latin typeface="Courier"/>
              </a:rPr>
              <a:t>"SALARY"</a:t>
            </a:r>
            <a:r>
              <a:rPr>
                <a:solidFill>
                  <a:srgbClr val="003B4F"/>
                </a:solidFill>
                <a:latin typeface="Courier"/>
              </a:rPr>
              <a:t>])</a:t>
            </a:r>
            <a:br/>
            <a:r>
              <a:rPr>
                <a:solidFill>
                  <a:srgbClr val="003B4F"/>
                </a:solidFill>
                <a:latin typeface="Courier"/>
              </a:rPr>
              <a:t>df </a:t>
            </a:r>
            <a:r>
              <a:rPr>
                <a:solidFill>
                  <a:srgbClr val="5E5E5E"/>
                </a:solidFill>
                <a:latin typeface="Courier"/>
              </a:rPr>
              <a:t>=</a:t>
            </a:r>
            <a:r>
              <a:rPr>
                <a:solidFill>
                  <a:srgbClr val="003B4F"/>
                </a:solidFill>
                <a:latin typeface="Courier"/>
              </a:rPr>
              <a:t> df.filter(trim(col(</a:t>
            </a:r>
            <a:r>
              <a:rPr>
                <a:solidFill>
                  <a:srgbClr val="20794D"/>
                </a:solidFill>
                <a:latin typeface="Courier"/>
              </a:rPr>
              <a:t>"TITLE_RAW"</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a:t>
            </a:r>
            <a:r>
              <a:rPr>
                <a:solidFill>
                  <a:srgbClr val="003B4F"/>
                </a:solidFill>
                <a:latin typeface="Courier"/>
              </a:rPr>
              <a:t>)</a:t>
            </a:r>
          </a:p>
          <a:p>
            <a:pPr lvl="0" indent="0" marL="0">
              <a:buNone/>
            </a:pPr>
            <a:r>
              <a:rPr/>
              <a:t>Step 4:Encode Job Titles (StringIndexer + OneHotEncoder)</a:t>
            </a:r>
          </a:p>
          <a:p>
            <a:pPr lvl="0" indent="0">
              <a:buNone/>
            </a:pPr>
            <a:r>
              <a:rPr>
                <a:solidFill>
                  <a:srgbClr val="00769E"/>
                </a:solidFill>
                <a:latin typeface="Courier"/>
              </a:rPr>
              <a:t>from</a:t>
            </a:r>
            <a:r>
              <a:rPr>
                <a:solidFill>
                  <a:srgbClr val="003B4F"/>
                </a:solidFill>
                <a:latin typeface="Courier"/>
              </a:rPr>
              <a:t> pyspark.ml.feature </a:t>
            </a:r>
            <a:r>
              <a:rPr>
                <a:solidFill>
                  <a:srgbClr val="00769E"/>
                </a:solidFill>
                <a:latin typeface="Courier"/>
              </a:rPr>
              <a:t>import</a:t>
            </a:r>
            <a:r>
              <a:rPr>
                <a:solidFill>
                  <a:srgbClr val="003B4F"/>
                </a:solidFill>
                <a:latin typeface="Courier"/>
              </a:rPr>
              <a:t> StringIndexer, OneHotEncoder</a:t>
            </a:r>
            <a:br/>
            <a:r>
              <a:rPr>
                <a:solidFill>
                  <a:srgbClr val="003B4F"/>
                </a:solidFill>
                <a:latin typeface="Courier"/>
              </a:rPr>
              <a:t>title_indexer </a:t>
            </a:r>
            <a:r>
              <a:rPr>
                <a:solidFill>
                  <a:srgbClr val="5E5E5E"/>
                </a:solidFill>
                <a:latin typeface="Courier"/>
              </a:rPr>
              <a:t>=</a:t>
            </a:r>
            <a:r>
              <a:rPr>
                <a:solidFill>
                  <a:srgbClr val="003B4F"/>
                </a:solidFill>
                <a:latin typeface="Courier"/>
              </a:rPr>
              <a:t> StringIndexer(inputCol</a:t>
            </a:r>
            <a:r>
              <a:rPr>
                <a:solidFill>
                  <a:srgbClr val="5E5E5E"/>
                </a:solidFill>
                <a:latin typeface="Courier"/>
              </a:rPr>
              <a:t>=</a:t>
            </a:r>
            <a:r>
              <a:rPr>
                <a:solidFill>
                  <a:srgbClr val="20794D"/>
                </a:solidFill>
                <a:latin typeface="Courier"/>
              </a:rPr>
              <a:t>"TITLE_RAW"</a:t>
            </a:r>
            <a:r>
              <a:rPr>
                <a:solidFill>
                  <a:srgbClr val="003B4F"/>
                </a:solidFill>
                <a:latin typeface="Courier"/>
              </a:rPr>
              <a:t>, outputCol</a:t>
            </a:r>
            <a:r>
              <a:rPr>
                <a:solidFill>
                  <a:srgbClr val="5E5E5E"/>
                </a:solidFill>
                <a:latin typeface="Courier"/>
              </a:rPr>
              <a:t>=</a:t>
            </a:r>
            <a:r>
              <a:rPr>
                <a:solidFill>
                  <a:srgbClr val="20794D"/>
                </a:solidFill>
                <a:latin typeface="Courier"/>
              </a:rPr>
              <a:t>"TITLE_IDX"</a:t>
            </a:r>
            <a:r>
              <a:rPr>
                <a:solidFill>
                  <a:srgbClr val="003B4F"/>
                </a:solidFill>
                <a:latin typeface="Courier"/>
              </a:rPr>
              <a:t>)</a:t>
            </a:r>
            <a:br/>
            <a:r>
              <a:rPr>
                <a:solidFill>
                  <a:srgbClr val="003B4F"/>
                </a:solidFill>
                <a:latin typeface="Courier"/>
              </a:rPr>
              <a:t>title_encoder </a:t>
            </a:r>
            <a:r>
              <a:rPr>
                <a:solidFill>
                  <a:srgbClr val="5E5E5E"/>
                </a:solidFill>
                <a:latin typeface="Courier"/>
              </a:rPr>
              <a:t>=</a:t>
            </a:r>
            <a:r>
              <a:rPr>
                <a:solidFill>
                  <a:srgbClr val="003B4F"/>
                </a:solidFill>
                <a:latin typeface="Courier"/>
              </a:rPr>
              <a:t> OneHotEncoder(inputCol</a:t>
            </a:r>
            <a:r>
              <a:rPr>
                <a:solidFill>
                  <a:srgbClr val="5E5E5E"/>
                </a:solidFill>
                <a:latin typeface="Courier"/>
              </a:rPr>
              <a:t>=</a:t>
            </a:r>
            <a:r>
              <a:rPr>
                <a:solidFill>
                  <a:srgbClr val="20794D"/>
                </a:solidFill>
                <a:latin typeface="Courier"/>
              </a:rPr>
              <a:t>"TITLE_IDX"</a:t>
            </a:r>
            <a:r>
              <a:rPr>
                <a:solidFill>
                  <a:srgbClr val="003B4F"/>
                </a:solidFill>
                <a:latin typeface="Courier"/>
              </a:rPr>
              <a:t>, outputCol</a:t>
            </a:r>
            <a:r>
              <a:rPr>
                <a:solidFill>
                  <a:srgbClr val="5E5E5E"/>
                </a:solidFill>
                <a:latin typeface="Courier"/>
              </a:rPr>
              <a:t>=</a:t>
            </a:r>
            <a:r>
              <a:rPr>
                <a:solidFill>
                  <a:srgbClr val="20794D"/>
                </a:solidFill>
                <a:latin typeface="Courier"/>
              </a:rPr>
              <a:t>"TITLE_VEC"</a:t>
            </a:r>
            <a:r>
              <a:rPr>
                <a:solidFill>
                  <a:srgbClr val="003B4F"/>
                </a:solidFill>
                <a:latin typeface="Courier"/>
              </a:rPr>
              <a:t>)</a:t>
            </a:r>
          </a:p>
          <a:p>
            <a:pPr lvl="0" indent="0" marL="0">
              <a:buNone/>
            </a:pPr>
            <a:r>
              <a:rPr/>
              <a:t>Step 5: Extract Key Skills into Binary Flags</a:t>
            </a:r>
          </a:p>
          <a:p>
            <a:pPr lvl="0" indent="0">
              <a:buNone/>
            </a:pPr>
            <a:r>
              <a:rPr>
                <a:solidFill>
                  <a:srgbClr val="00769E"/>
                </a:solidFill>
                <a:latin typeface="Courier"/>
              </a:rPr>
              <a:t>from</a:t>
            </a:r>
            <a:r>
              <a:rPr>
                <a:solidFill>
                  <a:srgbClr val="003B4F"/>
                </a:solidFill>
                <a:latin typeface="Courier"/>
              </a:rPr>
              <a:t> pyspark.sql.functions </a:t>
            </a:r>
            <a:r>
              <a:rPr>
                <a:solidFill>
                  <a:srgbClr val="00769E"/>
                </a:solidFill>
                <a:latin typeface="Courier"/>
              </a:rPr>
              <a:t>import</a:t>
            </a:r>
            <a:r>
              <a:rPr>
                <a:solidFill>
                  <a:srgbClr val="003B4F"/>
                </a:solidFill>
                <a:latin typeface="Courier"/>
              </a:rPr>
              <a:t> col</a:t>
            </a:r>
            <a:br/>
            <a:r>
              <a:rPr>
                <a:solidFill>
                  <a:srgbClr val="003B4F"/>
                </a:solidFill>
                <a:latin typeface="Courier"/>
              </a:rPr>
              <a:t>common_skills </a:t>
            </a:r>
            <a:r>
              <a:rPr>
                <a:solidFill>
                  <a:srgbClr val="5E5E5E"/>
                </a:solidFill>
                <a:latin typeface="Courier"/>
              </a:rPr>
              <a:t>=</a:t>
            </a:r>
            <a:r>
              <a:rPr>
                <a:solidFill>
                  <a:srgbClr val="003B4F"/>
                </a:solidFill>
                <a:latin typeface="Courier"/>
              </a:rPr>
              <a:t> [</a:t>
            </a:r>
            <a:r>
              <a:rPr>
                <a:solidFill>
                  <a:srgbClr val="20794D"/>
                </a:solidFill>
                <a:latin typeface="Courier"/>
              </a:rPr>
              <a:t>"SQL"</a:t>
            </a:r>
            <a:r>
              <a:rPr>
                <a:solidFill>
                  <a:srgbClr val="003B4F"/>
                </a:solidFill>
                <a:latin typeface="Courier"/>
              </a:rPr>
              <a:t>, </a:t>
            </a:r>
            <a:r>
              <a:rPr>
                <a:solidFill>
                  <a:srgbClr val="20794D"/>
                </a:solidFill>
                <a:latin typeface="Courier"/>
              </a:rPr>
              <a:t>"Python"</a:t>
            </a:r>
            <a:r>
              <a:rPr>
                <a:solidFill>
                  <a:srgbClr val="003B4F"/>
                </a:solidFill>
                <a:latin typeface="Courier"/>
              </a:rPr>
              <a:t>, </a:t>
            </a:r>
            <a:r>
              <a:rPr>
                <a:solidFill>
                  <a:srgbClr val="20794D"/>
                </a:solidFill>
                <a:latin typeface="Courier"/>
              </a:rPr>
              <a:t>"Excel"</a:t>
            </a:r>
            <a:r>
              <a:rPr>
                <a:solidFill>
                  <a:srgbClr val="003B4F"/>
                </a:solidFill>
                <a:latin typeface="Courier"/>
              </a:rPr>
              <a:t>, </a:t>
            </a:r>
            <a:r>
              <a:rPr>
                <a:solidFill>
                  <a:srgbClr val="20794D"/>
                </a:solidFill>
                <a:latin typeface="Courier"/>
              </a:rPr>
              <a:t>"Tableau"</a:t>
            </a:r>
            <a:r>
              <a:rPr>
                <a:solidFill>
                  <a:srgbClr val="003B4F"/>
                </a:solidFill>
                <a:latin typeface="Courier"/>
              </a:rPr>
              <a:t>, </a:t>
            </a:r>
            <a:r>
              <a:rPr>
                <a:solidFill>
                  <a:srgbClr val="20794D"/>
                </a:solidFill>
                <a:latin typeface="Courier"/>
              </a:rPr>
              <a:t>"Communication"</a:t>
            </a:r>
            <a:r>
              <a:rPr>
                <a:solidFill>
                  <a:srgbClr val="003B4F"/>
                </a:solidFill>
                <a:latin typeface="Courier"/>
              </a:rPr>
              <a:t>]</a:t>
            </a:r>
            <a:br/>
            <a:r>
              <a:rPr b="1">
                <a:solidFill>
                  <a:srgbClr val="003B4F"/>
                </a:solidFill>
                <a:latin typeface="Courier"/>
              </a:rPr>
              <a:t>for</a:t>
            </a:r>
            <a:r>
              <a:rPr>
                <a:solidFill>
                  <a:srgbClr val="003B4F"/>
                </a:solidFill>
                <a:latin typeface="Courier"/>
              </a:rPr>
              <a:t> skill </a:t>
            </a:r>
            <a:r>
              <a:rPr b="1">
                <a:solidFill>
                  <a:srgbClr val="003B4F"/>
                </a:solidFill>
                <a:latin typeface="Courier"/>
              </a:rPr>
              <a:t>in</a:t>
            </a:r>
            <a:r>
              <a:rPr>
                <a:solidFill>
                  <a:srgbClr val="003B4F"/>
                </a:solidFill>
                <a:latin typeface="Courier"/>
              </a:rPr>
              <a:t> common_skills:</a:t>
            </a:r>
            <a:br/>
            <a:r>
              <a:rPr>
                <a:solidFill>
                  <a:srgbClr val="003B4F"/>
                </a:solidFill>
                <a:latin typeface="Courier"/>
              </a:rPr>
              <a:t>    df </a:t>
            </a:r>
            <a:r>
              <a:rPr>
                <a:solidFill>
                  <a:srgbClr val="5E5E5E"/>
                </a:solidFill>
                <a:latin typeface="Courier"/>
              </a:rPr>
              <a:t>=</a:t>
            </a:r>
            <a:r>
              <a:rPr>
                <a:solidFill>
                  <a:srgbClr val="003B4F"/>
                </a:solidFill>
                <a:latin typeface="Courier"/>
              </a:rPr>
              <a:t> df.withColumn(</a:t>
            </a:r>
            <a:r>
              <a:rPr>
                <a:solidFill>
                  <a:srgbClr val="20794D"/>
                </a:solidFill>
                <a:latin typeface="Courier"/>
              </a:rPr>
              <a:t>f"SKILL_</a:t>
            </a:r>
            <a:r>
              <a:rPr>
                <a:solidFill>
                  <a:srgbClr val="5E5E5E"/>
                </a:solidFill>
                <a:latin typeface="Courier"/>
              </a:rPr>
              <a:t>{</a:t>
            </a:r>
            <a:r>
              <a:rPr>
                <a:solidFill>
                  <a:srgbClr val="003B4F"/>
                </a:solidFill>
                <a:latin typeface="Courier"/>
              </a:rPr>
              <a:t>skill</a:t>
            </a:r>
            <a:r>
              <a:rPr>
                <a:solidFill>
                  <a:srgbClr val="5E5E5E"/>
                </a:solidFill>
                <a:latin typeface="Courier"/>
              </a:rPr>
              <a:t>}</a:t>
            </a:r>
            <a:r>
              <a:rPr>
                <a:solidFill>
                  <a:srgbClr val="20794D"/>
                </a:solidFill>
                <a:latin typeface="Courier"/>
              </a:rPr>
              <a:t>"</a:t>
            </a:r>
            <a:r>
              <a:rPr>
                <a:solidFill>
                  <a:srgbClr val="003B4F"/>
                </a:solidFill>
                <a:latin typeface="Courier"/>
              </a:rPr>
              <a:t>, col(</a:t>
            </a:r>
            <a:r>
              <a:rPr>
                <a:solidFill>
                  <a:srgbClr val="20794D"/>
                </a:solidFill>
                <a:latin typeface="Courier"/>
              </a:rPr>
              <a:t>"SKILLS_NAME"</a:t>
            </a:r>
            <a:r>
              <a:rPr>
                <a:solidFill>
                  <a:srgbClr val="003B4F"/>
                </a:solidFill>
                <a:latin typeface="Courier"/>
              </a:rPr>
              <a:t>).contains(skill).cast(</a:t>
            </a:r>
            <a:r>
              <a:rPr>
                <a:solidFill>
                  <a:srgbClr val="20794D"/>
                </a:solidFill>
                <a:latin typeface="Courier"/>
              </a:rPr>
              <a:t>"int"</a:t>
            </a:r>
            <a:r>
              <a:rPr>
                <a:solidFill>
                  <a:srgbClr val="003B4F"/>
                </a:solidFill>
                <a:latin typeface="Courier"/>
              </a:rPr>
              <a:t>))</a:t>
            </a:r>
          </a:p>
          <a:p>
            <a:pPr lvl="0" indent="0" marL="0">
              <a:buNone/>
            </a:pPr>
            <a:r>
              <a:rPr/>
              <a:t>Step 6: Assemble Features for Clustering</a:t>
            </a:r>
          </a:p>
          <a:p>
            <a:pPr lvl="0" indent="0">
              <a:buNone/>
            </a:pPr>
            <a:r>
              <a:rPr>
                <a:solidFill>
                  <a:srgbClr val="003B4F"/>
                </a:solidFill>
                <a:latin typeface="Courier"/>
              </a:rPr>
              <a:t>assembler </a:t>
            </a:r>
            <a:r>
              <a:rPr>
                <a:solidFill>
                  <a:srgbClr val="5E5E5E"/>
                </a:solidFill>
                <a:latin typeface="Courier"/>
              </a:rPr>
              <a:t>=</a:t>
            </a:r>
            <a:r>
              <a:rPr>
                <a:solidFill>
                  <a:srgbClr val="003B4F"/>
                </a:solidFill>
                <a:latin typeface="Courier"/>
              </a:rPr>
              <a:t> VectorAssembler(</a:t>
            </a:r>
            <a:br/>
            <a:r>
              <a:rPr>
                <a:solidFill>
                  <a:srgbClr val="003B4F"/>
                </a:solidFill>
                <a:latin typeface="Courier"/>
              </a:rPr>
              <a:t>    inputCols</a:t>
            </a:r>
            <a:r>
              <a:rPr>
                <a:solidFill>
                  <a:srgbClr val="5E5E5E"/>
                </a:solidFill>
                <a:latin typeface="Courier"/>
              </a:rPr>
              <a:t>=</a:t>
            </a:r>
            <a:r>
              <a:rPr>
                <a:solidFill>
                  <a:srgbClr val="003B4F"/>
                </a:solidFill>
                <a:latin typeface="Courier"/>
              </a:rPr>
              <a:t>[</a:t>
            </a:r>
            <a:r>
              <a:rPr>
                <a:solidFill>
                  <a:srgbClr val="20794D"/>
                </a:solidFill>
                <a:latin typeface="Courier"/>
              </a:rPr>
              <a:t>"SALARY"</a:t>
            </a:r>
            <a:r>
              <a:rPr>
                <a:solidFill>
                  <a:srgbClr val="003B4F"/>
                </a:solidFill>
                <a:latin typeface="Courier"/>
              </a:rPr>
              <a:t>, </a:t>
            </a:r>
            <a:r>
              <a:rPr>
                <a:solidFill>
                  <a:srgbClr val="20794D"/>
                </a:solidFill>
                <a:latin typeface="Courier"/>
              </a:rPr>
              <a:t>"TITLE_VEC"</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f"SKILL_</a:t>
            </a:r>
            <a:r>
              <a:rPr>
                <a:solidFill>
                  <a:srgbClr val="5E5E5E"/>
                </a:solidFill>
                <a:latin typeface="Courier"/>
              </a:rPr>
              <a:t>{</a:t>
            </a:r>
            <a:r>
              <a:rPr>
                <a:solidFill>
                  <a:srgbClr val="003B4F"/>
                </a:solidFill>
                <a:latin typeface="Courier"/>
              </a:rPr>
              <a:t>s</a:t>
            </a:r>
            <a:r>
              <a:rPr>
                <a:solidFill>
                  <a:srgbClr val="5E5E5E"/>
                </a:solidFill>
                <a:latin typeface="Courier"/>
              </a:rPr>
              <a:t>}</a:t>
            </a:r>
            <a:r>
              <a:rPr>
                <a:solidFill>
                  <a:srgbClr val="20794D"/>
                </a:solidFill>
                <a:latin typeface="Courier"/>
              </a:rPr>
              <a:t>"</a:t>
            </a:r>
            <a:r>
              <a:rPr>
                <a:solidFill>
                  <a:srgbClr val="003B4F"/>
                </a:solidFill>
                <a:latin typeface="Courier"/>
              </a:rPr>
              <a:t> </a:t>
            </a:r>
            <a:r>
              <a:rPr b="1">
                <a:solidFill>
                  <a:srgbClr val="003B4F"/>
                </a:solidFill>
                <a:latin typeface="Courier"/>
              </a:rPr>
              <a:t>for</a:t>
            </a:r>
            <a:r>
              <a:rPr>
                <a:solidFill>
                  <a:srgbClr val="003B4F"/>
                </a:solidFill>
                <a:latin typeface="Courier"/>
              </a:rPr>
              <a:t> s </a:t>
            </a:r>
            <a:r>
              <a:rPr b="1">
                <a:solidFill>
                  <a:srgbClr val="003B4F"/>
                </a:solidFill>
                <a:latin typeface="Courier"/>
              </a:rPr>
              <a:t>in</a:t>
            </a:r>
            <a:r>
              <a:rPr>
                <a:solidFill>
                  <a:srgbClr val="003B4F"/>
                </a:solidFill>
                <a:latin typeface="Courier"/>
              </a:rPr>
              <a:t> common_skills],</a:t>
            </a:r>
            <a:br/>
            <a:r>
              <a:rPr>
                <a:solidFill>
                  <a:srgbClr val="003B4F"/>
                </a:solidFill>
                <a:latin typeface="Courier"/>
              </a:rPr>
              <a:t>    outputCol</a:t>
            </a:r>
            <a:r>
              <a:rPr>
                <a:solidFill>
                  <a:srgbClr val="5E5E5E"/>
                </a:solidFill>
                <a:latin typeface="Courier"/>
              </a:rPr>
              <a:t>=</a:t>
            </a:r>
            <a:r>
              <a:rPr>
                <a:solidFill>
                  <a:srgbClr val="20794D"/>
                </a:solidFill>
                <a:latin typeface="Courier"/>
              </a:rPr>
              <a:t>"features"</a:t>
            </a:r>
            <a:br/>
            <a:r>
              <a:rPr>
                <a:solidFill>
                  <a:srgbClr val="003B4F"/>
                </a:solidFill>
                <a:latin typeface="Courier"/>
              </a:rPr>
              <a:t>)</a:t>
            </a:r>
          </a:p>
          <a:p>
            <a:pPr lvl="0" indent="0" marL="0">
              <a:buNone/>
            </a:pPr>
            <a:r>
              <a:rPr/>
              <a:t>Step 7: Run KMeans Clustering Pipeline</a:t>
            </a:r>
          </a:p>
          <a:p>
            <a:pPr lvl="0" indent="0">
              <a:buNone/>
            </a:pPr>
            <a:r>
              <a:rPr>
                <a:solidFill>
                  <a:srgbClr val="003B4F"/>
                </a:solidFill>
                <a:latin typeface="Courier"/>
              </a:rPr>
              <a:t>kmeans </a:t>
            </a:r>
            <a:r>
              <a:rPr>
                <a:solidFill>
                  <a:srgbClr val="5E5E5E"/>
                </a:solidFill>
                <a:latin typeface="Courier"/>
              </a:rPr>
              <a:t>=</a:t>
            </a:r>
            <a:r>
              <a:rPr>
                <a:solidFill>
                  <a:srgbClr val="003B4F"/>
                </a:solidFill>
                <a:latin typeface="Courier"/>
              </a:rPr>
              <a:t> KMeans(k</a:t>
            </a:r>
            <a:r>
              <a:rPr>
                <a:solidFill>
                  <a:srgbClr val="5E5E5E"/>
                </a:solidFill>
                <a:latin typeface="Courier"/>
              </a:rPr>
              <a:t>=</a:t>
            </a:r>
            <a:r>
              <a:rPr>
                <a:solidFill>
                  <a:srgbClr val="AD0000"/>
                </a:solidFill>
                <a:latin typeface="Courier"/>
              </a:rPr>
              <a:t>3</a:t>
            </a:r>
            <a:r>
              <a:rPr>
                <a:solidFill>
                  <a:srgbClr val="003B4F"/>
                </a:solidFill>
                <a:latin typeface="Courier"/>
              </a:rPr>
              <a:t>, featuresCol</a:t>
            </a:r>
            <a:r>
              <a:rPr>
                <a:solidFill>
                  <a:srgbClr val="5E5E5E"/>
                </a:solidFill>
                <a:latin typeface="Courier"/>
              </a:rPr>
              <a:t>=</a:t>
            </a:r>
            <a:r>
              <a:rPr>
                <a:solidFill>
                  <a:srgbClr val="20794D"/>
                </a:solidFill>
                <a:latin typeface="Courier"/>
              </a:rPr>
              <a:t>"features"</a:t>
            </a:r>
            <a:r>
              <a:rPr>
                <a:solidFill>
                  <a:srgbClr val="003B4F"/>
                </a:solidFill>
                <a:latin typeface="Courier"/>
              </a:rPr>
              <a:t>, predictionCol</a:t>
            </a:r>
            <a:r>
              <a:rPr>
                <a:solidFill>
                  <a:srgbClr val="5E5E5E"/>
                </a:solidFill>
                <a:latin typeface="Courier"/>
              </a:rPr>
              <a:t>=</a:t>
            </a:r>
            <a:r>
              <a:rPr>
                <a:solidFill>
                  <a:srgbClr val="20794D"/>
                </a:solidFill>
                <a:latin typeface="Courier"/>
              </a:rPr>
              <a:t>"cluster"</a:t>
            </a:r>
            <a:r>
              <a:rPr>
                <a:solidFill>
                  <a:srgbClr val="003B4F"/>
                </a:solidFill>
                <a:latin typeface="Courier"/>
              </a:rPr>
              <a:t>)</a:t>
            </a:r>
            <a:br/>
            <a:r>
              <a:rPr>
                <a:solidFill>
                  <a:srgbClr val="003B4F"/>
                </a:solidFill>
                <a:latin typeface="Courier"/>
              </a:rPr>
              <a:t>pipeline </a:t>
            </a:r>
            <a:r>
              <a:rPr>
                <a:solidFill>
                  <a:srgbClr val="5E5E5E"/>
                </a:solidFill>
                <a:latin typeface="Courier"/>
              </a:rPr>
              <a:t>=</a:t>
            </a:r>
            <a:r>
              <a:rPr>
                <a:solidFill>
                  <a:srgbClr val="003B4F"/>
                </a:solidFill>
                <a:latin typeface="Courier"/>
              </a:rPr>
              <a:t> Pipeline(stages</a:t>
            </a:r>
            <a:r>
              <a:rPr>
                <a:solidFill>
                  <a:srgbClr val="5E5E5E"/>
                </a:solidFill>
                <a:latin typeface="Courier"/>
              </a:rPr>
              <a:t>=</a:t>
            </a:r>
            <a:r>
              <a:rPr>
                <a:solidFill>
                  <a:srgbClr val="003B4F"/>
                </a:solidFill>
                <a:latin typeface="Courier"/>
              </a:rPr>
              <a:t>[title_indexer, title_encoder, assembler, kmeans])</a:t>
            </a:r>
            <a:br/>
            <a:r>
              <a:rPr>
                <a:solidFill>
                  <a:srgbClr val="003B4F"/>
                </a:solidFill>
                <a:latin typeface="Courier"/>
              </a:rPr>
              <a:t>model </a:t>
            </a:r>
            <a:r>
              <a:rPr>
                <a:solidFill>
                  <a:srgbClr val="5E5E5E"/>
                </a:solidFill>
                <a:latin typeface="Courier"/>
              </a:rPr>
              <a:t>=</a:t>
            </a:r>
            <a:r>
              <a:rPr>
                <a:solidFill>
                  <a:srgbClr val="003B4F"/>
                </a:solidFill>
                <a:latin typeface="Courier"/>
              </a:rPr>
              <a:t> pipeline.fit(df)</a:t>
            </a:r>
            <a:br/>
            <a:r>
              <a:rPr>
                <a:solidFill>
                  <a:srgbClr val="003B4F"/>
                </a:solidFill>
                <a:latin typeface="Courier"/>
              </a:rPr>
              <a:t>df_clustered </a:t>
            </a:r>
            <a:r>
              <a:rPr>
                <a:solidFill>
                  <a:srgbClr val="5E5E5E"/>
                </a:solidFill>
                <a:latin typeface="Courier"/>
              </a:rPr>
              <a:t>=</a:t>
            </a:r>
            <a:r>
              <a:rPr>
                <a:solidFill>
                  <a:srgbClr val="003B4F"/>
                </a:solidFill>
                <a:latin typeface="Courier"/>
              </a:rPr>
              <a:t> model.transform(df)</a:t>
            </a:r>
            <a:br/>
            <a:r>
              <a:rPr>
                <a:solidFill>
                  <a:srgbClr val="003B4F"/>
                </a:solidFill>
                <a:latin typeface="Courier"/>
              </a:rPr>
              <a:t>df_clustered.select(</a:t>
            </a:r>
            <a:r>
              <a:rPr>
                <a:solidFill>
                  <a:srgbClr val="20794D"/>
                </a:solidFill>
                <a:latin typeface="Courier"/>
              </a:rPr>
              <a:t>"TITLE_RAW"</a:t>
            </a:r>
            <a:r>
              <a:rPr>
                <a:solidFill>
                  <a:srgbClr val="003B4F"/>
                </a:solidFill>
                <a:latin typeface="Courier"/>
              </a:rPr>
              <a:t>, </a:t>
            </a:r>
            <a:r>
              <a:rPr>
                <a:solidFill>
                  <a:srgbClr val="20794D"/>
                </a:solidFill>
                <a:latin typeface="Courier"/>
              </a:rPr>
              <a:t>"SALARY"</a:t>
            </a:r>
            <a:r>
              <a:rPr>
                <a:solidFill>
                  <a:srgbClr val="003B4F"/>
                </a:solidFill>
                <a:latin typeface="Courier"/>
              </a:rPr>
              <a:t>, </a:t>
            </a:r>
            <a:r>
              <a:rPr>
                <a:solidFill>
                  <a:srgbClr val="20794D"/>
                </a:solidFill>
                <a:latin typeface="Courier"/>
              </a:rPr>
              <a:t>"SKILLS_NAME"</a:t>
            </a:r>
            <a:r>
              <a:rPr>
                <a:solidFill>
                  <a:srgbClr val="003B4F"/>
                </a:solidFill>
                <a:latin typeface="Courier"/>
              </a:rPr>
              <a:t>, </a:t>
            </a:r>
            <a:r>
              <a:rPr>
                <a:solidFill>
                  <a:srgbClr val="20794D"/>
                </a:solidFill>
                <a:latin typeface="Courier"/>
              </a:rPr>
              <a:t>"cluster"</a:t>
            </a:r>
            <a:r>
              <a:rPr>
                <a:solidFill>
                  <a:srgbClr val="003B4F"/>
                </a:solidFill>
                <a:latin typeface="Courier"/>
              </a:rPr>
              <a:t>).show()</a:t>
            </a:r>
          </a:p>
          <a:p>
            <a:pPr lvl="0" indent="0">
              <a:buNone/>
            </a:pPr>
            <a:r>
              <a:rPr>
                <a:latin typeface="Courier"/>
              </a:rPr>
              <a:t>+--------------------+------+--------------------+-------+
|           TITLE_RAW|SALARY|         SKILLS_NAME|cluster|
+--------------------+------+--------------------+-------+
|Comisiones de $10...| 92500|                  []|      1|
|SR Lead Data Analyst|110155|[\n  "Power BI",\...|      2|
|Sr. Marketing Ana...| 92962|[\n  "Salesforce"...|      1|
|        Data Analyst|107645|[\n  "Regression ...|      2|
|Power, Utilities ...|192800|[\n  "Design Spec...|      0|
|Sr. Enterprise Da...| 81286|[\n  "Data Archit...|      1|
| SAP FSCM Consultant|125900|[\n  "Profit Cent...|      2|
|Principal growth ...|170000|[\n  "Curiosity",...|      0|
|SR Lead Data Analyst|110155|[\n  "Power BI",\...|      2|
|Senior Enterprise...|136950|[\n  "Wireless Co...|      2|
|      DATA ANALYTICS|118560|[\n  "Databricks"...|      2|
|Security Enterpri...| 79000|[\n  "Cryptograph...|      1|
|Sr BI Analyst/Dat...|140756|[\n  "Detail Orie...|      2|
|Power, Utilities ...|192800|[\n  "Design Spec...|      0|
|Oracle Consultant...| 75026|[\n  "Valid Drive...|      1|
|  SAP BTP Consultant|116500|[\n  "Digitizatio...|      2|
|Oracle HCM Cloud ...|166500|[\n  "Gap Analysi...|      0|
|Data Analyst, Dev...|156038|[\n  "Relational ...|      2|
|   Product Architect|149695|[\n  "Project Por...|      2|
|RESEARCH DATA ANA...| 84678|[\n  "Research",\...|      1|
+--------------------+------+--------------------+-------+
only showing top 20 rows
</a:t>
            </a:r>
          </a:p>
          <a:p>
            <a:pPr lvl="0" indent="0" marL="0">
              <a:buNone/>
            </a:pPr>
            <a:r>
              <a:rPr/>
              <a:t>Step 8: Visualize Salary Distribution by Cluster</a:t>
            </a:r>
          </a:p>
        </p:txBody>
      </p:sp>
      <p:pic>
        <p:nvPicPr>
          <p:cNvPr descr="final_report_files/figure-pptx/cell-22-output-1.png" id="0" name="Picture 1"/>
          <p:cNvPicPr>
            <a:picLocks noGrp="1" noChangeAspect="1"/>
          </p:cNvPicPr>
          <p:nvPr/>
        </p:nvPicPr>
        <p:blipFill>
          <a:blip r:embed="rId2"/>
          <a:stretch>
            <a:fillRect/>
          </a:stretch>
        </p:blipFill>
        <p:spPr bwMode="auto">
          <a:xfrm>
            <a:off x="3568700" y="787400"/>
            <a:ext cx="5105400" cy="2705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Salary Distribution by Cluster</a:t>
            </a:r>
          </a:p>
        </p:txBody>
      </p:sp>
      <p:sp>
        <p:nvSpPr>
          <p:cNvPr id="3" name="Content Placeholder 2"/>
          <p:cNvSpPr>
            <a:spLocks noGrp="1"/>
          </p:cNvSpPr>
          <p:nvPr>
            <p:ph idx="1"/>
          </p:nvPr>
        </p:nvSpPr>
        <p:spPr/>
        <p:txBody>
          <a:bodyPr/>
          <a:lstStyle/>
          <a:p>
            <a:pPr lvl="0" indent="0">
              <a:buNone/>
            </a:pPr>
            <a:r>
              <a:rPr>
                <a:latin typeface="Courier"/>
              </a:rPr>
              <a:t>&lt;Figure size 1056x528 with 0 Axes&gt;</a:t>
            </a:r>
          </a:p>
          <a:p>
            <a:pPr lvl="0" indent="0" marL="0">
              <a:buNone/>
            </a:pPr>
            <a:r>
              <a:rPr/>
              <a:t>Cluster 0 represents the highest-paying group among the three clusters. The median salary is around $180,000, and most values fall between $160,000 and $200,000. There are also several high outliers, with some positions exceeding $300,000. This cluster likely includes executive-level or highly technical roles, such as senior data scientists, lead data analysts, or enterprise architects, where specialized skills and extensive experience are required.</a:t>
            </a:r>
          </a:p>
          <a:p>
            <a:pPr lvl="0" indent="0" marL="0">
              <a:buNone/>
            </a:pPr>
            <a:r>
              <a:rPr/>
              <a:t>Cluster 1 is the lowest-paying group, with salaries concentrated between $60,000 and $100,000. The median is around $80,000, and the distribution is relatively tight compared to the other clusters. This group probably corresponds to entry-level or support roles, such as junior analysts, administrative data roles, or positions that require fewer years of experience and basic technical skills.</a:t>
            </a:r>
          </a:p>
          <a:p>
            <a:pPr lvl="0" indent="0" marL="0">
              <a:buNone/>
            </a:pPr>
            <a:r>
              <a:rPr/>
              <a:t>Cluster 2 falls between the other two in terms of salary, with most values ranging from $110,000 to $150,000. The median salary is approximately $130,000. This group likely represents mid-level professionals — positions requiring a balance of technical proficiency and industry experience. Common roles in this cluster might include mid-level data analysts, business intelligence specialists, or consultants with niche skill sets.</a:t>
            </a:r>
          </a:p>
          <a:p>
            <a:pPr lvl="0" indent="0" marL="0">
              <a:buNone/>
            </a:pPr>
            <a:r>
              <a:rPr b="1"/>
              <a:t>Key Insights</a:t>
            </a:r>
          </a:p>
          <a:p>
            <a:pPr lvl="0" indent="0" marL="0">
              <a:buNone/>
            </a:pPr>
            <a:r>
              <a:rPr/>
              <a:t>The salary clustering reveals three distinct tiers that correspond closely to career progression in business analytics and data science. The entry-level cluster (Cluster 1) shows a tight salary range of $60 K–$100 K (median ≈$80 K), indicating homogeneous roles with similar skill requirements. The mid-level cluster (Cluster 2) spans $110 K–$150 K (median ≈$130 K), reflecting professionals who combine technical proficiency with domain experience. The senior/executive cluster (Cluster 0) has a median around $180 K and a wide interquartile range, with outliers above $300 K—highlighting the premium placed on leadership, specialized machine-learning expertise, and high-impact strategic roles. Increasing dispersion at higher levels underscores that advanced specializations and demonstrated impact drive outsized compensation in this field.</a:t>
            </a:r>
          </a:p>
          <a:p>
            <a:pPr lvl="0" indent="0" marL="0">
              <a:buNone/>
            </a:pPr>
            <a:r>
              <a:rPr b="1"/>
              <a:t>Recommendations</a:t>
            </a:r>
          </a:p>
          <a:p>
            <a:pPr lvl="0" indent="0" marL="0">
              <a:buNone/>
            </a:pPr>
            <a:r>
              <a:rPr/>
              <a:t>For those entering the field, focus on mastering core tools (Python/R, SQL) and building a portfolio of projects—internships, Kaggle competitions, or open-source contributions—to stand out within the $60 K–$100 K band. Mid-career professionals should deepen domain knowledge (e.g., finance, healthcare, supply chain) and acquire advanced ML and MLOps skills to advance into the $110 K–$150 K range. Aspiring senior leaders must cultivate niche expertise (deep learning architectures, AI ethics, data engineering at scale) and demonstrate leadership through cross-functional project ownership or team management to access the high-variance $160 K+ opportunities. Earning recognized certifications (AWS/GCP ML, CAP) and staying current with emerging trends will further accelerate progression across these clusters.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title: “NLH METHOD” format: html</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Extracting Insights from Job Descriptions Using NLP Methods</a:t>
            </a:r>
          </a:p>
          <a:p>
            <a:pPr lvl="0" indent="0" marL="0">
              <a:spcBef>
                <a:spcPts val="3000"/>
              </a:spcBef>
              <a:buNone/>
            </a:pPr>
            <a:r>
              <a:rPr b="1"/>
              <a:t>📊 Most In-Demand Technical Skills in Data Science and AI Roles</a:t>
            </a:r>
          </a:p>
          <a:p>
            <a:pPr lvl="0" indent="0" marL="0">
              <a:buNone/>
            </a:pPr>
            <a:r>
              <a:rPr/>
              <a:t>The chart below, based on NLP analysis of job descriptions, highlights the most frequently requested technical skills. </a:t>
            </a:r>
            <a:r>
              <a:rPr b="1"/>
              <a:t>SQL</a:t>
            </a:r>
            <a:r>
              <a:rPr/>
              <a:t> dominates as the top-mentioned skill, appearing in over 42,000 postings, followed by </a:t>
            </a:r>
            <a:r>
              <a:rPr b="1"/>
              <a:t>AI</a:t>
            </a:r>
            <a:r>
              <a:rPr/>
              <a:t>, </a:t>
            </a:r>
            <a:r>
              <a:rPr b="1"/>
              <a:t>Excel</a:t>
            </a:r>
            <a:r>
              <a:rPr/>
              <a:t>, </a:t>
            </a:r>
            <a:r>
              <a:rPr b="1"/>
              <a:t>Python</a:t>
            </a:r>
            <a:r>
              <a:rPr/>
              <a:t>, and </a:t>
            </a:r>
            <a:r>
              <a:rPr b="1"/>
              <a:t>Tableau</a:t>
            </a:r>
            <a:r>
              <a:rPr/>
              <a:t>.</a:t>
            </a:r>
          </a:p>
          <a:p>
            <a:pPr lvl="0" indent="0" marL="0">
              <a:buNone/>
            </a:pPr>
            <a:r>
              <a:rPr/>
              <a:t>Foundational tools like SQL and Excel remain essential across data roles, while programming languages such as Python and R offer flexibility for data manipulation and modeling. Visualization tools like Tableau and Power BI are increasingly valued. Advanced AI tools such as TensorFlow, PyTorch, and NLP appear less often, indicating their growing relevance in specialized roles.</a:t>
            </a:r>
          </a:p>
          <a:p>
            <a:pPr lvl="0" indent="0" marL="0">
              <a:buNone/>
            </a:pPr>
            <a:r>
              <a:rPr b="1"/>
              <a:t>Key Takeaways:</a:t>
            </a:r>
          </a:p>
          <a:p>
            <a:pPr lvl="0"/>
            <a:r>
              <a:rPr b="1"/>
              <a:t>Foundational:</a:t>
            </a:r>
            <a:r>
              <a:rPr/>
              <a:t> SQL, Excel, and AI are baseline requirements.</a:t>
            </a:r>
          </a:p>
          <a:p>
            <a:pPr lvl="0"/>
            <a:r>
              <a:rPr b="1"/>
              <a:t>Versatile Skills:</a:t>
            </a:r>
            <a:r>
              <a:rPr/>
              <a:t> Python and Tableau support a range of data workflows.</a:t>
            </a:r>
          </a:p>
          <a:p>
            <a:pPr lvl="0"/>
            <a:r>
              <a:rPr b="1"/>
              <a:t>Backend/Technical Tools:</a:t>
            </a:r>
            <a:r>
              <a:rPr/>
              <a:t> R, Java, Hadoop are critical for infrastructure-heavy roles.</a:t>
            </a:r>
          </a:p>
          <a:p>
            <a:pPr lvl="0"/>
            <a:r>
              <a:rPr b="1"/>
              <a:t>Emerging Specializations:</a:t>
            </a:r>
            <a:r>
              <a:rPr/>
              <a:t> Low mentions of TensorFlow, PyTorch, and NLP suggest niche applications or advanced role targeting.</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AI Job Market Trends Across U.S. States</a:t>
            </a:r>
          </a:p>
          <a:p>
            <a:pPr lvl="0" indent="0" marL="0">
              <a:buNone/>
            </a:pPr>
            <a:r>
              <a:rPr/>
              <a:t>A geographic heatmap of AI-related job postings reveals major hubs in </a:t>
            </a:r>
            <a:r>
              <a:rPr b="1"/>
              <a:t>California</a:t>
            </a:r>
            <a:r>
              <a:rPr/>
              <a:t>, </a:t>
            </a:r>
            <a:r>
              <a:rPr b="1"/>
              <a:t>Texas</a:t>
            </a:r>
            <a:r>
              <a:rPr/>
              <a:t>, and </a:t>
            </a:r>
            <a:r>
              <a:rPr b="1"/>
              <a:t>New York</a:t>
            </a:r>
            <a:r>
              <a:rPr/>
              <a:t>—driven by the influence of tech ecosystems, fintech, and innovation centers. </a:t>
            </a:r>
            <a:r>
              <a:rPr b="1"/>
              <a:t>Massachusetts</a:t>
            </a:r>
            <a:r>
              <a:rPr/>
              <a:t>, </a:t>
            </a:r>
            <a:r>
              <a:rPr b="1"/>
              <a:t>Illinois</a:t>
            </a:r>
            <a:r>
              <a:rPr/>
              <a:t>, and </a:t>
            </a:r>
            <a:r>
              <a:rPr b="1"/>
              <a:t>Washington</a:t>
            </a:r>
            <a:r>
              <a:rPr/>
              <a:t> also show strong demand due to their leadership in healthcare analytics, research, and enterprise AI adoption.</a:t>
            </a:r>
          </a:p>
          <a:p>
            <a:pPr lvl="0" indent="0" marL="0">
              <a:buNone/>
            </a:pPr>
            <a:r>
              <a:rPr b="1"/>
              <a:t>Regional Insights:</a:t>
            </a:r>
          </a:p>
          <a:p>
            <a:pPr lvl="0"/>
            <a:r>
              <a:rPr b="1"/>
              <a:t>Top States:</a:t>
            </a:r>
            <a:r>
              <a:rPr/>
              <a:t> California, Texas, New York</a:t>
            </a:r>
          </a:p>
          <a:p>
            <a:pPr lvl="0"/>
            <a:r>
              <a:rPr b="1"/>
              <a:t>Emerging Hubs:</a:t>
            </a:r>
            <a:r>
              <a:rPr/>
              <a:t> Massachusetts, Florida, Illinois, Washington</a:t>
            </a:r>
          </a:p>
          <a:p>
            <a:pPr lvl="0"/>
            <a:r>
              <a:rPr b="1"/>
              <a:t>Low Activity:</a:t>
            </a:r>
            <a:r>
              <a:rPr/>
              <a:t> Central/rural states, though remote AI opportunities still exist</a:t>
            </a:r>
          </a:p>
          <a:p>
            <a:pPr lvl="0" indent="0" marL="0">
              <a:buNone/>
            </a:pPr>
            <a:r>
              <a:rPr/>
              <a:t>These insights guide professionals on where to concentrate job searches or remote networking efforts.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Career Pathway: From Fundamentals to Specialization</a:t>
            </a:r>
          </a:p>
          <a:p>
            <a:pPr lvl="0" indent="0" marL="0">
              <a:buNone/>
            </a:pPr>
            <a:r>
              <a:rPr/>
              <a:t>Based on job descriptions analyzed through NLP, we outline a growth-oriented learning track:</a:t>
            </a:r>
          </a:p>
          <a:p>
            <a:pPr lvl="0" indent="0" marL="0">
              <a:buNone/>
            </a:pPr>
            <a:r>
              <a:rPr b="1"/>
              <a:t>1. Foundational Skills (Beginner)</a:t>
            </a:r>
          </a:p>
          <a:p>
            <a:pPr lvl="0"/>
            <a:r>
              <a:rPr/>
              <a:t>Tools: SQL, Excel, Python</a:t>
            </a:r>
          </a:p>
          <a:p>
            <a:pPr lvl="0"/>
            <a:r>
              <a:rPr/>
              <a:t>Goal: Build core competency in data querying, spreadsheets, and scripting</a:t>
            </a:r>
          </a:p>
          <a:p>
            <a:pPr lvl="0" indent="0" marL="0">
              <a:buNone/>
            </a:pPr>
            <a:r>
              <a:rPr b="1"/>
              <a:t>2. Versatility &amp; Visualization (Intermediate)</a:t>
            </a:r>
          </a:p>
          <a:p>
            <a:pPr lvl="0"/>
            <a:r>
              <a:rPr/>
              <a:t>Tools: Tableau, Power BI, R</a:t>
            </a:r>
          </a:p>
          <a:p>
            <a:pPr lvl="0"/>
            <a:r>
              <a:rPr/>
              <a:t>Certifications: Google Data Analytics, Microsoft Power BI</a:t>
            </a:r>
          </a:p>
          <a:p>
            <a:pPr lvl="0"/>
            <a:r>
              <a:rPr/>
              <a:t>Goal: Explore analytics and visualization workflows</a:t>
            </a:r>
          </a:p>
          <a:p>
            <a:pPr lvl="0" indent="0" marL="0">
              <a:buNone/>
            </a:pPr>
            <a:r>
              <a:rPr b="1"/>
              <a:t>3. AI/ML Specialization (Advanced)</a:t>
            </a:r>
          </a:p>
          <a:p>
            <a:pPr lvl="0"/>
            <a:r>
              <a:rPr/>
              <a:t>Skills: TensorFlow, PyTorch, NLP, Big Data (Hadoop, Spark)</a:t>
            </a:r>
          </a:p>
          <a:p>
            <a:pPr lvl="0"/>
            <a:r>
              <a:rPr/>
              <a:t>Certifications: AWS AI/ML, TensorFlow Developer, Microsoft AI Engineer</a:t>
            </a:r>
          </a:p>
          <a:p>
            <a:pPr lvl="0"/>
            <a:r>
              <a:rPr/>
              <a:t>Goal: Focus on automation, predictive modeling, and cloud AI platforms</a:t>
            </a:r>
          </a:p>
          <a:p>
            <a:pPr lvl="0" indent="0" marL="0">
              <a:buNone/>
            </a:pPr>
            <a:r>
              <a:rPr b="1"/>
              <a:t>Career Roles by Level:</a:t>
            </a:r>
          </a:p>
          <a:p>
            <a:pPr lvl="0"/>
            <a:r>
              <a:rPr b="1"/>
              <a:t>Entry-Level:</a:t>
            </a:r>
            <a:r>
              <a:rPr/>
              <a:t> Data Analyst, BI Specialist, Junior ML Engineer</a:t>
            </a:r>
          </a:p>
          <a:p>
            <a:pPr lvl="0"/>
            <a:r>
              <a:rPr b="1"/>
              <a:t>Mid-Level:</a:t>
            </a:r>
            <a:r>
              <a:rPr/>
              <a:t> NLP Engineer, AI Product Manager</a:t>
            </a:r>
          </a:p>
          <a:p>
            <a:pPr lvl="0"/>
            <a:r>
              <a:rPr b="1"/>
              <a:t>Advanced:</a:t>
            </a:r>
            <a:r>
              <a:rPr/>
              <a:t> AI Research Scientist, Lead Data Scientist, Automation Consultant</a:t>
            </a:r>
          </a:p>
          <a:p>
            <a:pPr lvl="0" indent="0" marL="0">
              <a:buNone/>
            </a:pPr>
            <a:r>
              <a:rPr b="1"/>
              <a:t>High-Demand Industries:</a:t>
            </a:r>
            <a:r>
              <a:rPr/>
              <a:t> Finance, Healthcare, E-commerce, Cloud Tech</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Strategic Takeaway</a:t>
            </a:r>
          </a:p>
          <a:p>
            <a:pPr lvl="0" indent="0" marL="0">
              <a:buNone/>
            </a:pPr>
            <a:r>
              <a:rPr/>
              <a:t>To align with market demands:</a:t>
            </a:r>
          </a:p>
          <a:p>
            <a:pPr lvl="0"/>
            <a:r>
              <a:rPr/>
              <a:t>Focus learning on </a:t>
            </a:r>
            <a:r>
              <a:rPr b="1"/>
              <a:t>SQL, Python, and Excel</a:t>
            </a:r>
            <a:r>
              <a:rPr/>
              <a:t> early.</a:t>
            </a:r>
          </a:p>
          <a:p>
            <a:pPr lvl="0"/>
            <a:r>
              <a:rPr/>
              <a:t>Target </a:t>
            </a:r>
            <a:r>
              <a:rPr b="1"/>
              <a:t>AI job hubs</a:t>
            </a:r>
            <a:r>
              <a:rPr/>
              <a:t> or seek remote roles in active states.</a:t>
            </a:r>
          </a:p>
          <a:p>
            <a:pPr lvl="0"/>
            <a:r>
              <a:rPr/>
              <a:t>Build a portfolio with </a:t>
            </a:r>
            <a:r>
              <a:rPr b="1"/>
              <a:t>projects</a:t>
            </a:r>
            <a:r>
              <a:rPr/>
              <a:t>, </a:t>
            </a:r>
            <a:r>
              <a:rPr b="1"/>
              <a:t>internships</a:t>
            </a:r>
            <a:r>
              <a:rPr/>
              <a:t>, or </a:t>
            </a:r>
            <a:r>
              <a:rPr b="1"/>
              <a:t>competitions</a:t>
            </a:r>
            <a:r>
              <a:rPr/>
              <a:t>.</a:t>
            </a:r>
          </a:p>
          <a:p>
            <a:pPr lvl="0"/>
            <a:r>
              <a:rPr/>
              <a:t>Earn certifications to validate expertise in cloud, analytics, and AI.</a:t>
            </a:r>
          </a:p>
          <a:p>
            <a:pPr lvl="0" indent="0" marL="0">
              <a:buNone/>
            </a:pPr>
            <a:r>
              <a:rPr/>
              <a:t>These steps can help aspiring professionals or career switchers navigate toward high-growth opportunities in the AI and data analytics landscape.</a:t>
            </a:r>
          </a:p>
          <a:p>
            <a:pPr lvl="0" indent="0" marL="0">
              <a:spcBef>
                <a:spcPts val="3000"/>
              </a:spcBef>
              <a:buNone/>
            </a:pPr>
            <a:r>
              <a:rPr b="1"/>
              <a:t>🤖 AI Impact on Jobs by Industry</a:t>
            </a:r>
          </a:p>
          <a:p>
            <a:pPr lvl="0" indent="0" marL="0">
              <a:buNone/>
            </a:pPr>
            <a:r>
              <a:rPr/>
              <a:t>Using Natural Language Processing (NLP) to analyze job descriptions and industry narratives, we can extract clear trends on how AI is both creating and displacing jobs across different sectors.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AI-Driven Job Growth</a:t>
            </a:r>
          </a:p>
          <a:p>
            <a:pPr lvl="0" indent="0" marL="0">
              <a:buNone/>
            </a:pPr>
            <a:r>
              <a:rPr/>
              <a:t>Industries such as </a:t>
            </a:r>
            <a:r>
              <a:rPr b="1"/>
              <a:t>Finance</a:t>
            </a:r>
            <a:r>
              <a:rPr/>
              <a:t>, </a:t>
            </a:r>
            <a:r>
              <a:rPr b="1"/>
              <a:t>Healthcare</a:t>
            </a:r>
            <a:r>
              <a:rPr/>
              <a:t>, and </a:t>
            </a:r>
            <a:r>
              <a:rPr b="1"/>
              <a:t>Information Technology</a:t>
            </a:r>
            <a:r>
              <a:rPr/>
              <a:t> are experiencing strong AI-fueled growth. AI enables </a:t>
            </a:r>
            <a:r>
              <a:rPr b="1"/>
              <a:t>automation</a:t>
            </a:r>
            <a:r>
              <a:rPr/>
              <a:t>, </a:t>
            </a:r>
            <a:r>
              <a:rPr b="1"/>
              <a:t>predictive analytics</a:t>
            </a:r>
            <a:r>
              <a:rPr/>
              <a:t>, and </a:t>
            </a:r>
            <a:r>
              <a:rPr b="1"/>
              <a:t>smart decision-making</a:t>
            </a:r>
            <a:r>
              <a:rPr/>
              <a:t>, increasing demand for:</a:t>
            </a:r>
          </a:p>
          <a:p>
            <a:pPr lvl="0"/>
            <a:r>
              <a:rPr b="1"/>
              <a:t>Machine Learning</a:t>
            </a:r>
          </a:p>
          <a:p>
            <a:pPr lvl="0"/>
            <a:r>
              <a:rPr b="1"/>
              <a:t>AI-enhanced analytics</a:t>
            </a:r>
          </a:p>
          <a:p>
            <a:pPr lvl="0"/>
            <a:r>
              <a:rPr b="1"/>
              <a:t>Data science and business intelligence roles</a:t>
            </a:r>
          </a:p>
          <a:p>
            <a:pPr lvl="0" indent="0" marL="0">
              <a:buNone/>
            </a:pPr>
            <a:r>
              <a:rPr b="1"/>
              <a:t>Top Skills Identified:</a:t>
            </a:r>
            <a:r>
              <a:rPr/>
              <a:t> - Python</a:t>
            </a:r>
          </a:p>
          <a:p>
            <a:pPr lvl="0"/>
            <a:r>
              <a:rPr/>
              <a:t>SQL</a:t>
            </a:r>
          </a:p>
          <a:p>
            <a:pPr lvl="0"/>
            <a:r>
              <a:rPr/>
              <a:t>TensorFlow</a:t>
            </a:r>
          </a:p>
          <a:p>
            <a:pPr lvl="0"/>
            <a:r>
              <a:rPr/>
              <a:t>Power BI</a:t>
            </a:r>
          </a:p>
          <a:p>
            <a:pPr lvl="0"/>
            <a:r>
              <a:rPr/>
              <a:t>Data Analytics</a:t>
            </a:r>
          </a:p>
          <a:p>
            <a:pPr lvl="0" indent="0" marL="0">
              <a:buNone/>
            </a:pPr>
            <a:r>
              <a:rPr b="1"/>
              <a:t>Recommended Certifications:</a:t>
            </a:r>
          </a:p>
          <a:p>
            <a:pPr lvl="0"/>
            <a:r>
              <a:rPr/>
              <a:t>Google Data Analytics</a:t>
            </a:r>
          </a:p>
          <a:p>
            <a:pPr lvl="0"/>
            <a:r>
              <a:rPr/>
              <a:t>AWS AI/ML</a:t>
            </a:r>
          </a:p>
          <a:p>
            <a:pPr lvl="0"/>
            <a:r>
              <a:rPr/>
              <a:t>Microsoft AI Engineer</a:t>
            </a:r>
          </a:p>
          <a:p>
            <a:pPr lvl="0" indent="0" marL="0">
              <a:buNone/>
            </a:pPr>
            <a:r>
              <a:rPr b="1"/>
              <a:t>Career Trajectory:</a:t>
            </a:r>
          </a:p>
          <a:p>
            <a:pPr lvl="0"/>
            <a:r>
              <a:rPr/>
              <a:t>Entry-level: Practical experience via internships or Kaggle</a:t>
            </a:r>
          </a:p>
          <a:p>
            <a:pPr lvl="0"/>
            <a:r>
              <a:rPr/>
              <a:t>Mid-level: Specialization in AI-finance, healthcare analytics, cybersecurity</a:t>
            </a:r>
          </a:p>
          <a:p>
            <a:pPr lvl="0"/>
            <a:r>
              <a:rPr/>
              <a:t>Senior roles: AI Researcher, Data Scientist, AI Product Manager</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AI-Driven Job Displacement</a:t>
            </a:r>
          </a:p>
          <a:p>
            <a:pPr lvl="0" indent="0" marL="0">
              <a:buNone/>
            </a:pPr>
            <a:r>
              <a:rPr/>
              <a:t>Sectors such as </a:t>
            </a:r>
            <a:r>
              <a:rPr b="1"/>
              <a:t>Manufacturing</a:t>
            </a:r>
            <a:r>
              <a:rPr/>
              <a:t> and </a:t>
            </a:r>
            <a:r>
              <a:rPr b="1"/>
              <a:t>Retail</a:t>
            </a:r>
            <a:r>
              <a:rPr/>
              <a:t> are undergoing significant transformation. Repetitive jobs are increasingly being replaced by </a:t>
            </a:r>
            <a:r>
              <a:rPr b="1"/>
              <a:t>AI-powered automation</a:t>
            </a:r>
            <a:r>
              <a:rPr/>
              <a:t> and </a:t>
            </a:r>
            <a:r>
              <a:rPr b="1"/>
              <a:t>robotic systems</a:t>
            </a:r>
            <a:r>
              <a:rPr/>
              <a:t>.</a:t>
            </a:r>
          </a:p>
          <a:p>
            <a:pPr lvl="0" indent="0" marL="0">
              <a:buNone/>
            </a:pPr>
            <a:r>
              <a:rPr b="1"/>
              <a:t>Risks Identified:</a:t>
            </a:r>
          </a:p>
          <a:p>
            <a:pPr lvl="0"/>
            <a:r>
              <a:rPr/>
              <a:t>Workforce displacement in traditional, process-heavy roles</a:t>
            </a:r>
          </a:p>
          <a:p>
            <a:pPr lvl="0" indent="0" marL="0">
              <a:buNone/>
            </a:pPr>
            <a:r>
              <a:rPr b="1"/>
              <a:t>Adaptive Strategies (via NLP-extracted keywords):</a:t>
            </a:r>
          </a:p>
          <a:p>
            <a:pPr lvl="0"/>
            <a:r>
              <a:rPr/>
              <a:t>Upskilling in RPA tools (e.g., UiPath)</a:t>
            </a:r>
          </a:p>
          <a:p>
            <a:pPr lvl="0"/>
            <a:r>
              <a:rPr/>
              <a:t>Cloud computing platforms</a:t>
            </a:r>
          </a:p>
          <a:p>
            <a:pPr lvl="0"/>
            <a:r>
              <a:rPr/>
              <a:t>AI-driven logistics and supply chains</a:t>
            </a:r>
          </a:p>
          <a:p>
            <a:pPr lvl="0" indent="0" marL="0">
              <a:buNone/>
            </a:pPr>
            <a:r>
              <a:rPr b="1"/>
              <a:t>Mid-Term Transitions:</a:t>
            </a:r>
          </a:p>
          <a:p>
            <a:pPr lvl="0"/>
            <a:r>
              <a:rPr/>
              <a:t>AI-Augmented Supply Chain Manager</a:t>
            </a:r>
          </a:p>
          <a:p>
            <a:pPr lvl="0"/>
            <a:r>
              <a:rPr/>
              <a:t>AI-Enhanced Customer Experience Analyst</a:t>
            </a:r>
          </a:p>
          <a:p>
            <a:pPr lvl="0" indent="0" marL="0">
              <a:buNone/>
            </a:pPr>
            <a:r>
              <a:rPr b="1"/>
              <a:t>Long-Term Strategies:</a:t>
            </a:r>
          </a:p>
          <a:p>
            <a:pPr lvl="0"/>
            <a:r>
              <a:rPr/>
              <a:t>Develop leadership in AI-augmented operations and strategy</a:t>
            </a:r>
          </a:p>
          <a:p>
            <a:pPr lvl="0"/>
            <a:r>
              <a:rPr/>
              <a:t>Credentials: AI Strategy, Digital Leadership, Intelligent Automation</a:t>
            </a:r>
          </a:p>
          <a:p>
            <a:pPr lvl="0" indent="0" marL="0">
              <a:buNone/>
            </a:pPr>
            <a:r>
              <a:rPr b="1"/>
              <a:t>AI-Resilient Career Paths:</a:t>
            </a:r>
          </a:p>
          <a:p>
            <a:pPr lvl="0"/>
            <a:r>
              <a:rPr/>
              <a:t>Robotics Engineer</a:t>
            </a:r>
          </a:p>
          <a:p>
            <a:pPr lvl="0"/>
            <a:r>
              <a:rPr/>
              <a:t>Automation Consultant</a:t>
            </a:r>
          </a:p>
          <a:p>
            <a:pPr lvl="0"/>
            <a:r>
              <a:rPr/>
              <a:t>AI-Powered Marketing Analyst</a:t>
            </a:r>
          </a:p>
          <a:p>
            <a:pPr lvl="0"/>
            <a:r>
              <a:rPr/>
              <a:t>AI-Driven Logistics Specialist</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NLP Takeaway</a:t>
            </a:r>
          </a:p>
          <a:p>
            <a:pPr lvl="0" indent="0" marL="0">
              <a:buNone/>
            </a:pPr>
            <a:r>
              <a:rPr/>
              <a:t>NLP techniques revealed strong emphasis on:</a:t>
            </a:r>
          </a:p>
          <a:p>
            <a:pPr lvl="0"/>
            <a:r>
              <a:rPr/>
              <a:t>AI + industry-specific expertise</a:t>
            </a:r>
          </a:p>
          <a:p>
            <a:pPr lvl="0"/>
            <a:r>
              <a:rPr/>
              <a:t>Certifiable skills</a:t>
            </a:r>
          </a:p>
          <a:p>
            <a:pPr lvl="0"/>
            <a:r>
              <a:rPr/>
              <a:t>Experience-driven learning (e.g., internships, competitions)</a:t>
            </a:r>
          </a:p>
          <a:p>
            <a:pPr lvl="0" indent="0" marL="0">
              <a:buNone/>
            </a:pPr>
            <a:r>
              <a:rPr/>
              <a:t>The AI transformation isn’t just technical—it’s strategic. Professionals must align their learning paths with evolving AI trends to secure long-term relevance.</a:t>
            </a:r>
          </a:p>
          <a:p>
            <a:pPr lvl="0" indent="0" marL="0">
              <a:buNone/>
            </a:pPr>
            <a:r>
              <a:rPr cap="small"/>
              <a:t>Hewamalage, H., K. Ackermann, and C. Bergmeir</a:t>
            </a:r>
            <a:r>
              <a:rPr/>
              <a:t>. (2023): “Forecast evaluation for data scientists: Common pitfalls and best practices,” </a:t>
            </a:r>
            <a:r>
              <a:rPr i="1"/>
              <a:t>Data Mining and Knowledge Discovery</a:t>
            </a:r>
            <a:r>
              <a:rPr/>
              <a:t>, 37, 788–832.</a:t>
            </a:r>
          </a:p>
          <a:p>
            <a:pPr lvl="0" indent="0" marL="0">
              <a:buNone/>
            </a:pPr>
            <a:r>
              <a:rPr cap="small"/>
              <a:t>Li, G., C. Yuan, S. Kamarthi, M. Moghaddam, and X. Jin</a:t>
            </a:r>
            <a:r>
              <a:rPr/>
              <a:t>. (2021): “Data science skills and domain knowledge requirements in the manufacturing industry: A gap analysis,” </a:t>
            </a:r>
            <a:r>
              <a:rPr i="1"/>
              <a:t>Journal of Manufacturing Systems</a:t>
            </a:r>
            <a:r>
              <a:rPr/>
              <a:t>, 60, 692–706.</a:t>
            </a:r>
          </a:p>
          <a:p>
            <a:pPr lvl="0" indent="0" marL="0">
              <a:buNone/>
            </a:pPr>
            <a:r>
              <a:rPr cap="small"/>
              <a:t>Pradhan, A.</a:t>
            </a:r>
            <a:r>
              <a:rPr/>
              <a:t> “Employee–Job Profile Matching Challenges: AI/ML-Based Recommender Systems Solutions for Knowledge Workers,”Macquarie University.</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Analysis</dc:title>
  <dc:creator/>
  <cp:keywords/>
  <dcterms:created xsi:type="dcterms:W3CDTF">2025-04-27T20:38:55Z</dcterms:created>
  <dcterms:modified xsi:type="dcterms:W3CDTF">2025-04-27T20:38:55Z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ibliography">
    <vt:lpwstr>./references.bib</vt:lpwstr>
  </property>
  <property fmtid="{D5CDD505-2E9C-101B-9397-08002B2CF9AE}" pid="6" name="by-affiliation">
    <vt:lpwstr/>
  </property>
  <property fmtid="{D5CDD505-2E9C-101B-9397-08002B2CF9AE}" pid="7" name="by-author">
    <vt:lpwstr/>
  </property>
  <property fmtid="{D5CDD505-2E9C-101B-9397-08002B2CF9AE}" pid="8" name="csl">
    <vt:lpwstr>./csl/econometrica.csl</vt:lpwstr>
  </property>
  <property fmtid="{D5CDD505-2E9C-101B-9397-08002B2CF9AE}" pid="9" name="date">
    <vt:lpwstr>today</vt:lpwstr>
  </property>
  <property fmtid="{D5CDD505-2E9C-101B-9397-08002B2CF9AE}" pid="10" name="date-format">
    <vt:lpwstr>long</vt:lpwstr>
  </property>
  <property fmtid="{D5CDD505-2E9C-101B-9397-08002B2CF9AE}" pid="11" name="date-modified">
    <vt:lpwstr>April 27, 2025</vt:lpwstr>
  </property>
  <property fmtid="{D5CDD505-2E9C-101B-9397-08002B2CF9AE}" pid="12" name="format">
    <vt:lpwstr/>
  </property>
  <property fmtid="{D5CDD505-2E9C-101B-9397-08002B2CF9AE}" pid="13" name="header-includes">
    <vt:lpwstr/>
  </property>
  <property fmtid="{D5CDD505-2E9C-101B-9397-08002B2CF9AE}" pid="14" name="include-after">
    <vt:lpwstr/>
  </property>
  <property fmtid="{D5CDD505-2E9C-101B-9397-08002B2CF9AE}" pid="15" name="include-before">
    <vt:lpwstr/>
  </property>
  <property fmtid="{D5CDD505-2E9C-101B-9397-08002B2CF9AE}" pid="16" name="labels">
    <vt:lpwstr/>
  </property>
  <property fmtid="{D5CDD505-2E9C-101B-9397-08002B2CF9AE}" pid="17" name="subtitle">
    <vt:lpwstr>Comprehensive Data Cleaning &amp; Exploratory Analysis of Job Market Trends</vt:lpwstr>
  </property>
  <property fmtid="{D5CDD505-2E9C-101B-9397-08002B2CF9AE}" pid="18" name="toc-title">
    <vt:lpwstr>Table of contents</vt:lpwstr>
  </property>
</Properties>
</file>